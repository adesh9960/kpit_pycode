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Work Sans Medium" charset="1" panose="00000000000000000000"/>
      <p:regular r:id="rId39"/>
    </p:embeddedFont>
    <p:embeddedFont>
      <p:font typeface="Work Sans" charset="1" panose="00000000000000000000"/>
      <p:regular r:id="rId40"/>
    </p:embeddedFont>
    <p:embeddedFont>
      <p:font typeface="Work Sans Bold" charset="1" panose="00000000000000000000"/>
      <p:regular r:id="rId44"/>
    </p:embeddedFont>
    <p:embeddedFont>
      <p:font typeface="Calibri (MS) Bold" charset="1" panose="020F0702030404030204"/>
      <p:regular r:id="rId46"/>
    </p:embeddedFont>
    <p:embeddedFont>
      <p:font typeface="Calibri (MS)" charset="1" panose="020F0502020204030204"/>
      <p:regular r:id="rId47"/>
    </p:embeddedFont>
    <p:embeddedFont>
      <p:font typeface="Work Sans Light" charset="1" panose="00000000000000000000"/>
      <p:regular r:id="rId49"/>
    </p:embeddedFont>
    <p:embeddedFont>
      <p:font typeface="Canva Sans" charset="1" panose="020B0503030501040103"/>
      <p:regular r:id="rId54"/>
    </p:embeddedFont>
    <p:embeddedFont>
      <p:font typeface="Calibri (MS) Italics" charset="1" panose="020F05020202040A0204"/>
      <p:regular r:id="rId60"/>
    </p:embeddedFont>
    <p:embeddedFont>
      <p:font typeface="Courier New Bold" charset="1" panose="02070609020205020404"/>
      <p:regular r:id="rId63"/>
    </p:embeddedFont>
    <p:embeddedFont>
      <p:font typeface="Montserrat Italics" charset="1" panose="00000500000000000000"/>
      <p:regular r:id="rId65"/>
    </p:embeddedFont>
    <p:embeddedFont>
      <p:font typeface="Arimo" charset="1" panose="020B0604020202020204"/>
      <p:regular r:id="rId71"/>
    </p:embeddedFont>
    <p:embeddedFont>
      <p:font typeface="Canva Sans Bold" charset="1" panose="020B0803030501040103"/>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notesSlides/notesSlide2.xml" Type="http://schemas.openxmlformats.org/officeDocument/2006/relationships/notesSlide"/><Relationship Id="rId46" Target="fonts/font46.fntdata" Type="http://schemas.openxmlformats.org/officeDocument/2006/relationships/font"/><Relationship Id="rId47" Target="fonts/font47.fntdata" Type="http://schemas.openxmlformats.org/officeDocument/2006/relationships/font"/><Relationship Id="rId48" Target="notesSlides/notesSlide3.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4.xml" Type="http://schemas.openxmlformats.org/officeDocument/2006/relationships/notesSlide"/><Relationship Id="rId51" Target="notesSlides/notesSlide5.xml" Type="http://schemas.openxmlformats.org/officeDocument/2006/relationships/notesSlide"/><Relationship Id="rId52" Target="notesSlides/notesSlide6.xml" Type="http://schemas.openxmlformats.org/officeDocument/2006/relationships/notesSlide"/><Relationship Id="rId53" Target="notesSlides/notesSlide7.xml" Type="http://schemas.openxmlformats.org/officeDocument/2006/relationships/notesSlide"/><Relationship Id="rId54" Target="fonts/font54.fntdata" Type="http://schemas.openxmlformats.org/officeDocument/2006/relationships/font"/><Relationship Id="rId55" Target="notesSlides/notesSlide8.xml" Type="http://schemas.openxmlformats.org/officeDocument/2006/relationships/notesSlide"/><Relationship Id="rId56" Target="notesSlides/notesSlide9.xml" Type="http://schemas.openxmlformats.org/officeDocument/2006/relationships/notesSlide"/><Relationship Id="rId57" Target="notesSlides/notesSlide10.xml" Type="http://schemas.openxmlformats.org/officeDocument/2006/relationships/notesSlide"/><Relationship Id="rId58" Target="notesSlides/notesSlide11.xml" Type="http://schemas.openxmlformats.org/officeDocument/2006/relationships/notesSlide"/><Relationship Id="rId59" Target="notesSlides/notesSlide12.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notesSlides/notesSlide13.xml" Type="http://schemas.openxmlformats.org/officeDocument/2006/relationships/notesSlide"/><Relationship Id="rId62" Target="notesSlides/notesSlide14.xml" Type="http://schemas.openxmlformats.org/officeDocument/2006/relationships/notesSlide"/><Relationship Id="rId63" Target="fonts/font63.fntdata" Type="http://schemas.openxmlformats.org/officeDocument/2006/relationships/font"/><Relationship Id="rId64" Target="notesSlides/notesSlide15.xml" Type="http://schemas.openxmlformats.org/officeDocument/2006/relationships/notesSlide"/><Relationship Id="rId65" Target="fonts/font65.fntdata" Type="http://schemas.openxmlformats.org/officeDocument/2006/relationships/font"/><Relationship Id="rId66" Target="notesSlides/notesSlide16.xml" Type="http://schemas.openxmlformats.org/officeDocument/2006/relationships/notesSlide"/><Relationship Id="rId67" Target="notesSlides/notesSlide17.xml" Type="http://schemas.openxmlformats.org/officeDocument/2006/relationships/notesSlide"/><Relationship Id="rId68" Target="notesSlides/notesSlide18.xml" Type="http://schemas.openxmlformats.org/officeDocument/2006/relationships/notesSlide"/><Relationship Id="rId69" Target="notesSlides/notesSlide19.xml" Type="http://schemas.openxmlformats.org/officeDocument/2006/relationships/notesSlide"/><Relationship Id="rId7" Target="slides/slide2.xml" Type="http://schemas.openxmlformats.org/officeDocument/2006/relationships/slide"/><Relationship Id="rId70" Target="notesSlides/notesSlide20.xml" Type="http://schemas.openxmlformats.org/officeDocument/2006/relationships/notesSlide"/><Relationship Id="rId71" Target="fonts/font71.fntdata" Type="http://schemas.openxmlformats.org/officeDocument/2006/relationships/font"/><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notesSlides/notesSlide26.xml" Type="http://schemas.openxmlformats.org/officeDocument/2006/relationships/notesSlide"/><Relationship Id="rId78" Target="fonts/font78.fntdata" Type="http://schemas.openxmlformats.org/officeDocument/2006/relationships/font"/><Relationship Id="rId79" Target="notesSlides/notesSlide27.xml" Type="http://schemas.openxmlformats.org/officeDocument/2006/relationships/notesSlide"/><Relationship Id="rId8" Target="slides/slide3.xml" Type="http://schemas.openxmlformats.org/officeDocument/2006/relationships/slide"/><Relationship Id="rId80" Target="notesSlides/notesSlide28.xml" Type="http://schemas.openxmlformats.org/officeDocument/2006/relationships/notesSlide"/><Relationship Id="rId81" Target="notesSlides/notesSlide29.xml" Type="http://schemas.openxmlformats.org/officeDocument/2006/relationships/notesSlide"/><Relationship Id="rId82" Target="notesSlides/notesSlide30.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Click on insert picture icon&gt;browse picture&gt;insert picture&gt;go to picture properties &gt;reduce transparency to 50%</a:t>
            </a:r>
          </a:p>
          <a:p>
            <a:r>
              <a:rPr lang="en-US"/>
              <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8.jpeg" Type="http://schemas.openxmlformats.org/officeDocument/2006/relationships/image"/><Relationship Id="rId4" Target="../media/image9.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jpeg" Type="http://schemas.openxmlformats.org/officeDocument/2006/relationships/image"/><Relationship Id="rId4" Target="../media/image8.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8.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svg" Type="http://schemas.openxmlformats.org/officeDocument/2006/relationships/image"/><Relationship Id="rId2" Target="../notesSlides/notesSlide4.xml" Type="http://schemas.openxmlformats.org/officeDocument/2006/relationships/notesSlide"/><Relationship Id="rId3" Target="../media/image8.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1.png" Type="http://schemas.openxmlformats.org/officeDocument/2006/relationships/image"/><Relationship Id="rId9"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2" Target="../notesSlides/notesSlide6.xml" Type="http://schemas.openxmlformats.org/officeDocument/2006/relationships/notesSlide"/><Relationship Id="rId3" Target="../media/image8.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32.png" Type="http://schemas.openxmlformats.org/officeDocument/2006/relationships/image"/><Relationship Id="rId13" Target="../media/image33.png" Type="http://schemas.openxmlformats.org/officeDocument/2006/relationships/image"/><Relationship Id="rId14" Target="../media/image34.png" Type="http://schemas.openxmlformats.org/officeDocument/2006/relationships/image"/><Relationship Id="rId15" Target="../media/image35.png" Type="http://schemas.openxmlformats.org/officeDocument/2006/relationships/image"/><Relationship Id="rId16" Target="../media/image36.png" Type="http://schemas.openxmlformats.org/officeDocument/2006/relationships/image"/><Relationship Id="rId17" Target="../media/image37.png" Type="http://schemas.openxmlformats.org/officeDocument/2006/relationships/image"/><Relationship Id="rId18" Target="../media/image38.png" Type="http://schemas.openxmlformats.org/officeDocument/2006/relationships/image"/><Relationship Id="rId19" Target="../media/image11.png" Type="http://schemas.openxmlformats.org/officeDocument/2006/relationships/image"/><Relationship Id="rId2" Target="../notesSlides/notesSlide7.xml" Type="http://schemas.openxmlformats.org/officeDocument/2006/relationships/notesSlide"/><Relationship Id="rId20" Target="../media/image1.png" Type="http://schemas.openxmlformats.org/officeDocument/2006/relationships/image"/><Relationship Id="rId21" Target="../media/image2.svg" Type="http://schemas.openxmlformats.org/officeDocument/2006/relationships/image"/><Relationship Id="rId3" Target="../media/image8.jpe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notesSlides/notesSlide8.xml" Type="http://schemas.openxmlformats.org/officeDocument/2006/relationships/notesSlide"/><Relationship Id="rId3" Target="../media/image8.jpe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 Id="rId9"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8.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46.png" Type="http://schemas.openxmlformats.org/officeDocument/2006/relationships/image"/><Relationship Id="rId12" Target="../media/image11.png" Type="http://schemas.openxmlformats.org/officeDocument/2006/relationships/image"/><Relationship Id="rId13" Target="../media/image1.png" Type="http://schemas.openxmlformats.org/officeDocument/2006/relationships/image"/><Relationship Id="rId14" Target="../media/image2.svg" Type="http://schemas.openxmlformats.org/officeDocument/2006/relationships/image"/><Relationship Id="rId2" Target="../notesSlides/notesSlide10.xml" Type="http://schemas.openxmlformats.org/officeDocument/2006/relationships/notesSlide"/><Relationship Id="rId3" Target="../media/image44.png" Type="http://schemas.openxmlformats.org/officeDocument/2006/relationships/image"/><Relationship Id="rId4" Target="../media/image45.svg" Type="http://schemas.openxmlformats.org/officeDocument/2006/relationships/image"/><Relationship Id="rId5" Target="../media/image8.jpeg" Type="http://schemas.openxmlformats.org/officeDocument/2006/relationships/image"/><Relationship Id="rId6" Target="../media/image12.png" Type="http://schemas.openxmlformats.org/officeDocument/2006/relationships/image"/><Relationship Id="rId7" Target="../media/image14.png" Type="http://schemas.openxmlformats.org/officeDocument/2006/relationships/image"/><Relationship Id="rId8" Target="../media/image39.png" Type="http://schemas.openxmlformats.org/officeDocument/2006/relationships/image"/><Relationship Id="rId9" Target="../media/image4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jpeg" Type="http://schemas.openxmlformats.org/officeDocument/2006/relationships/image"/><Relationship Id="rId4" Target="../media/image47.jpeg" Type="http://schemas.openxmlformats.org/officeDocument/2006/relationships/image"/><Relationship Id="rId5" Target="../media/image4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notesSlides/notesSlide12.xml" Type="http://schemas.openxmlformats.org/officeDocument/2006/relationships/notesSlide"/><Relationship Id="rId3" Target="../media/image8.jpe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8.jpeg" Type="http://schemas.openxmlformats.org/officeDocument/2006/relationships/image"/><Relationship Id="rId4" Target="../media/image47.jpeg" Type="http://schemas.openxmlformats.org/officeDocument/2006/relationships/image"/><Relationship Id="rId5" Target="../media/image54.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8.jpeg" Type="http://schemas.openxmlformats.org/officeDocument/2006/relationships/image"/><Relationship Id="rId4" Target="../media/image55.png" Type="http://schemas.openxmlformats.org/officeDocument/2006/relationships/image"/><Relationship Id="rId5" Target="../media/image11.png" Type="http://schemas.openxmlformats.org/officeDocument/2006/relationships/image"/><Relationship Id="rId6" Target="../media/image56.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notesSlides/notesSlide15.xml" Type="http://schemas.openxmlformats.org/officeDocument/2006/relationships/notesSlide"/><Relationship Id="rId3" Target="../media/image8.jpe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11.png" Type="http://schemas.openxmlformats.org/officeDocument/2006/relationships/image"/><Relationship Id="rId9" Target="../media/image5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media/image67.png" Type="http://schemas.openxmlformats.org/officeDocument/2006/relationships/image"/><Relationship Id="rId12" Target="../media/image68.png" Type="http://schemas.openxmlformats.org/officeDocument/2006/relationships/image"/><Relationship Id="rId13" Target="../media/image69.png" Type="http://schemas.openxmlformats.org/officeDocument/2006/relationships/image"/><Relationship Id="rId14" Target="../media/image70.png" Type="http://schemas.openxmlformats.org/officeDocument/2006/relationships/image"/><Relationship Id="rId15" Target="../media/image71.png" Type="http://schemas.openxmlformats.org/officeDocument/2006/relationships/image"/><Relationship Id="rId16" Target="../media/image72.png" Type="http://schemas.openxmlformats.org/officeDocument/2006/relationships/image"/><Relationship Id="rId17" Target="../media/image73.png" Type="http://schemas.openxmlformats.org/officeDocument/2006/relationships/image"/><Relationship Id="rId18" Target="../media/image74.png" Type="http://schemas.openxmlformats.org/officeDocument/2006/relationships/image"/><Relationship Id="rId19" Target="../media/image75.png" Type="http://schemas.openxmlformats.org/officeDocument/2006/relationships/image"/><Relationship Id="rId2" Target="../media/image58.png" Type="http://schemas.openxmlformats.org/officeDocument/2006/relationships/image"/><Relationship Id="rId20" Target="../media/image76.png" Type="http://schemas.openxmlformats.org/officeDocument/2006/relationships/image"/><Relationship Id="rId21" Target="../media/image77.png" Type="http://schemas.openxmlformats.org/officeDocument/2006/relationships/image"/><Relationship Id="rId22" Target="../media/image78.png" Type="http://schemas.openxmlformats.org/officeDocument/2006/relationships/image"/><Relationship Id="rId23" Target="../media/image79.png" Type="http://schemas.openxmlformats.org/officeDocument/2006/relationships/image"/><Relationship Id="rId24" Target="../media/image80.png" Type="http://schemas.openxmlformats.org/officeDocument/2006/relationships/image"/><Relationship Id="rId25" Target="../media/image81.svg" Type="http://schemas.openxmlformats.org/officeDocument/2006/relationships/image"/><Relationship Id="rId26" Target="../media/image11.png" Type="http://schemas.openxmlformats.org/officeDocument/2006/relationships/image"/><Relationship Id="rId27" Target="../media/image8.jpeg" Type="http://schemas.openxmlformats.org/officeDocument/2006/relationships/image"/><Relationship Id="rId3" Target="../media/image59.sv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8.jpeg" Type="http://schemas.openxmlformats.org/officeDocument/2006/relationships/image"/><Relationship Id="rId4" Target="../media/image82.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8.jpeg" Type="http://schemas.openxmlformats.org/officeDocument/2006/relationships/image"/><Relationship Id="rId4" Target="../media/image83.png" Type="http://schemas.openxmlformats.org/officeDocument/2006/relationships/image"/><Relationship Id="rId5" Target="../media/image11.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84.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85.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svg" Type="http://schemas.openxmlformats.org/officeDocument/2006/relationships/image"/><Relationship Id="rId11" Target="../media/image94.png" Type="http://schemas.openxmlformats.org/officeDocument/2006/relationships/image"/><Relationship Id="rId12" Target="../media/image8.jpeg" Type="http://schemas.openxmlformats.org/officeDocument/2006/relationships/image"/><Relationship Id="rId13" Target="../media/image1.png" Type="http://schemas.openxmlformats.org/officeDocument/2006/relationships/image"/><Relationship Id="rId14" Target="../media/image2.svg" Type="http://schemas.openxmlformats.org/officeDocument/2006/relationships/image"/><Relationship Id="rId2" Target="../notesSlides/notesSlide21.xml" Type="http://schemas.openxmlformats.org/officeDocument/2006/relationships/notesSlide"/><Relationship Id="rId3" Target="../media/image86.png" Type="http://schemas.openxmlformats.org/officeDocument/2006/relationships/image"/><Relationship Id="rId4" Target="../media/image87.svg" Type="http://schemas.openxmlformats.org/officeDocument/2006/relationships/image"/><Relationship Id="rId5" Target="../media/image88.png" Type="http://schemas.openxmlformats.org/officeDocument/2006/relationships/image"/><Relationship Id="rId6" Target="../media/image89.svg" Type="http://schemas.openxmlformats.org/officeDocument/2006/relationships/image"/><Relationship Id="rId7" Target="../media/image90.png" Type="http://schemas.openxmlformats.org/officeDocument/2006/relationships/image"/><Relationship Id="rId8" Target="../media/image91.svg" Type="http://schemas.openxmlformats.org/officeDocument/2006/relationships/image"/><Relationship Id="rId9" Target="../media/image9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95.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96.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8.jpeg" Type="http://schemas.openxmlformats.org/officeDocument/2006/relationships/image"/><Relationship Id="rId4" Target="../media/image11.png" Type="http://schemas.openxmlformats.org/officeDocument/2006/relationships/image"/><Relationship Id="rId5" Target="../media/image97.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98.png" Type="http://schemas.openxmlformats.org/officeDocument/2006/relationships/image"/><Relationship Id="rId4" Target="../media/image8.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5.png" Type="http://schemas.openxmlformats.org/officeDocument/2006/relationships/image"/><Relationship Id="rId11" Target="../media/image106.svg" Type="http://schemas.openxmlformats.org/officeDocument/2006/relationships/image"/><Relationship Id="rId12" Target="../media/image107.png" Type="http://schemas.openxmlformats.org/officeDocument/2006/relationships/image"/><Relationship Id="rId13" Target="../media/image108.svg" Type="http://schemas.openxmlformats.org/officeDocument/2006/relationships/image"/><Relationship Id="rId14" Target="../media/image109.png" Type="http://schemas.openxmlformats.org/officeDocument/2006/relationships/image"/><Relationship Id="rId15" Target="../media/image110.svg" Type="http://schemas.openxmlformats.org/officeDocument/2006/relationships/image"/><Relationship Id="rId16" Target="../media/image111.png" Type="http://schemas.openxmlformats.org/officeDocument/2006/relationships/image"/><Relationship Id="rId17" Target="../media/image112.svg" Type="http://schemas.openxmlformats.org/officeDocument/2006/relationships/image"/><Relationship Id="rId18" Target="../media/image113.png" Type="http://schemas.openxmlformats.org/officeDocument/2006/relationships/image"/><Relationship Id="rId19" Target="../media/image114.svg" Type="http://schemas.openxmlformats.org/officeDocument/2006/relationships/image"/><Relationship Id="rId2" Target="../notesSlides/notesSlide27.xml" Type="http://schemas.openxmlformats.org/officeDocument/2006/relationships/notesSlide"/><Relationship Id="rId20" Target="../media/image115.png" Type="http://schemas.openxmlformats.org/officeDocument/2006/relationships/image"/><Relationship Id="rId21" Target="../media/image116.svg" Type="http://schemas.openxmlformats.org/officeDocument/2006/relationships/image"/><Relationship Id="rId22" Target="../media/image11.png" Type="http://schemas.openxmlformats.org/officeDocument/2006/relationships/image"/><Relationship Id="rId23" Target="../media/image1.png" Type="http://schemas.openxmlformats.org/officeDocument/2006/relationships/image"/><Relationship Id="rId24" Target="../media/image2.svg" Type="http://schemas.openxmlformats.org/officeDocument/2006/relationships/image"/><Relationship Id="rId3" Target="../media/image8.jpe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media/image103.png" Type="http://schemas.openxmlformats.org/officeDocument/2006/relationships/image"/><Relationship Id="rId9" Target="../media/image10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3.png" Type="http://schemas.openxmlformats.org/officeDocument/2006/relationships/image"/><Relationship Id="rId11" Target="../media/image124.svg" Type="http://schemas.openxmlformats.org/officeDocument/2006/relationships/image"/><Relationship Id="rId12" Target="../media/image125.png" Type="http://schemas.openxmlformats.org/officeDocument/2006/relationships/image"/><Relationship Id="rId13" Target="../media/image126.svg" Type="http://schemas.openxmlformats.org/officeDocument/2006/relationships/image"/><Relationship Id="rId14" Target="../media/image1.png" Type="http://schemas.openxmlformats.org/officeDocument/2006/relationships/image"/><Relationship Id="rId15" Target="../media/image2.svg" Type="http://schemas.openxmlformats.org/officeDocument/2006/relationships/image"/><Relationship Id="rId2" Target="../notesSlides/notesSlide28.xml" Type="http://schemas.openxmlformats.org/officeDocument/2006/relationships/notesSlide"/><Relationship Id="rId3" Target="../media/image8.jpeg" Type="http://schemas.openxmlformats.org/officeDocument/2006/relationships/image"/><Relationship Id="rId4" Target="../media/image117.png" Type="http://schemas.openxmlformats.org/officeDocument/2006/relationships/image"/><Relationship Id="rId5" Target="../media/image118.svg" Type="http://schemas.openxmlformats.org/officeDocument/2006/relationships/image"/><Relationship Id="rId6" Target="../media/image119.png" Type="http://schemas.openxmlformats.org/officeDocument/2006/relationships/image"/><Relationship Id="rId7" Target="../media/image120.svg" Type="http://schemas.openxmlformats.org/officeDocument/2006/relationships/image"/><Relationship Id="rId8" Target="../media/image121.png" Type="http://schemas.openxmlformats.org/officeDocument/2006/relationships/image"/><Relationship Id="rId9" Target="../media/image12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27.jpeg" Type="http://schemas.openxmlformats.org/officeDocument/2006/relationships/image"/><Relationship Id="rId6" Target="../media/image8.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28.jpeg" Type="http://schemas.openxmlformats.org/officeDocument/2006/relationships/image"/><Relationship Id="rId6"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Freeform 3" id="3"/>
          <p:cNvSpPr/>
          <p:nvPr/>
        </p:nvSpPr>
        <p:spPr>
          <a:xfrm flipH="false" flipV="false" rot="0">
            <a:off x="933450" y="9479775"/>
            <a:ext cx="985390" cy="283350"/>
          </a:xfrm>
          <a:custGeom>
            <a:avLst/>
            <a:gdLst/>
            <a:ahLst/>
            <a:cxnLst/>
            <a:rect r="r" b="b" t="t" l="l"/>
            <a:pathLst>
              <a:path h="283350" w="985390">
                <a:moveTo>
                  <a:pt x="0" y="0"/>
                </a:moveTo>
                <a:lnTo>
                  <a:pt x="985390" y="0"/>
                </a:lnTo>
                <a:lnTo>
                  <a:pt x="985390" y="283350"/>
                </a:lnTo>
                <a:lnTo>
                  <a:pt x="0" y="283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grpSp>
        <p:nvGrpSpPr>
          <p:cNvPr name="Group 6" id="6"/>
          <p:cNvGrpSpPr/>
          <p:nvPr/>
        </p:nvGrpSpPr>
        <p:grpSpPr>
          <a:xfrm rot="0">
            <a:off x="8453228" y="2907192"/>
            <a:ext cx="1381544" cy="1416329"/>
            <a:chOff x="0" y="0"/>
            <a:chExt cx="1842059" cy="1888439"/>
          </a:xfrm>
        </p:grpSpPr>
        <p:sp>
          <p:nvSpPr>
            <p:cNvPr name="Freeform 7" id="7"/>
            <p:cNvSpPr/>
            <p:nvPr/>
          </p:nvSpPr>
          <p:spPr>
            <a:xfrm flipH="false" flipV="false" rot="0">
              <a:off x="0" y="0"/>
              <a:ext cx="1842008" cy="1888490"/>
            </a:xfrm>
            <a:custGeom>
              <a:avLst/>
              <a:gdLst/>
              <a:ahLst/>
              <a:cxnLst/>
              <a:rect r="r" b="b" t="t" l="l"/>
              <a:pathLst>
                <a:path h="1888490" w="1842008">
                  <a:moveTo>
                    <a:pt x="0" y="0"/>
                  </a:moveTo>
                  <a:lnTo>
                    <a:pt x="1842008" y="0"/>
                  </a:lnTo>
                  <a:lnTo>
                    <a:pt x="1842008" y="1888490"/>
                  </a:lnTo>
                  <a:lnTo>
                    <a:pt x="0" y="1888490"/>
                  </a:lnTo>
                  <a:close/>
                </a:path>
              </a:pathLst>
            </a:custGeom>
            <a:solidFill>
              <a:srgbClr val="212121"/>
            </a:solidFill>
          </p:spPr>
        </p:sp>
      </p:grpSp>
      <p:sp>
        <p:nvSpPr>
          <p:cNvPr name="Freeform 8" id="8"/>
          <p:cNvSpPr/>
          <p:nvPr/>
        </p:nvSpPr>
        <p:spPr>
          <a:xfrm flipH="false" flipV="false" rot="0">
            <a:off x="806186" y="6383569"/>
            <a:ext cx="918648" cy="188233"/>
          </a:xfrm>
          <a:custGeom>
            <a:avLst/>
            <a:gdLst/>
            <a:ahLst/>
            <a:cxnLst/>
            <a:rect r="r" b="b" t="t" l="l"/>
            <a:pathLst>
              <a:path h="188233" w="918648">
                <a:moveTo>
                  <a:pt x="0" y="0"/>
                </a:moveTo>
                <a:lnTo>
                  <a:pt x="918649" y="0"/>
                </a:lnTo>
                <a:lnTo>
                  <a:pt x="918649" y="188233"/>
                </a:lnTo>
                <a:lnTo>
                  <a:pt x="0" y="1882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06186" y="1002506"/>
            <a:ext cx="2750372" cy="790861"/>
          </a:xfrm>
          <a:custGeom>
            <a:avLst/>
            <a:gdLst/>
            <a:ahLst/>
            <a:cxnLst/>
            <a:rect r="r" b="b" t="t" l="l"/>
            <a:pathLst>
              <a:path h="790861" w="2750372">
                <a:moveTo>
                  <a:pt x="0" y="0"/>
                </a:moveTo>
                <a:lnTo>
                  <a:pt x="2750373" y="0"/>
                </a:lnTo>
                <a:lnTo>
                  <a:pt x="2750373" y="790861"/>
                </a:lnTo>
                <a:lnTo>
                  <a:pt x="0" y="7908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806186" y="2756221"/>
            <a:ext cx="2558844" cy="636118"/>
            <a:chOff x="0" y="0"/>
            <a:chExt cx="3411792" cy="848157"/>
          </a:xfrm>
        </p:grpSpPr>
        <p:sp>
          <p:nvSpPr>
            <p:cNvPr name="Freeform 11" id="11"/>
            <p:cNvSpPr/>
            <p:nvPr/>
          </p:nvSpPr>
          <p:spPr>
            <a:xfrm flipH="false" flipV="false" rot="0">
              <a:off x="0" y="0"/>
              <a:ext cx="3411855" cy="848195"/>
            </a:xfrm>
            <a:custGeom>
              <a:avLst/>
              <a:gdLst/>
              <a:ahLst/>
              <a:cxnLst/>
              <a:rect r="r" b="b" t="t" l="l"/>
              <a:pathLst>
                <a:path h="848195" w="3411855">
                  <a:moveTo>
                    <a:pt x="0" y="0"/>
                  </a:moveTo>
                  <a:lnTo>
                    <a:pt x="3411855" y="0"/>
                  </a:lnTo>
                  <a:lnTo>
                    <a:pt x="3411855" y="848195"/>
                  </a:lnTo>
                  <a:lnTo>
                    <a:pt x="0" y="848195"/>
                  </a:lnTo>
                  <a:close/>
                </a:path>
              </a:pathLst>
            </a:custGeom>
            <a:solidFill>
              <a:srgbClr val="B0FF45"/>
            </a:solidFill>
          </p:spPr>
        </p:sp>
        <p:sp>
          <p:nvSpPr>
            <p:cNvPr name="TextBox 12" id="12"/>
            <p:cNvSpPr txBox="true"/>
            <p:nvPr/>
          </p:nvSpPr>
          <p:spPr>
            <a:xfrm>
              <a:off x="0" y="-57150"/>
              <a:ext cx="3411792" cy="905307"/>
            </a:xfrm>
            <a:prstGeom prst="rect">
              <a:avLst/>
            </a:prstGeom>
          </p:spPr>
          <p:txBody>
            <a:bodyPr anchor="ctr" rtlCol="false" tIns="50800" lIns="50800" bIns="50800" rIns="50800"/>
            <a:lstStyle/>
            <a:p>
              <a:pPr algn="l">
                <a:lnSpc>
                  <a:spcPts val="3790"/>
                </a:lnSpc>
              </a:pPr>
              <a:r>
                <a:rPr lang="en-US" sz="2700" b="true">
                  <a:solidFill>
                    <a:srgbClr val="161718"/>
                  </a:solidFill>
                  <a:latin typeface="Work Sans Medium"/>
                  <a:ea typeface="Work Sans Medium"/>
                  <a:cs typeface="Work Sans Medium"/>
                  <a:sym typeface="Work Sans Medium"/>
                </a:rPr>
                <a:t>12-07-2026</a:t>
              </a:r>
            </a:p>
          </p:txBody>
        </p:sp>
      </p:grpSp>
      <p:grpSp>
        <p:nvGrpSpPr>
          <p:cNvPr name="Group 13" id="13"/>
          <p:cNvGrpSpPr/>
          <p:nvPr/>
        </p:nvGrpSpPr>
        <p:grpSpPr>
          <a:xfrm rot="0">
            <a:off x="16784479" y="9491358"/>
            <a:ext cx="697335" cy="357092"/>
            <a:chOff x="0" y="0"/>
            <a:chExt cx="929780" cy="476123"/>
          </a:xfrm>
        </p:grpSpPr>
        <p:sp>
          <p:nvSpPr>
            <p:cNvPr name="Freeform 14" id="14"/>
            <p:cNvSpPr/>
            <p:nvPr/>
          </p:nvSpPr>
          <p:spPr>
            <a:xfrm flipH="false" flipV="false" rot="0">
              <a:off x="0" y="0"/>
              <a:ext cx="929776" cy="476118"/>
            </a:xfrm>
            <a:custGeom>
              <a:avLst/>
              <a:gdLst/>
              <a:ahLst/>
              <a:cxnLst/>
              <a:rect r="r" b="b" t="t" l="l"/>
              <a:pathLst>
                <a:path h="476118" w="929776">
                  <a:moveTo>
                    <a:pt x="0" y="0"/>
                  </a:moveTo>
                  <a:lnTo>
                    <a:pt x="929776" y="0"/>
                  </a:lnTo>
                  <a:lnTo>
                    <a:pt x="929776" y="476118"/>
                  </a:lnTo>
                  <a:lnTo>
                    <a:pt x="0" y="476118"/>
                  </a:lnTo>
                  <a:close/>
                </a:path>
              </a:pathLst>
            </a:custGeom>
            <a:blipFill>
              <a:blip r:embed="rId9">
                <a:alphaModFix amt="0"/>
              </a:blip>
              <a:stretch>
                <a:fillRect l="-15701" t="0" r="-15702" b="-1"/>
              </a:stretch>
            </a:blipFill>
          </p:spPr>
        </p:sp>
        <p:sp>
          <p:nvSpPr>
            <p:cNvPr name="TextBox 15" id="15"/>
            <p:cNvSpPr txBox="true"/>
            <p:nvPr/>
          </p:nvSpPr>
          <p:spPr>
            <a:xfrm>
              <a:off x="0" y="-19050"/>
              <a:ext cx="929780" cy="495173"/>
            </a:xfrm>
            <a:prstGeom prst="rect">
              <a:avLst/>
            </a:prstGeom>
          </p:spPr>
          <p:txBody>
            <a:bodyPr anchor="ctr" rtlCol="false" tIns="0" lIns="0" bIns="0" rIns="0"/>
            <a:lstStyle/>
            <a:p>
              <a:pPr algn="r">
                <a:lnSpc>
                  <a:spcPts val="1800"/>
                </a:lnSpc>
              </a:pPr>
              <a:r>
                <a:rPr lang="en-US" sz="1500">
                  <a:solidFill>
                    <a:srgbClr val="FFFFFF"/>
                  </a:solidFill>
                  <a:latin typeface="Work Sans"/>
                  <a:ea typeface="Work Sans"/>
                  <a:cs typeface="Work Sans"/>
                  <a:sym typeface="Work Sans"/>
                </a:rPr>
                <a:t>1</a:t>
              </a:r>
            </a:p>
          </p:txBody>
        </p:sp>
      </p:grpSp>
      <p:sp>
        <p:nvSpPr>
          <p:cNvPr name="TextBox 16" id="16"/>
          <p:cNvSpPr txBox="true"/>
          <p:nvPr/>
        </p:nvSpPr>
        <p:spPr>
          <a:xfrm rot="0">
            <a:off x="898684" y="3634264"/>
            <a:ext cx="15085619" cy="2762250"/>
          </a:xfrm>
          <a:prstGeom prst="rect">
            <a:avLst/>
          </a:prstGeom>
        </p:spPr>
        <p:txBody>
          <a:bodyPr anchor="t" rtlCol="false" tIns="0" lIns="0" bIns="0" rIns="0">
            <a:spAutoFit/>
          </a:bodyPr>
          <a:lstStyle/>
          <a:p>
            <a:pPr algn="l">
              <a:lnSpc>
                <a:spcPts val="7200"/>
              </a:lnSpc>
            </a:pPr>
            <a:r>
              <a:rPr lang="en-US" sz="6000">
                <a:solidFill>
                  <a:srgbClr val="FFFFFF"/>
                </a:solidFill>
                <a:latin typeface="Work Sans"/>
                <a:ea typeface="Work Sans"/>
                <a:cs typeface="Work Sans"/>
                <a:sym typeface="Work Sans"/>
              </a:rPr>
              <a:t>Internship</a:t>
            </a:r>
          </a:p>
          <a:p>
            <a:pPr algn="l">
              <a:lnSpc>
                <a:spcPts val="7200"/>
              </a:lnSpc>
            </a:pPr>
            <a:r>
              <a:rPr lang="en-US" sz="6000">
                <a:solidFill>
                  <a:srgbClr val="FFFFFF"/>
                </a:solidFill>
                <a:latin typeface="Work Sans"/>
                <a:ea typeface="Work Sans"/>
                <a:cs typeface="Work Sans"/>
                <a:sym typeface="Work Sans"/>
              </a:rPr>
              <a:t>Project </a:t>
            </a:r>
          </a:p>
          <a:p>
            <a:pPr algn="l">
              <a:lnSpc>
                <a:spcPts val="7200"/>
              </a:lnSpc>
            </a:pPr>
            <a:r>
              <a:rPr lang="en-US" sz="6000">
                <a:solidFill>
                  <a:srgbClr val="FFFFFF"/>
                </a:solidFill>
                <a:latin typeface="Work Sans"/>
                <a:ea typeface="Work Sans"/>
                <a:cs typeface="Work Sans"/>
                <a:sym typeface="Work Sans"/>
              </a:rPr>
              <a:t>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16784479" y="9491358"/>
            <a:ext cx="697335" cy="357092"/>
            <a:chOff x="0" y="0"/>
            <a:chExt cx="929780" cy="476123"/>
          </a:xfrm>
        </p:grpSpPr>
        <p:sp>
          <p:nvSpPr>
            <p:cNvPr name="Freeform 4" id="4"/>
            <p:cNvSpPr/>
            <p:nvPr/>
          </p:nvSpPr>
          <p:spPr>
            <a:xfrm flipH="false" flipV="false" rot="0">
              <a:off x="0" y="0"/>
              <a:ext cx="929776" cy="476118"/>
            </a:xfrm>
            <a:custGeom>
              <a:avLst/>
              <a:gdLst/>
              <a:ahLst/>
              <a:cxnLst/>
              <a:rect r="r" b="b" t="t" l="l"/>
              <a:pathLst>
                <a:path h="476118" w="929776">
                  <a:moveTo>
                    <a:pt x="0" y="0"/>
                  </a:moveTo>
                  <a:lnTo>
                    <a:pt x="929776" y="0"/>
                  </a:lnTo>
                  <a:lnTo>
                    <a:pt x="929776" y="476118"/>
                  </a:lnTo>
                  <a:lnTo>
                    <a:pt x="0" y="476118"/>
                  </a:lnTo>
                  <a:close/>
                </a:path>
              </a:pathLst>
            </a:custGeom>
            <a:blipFill>
              <a:blip r:embed="rId3">
                <a:alphaModFix amt="0"/>
              </a:blip>
              <a:stretch>
                <a:fillRect l="-15701" t="0" r="-15702" b="-1"/>
              </a:stretch>
            </a:blipFill>
          </p:spPr>
        </p:sp>
        <p:sp>
          <p:nvSpPr>
            <p:cNvPr name="TextBox 5" id="5"/>
            <p:cNvSpPr txBox="true"/>
            <p:nvPr/>
          </p:nvSpPr>
          <p:spPr>
            <a:xfrm>
              <a:off x="0" y="-19050"/>
              <a:ext cx="929780" cy="495173"/>
            </a:xfrm>
            <a:prstGeom prst="rect">
              <a:avLst/>
            </a:prstGeom>
          </p:spPr>
          <p:txBody>
            <a:bodyPr anchor="ctr" rtlCol="false" tIns="0" lIns="0" bIns="0" rIns="0"/>
            <a:lstStyle/>
            <a:p>
              <a:pPr algn="r">
                <a:lnSpc>
                  <a:spcPts val="1800"/>
                </a:lnSpc>
              </a:pPr>
              <a:r>
                <a:rPr lang="en-US" sz="1500">
                  <a:solidFill>
                    <a:srgbClr val="FFFFFF"/>
                  </a:solidFill>
                  <a:latin typeface="Work Sans"/>
                  <a:ea typeface="Work Sans"/>
                  <a:cs typeface="Work Sans"/>
                  <a:sym typeface="Work Sans"/>
                </a:rPr>
                <a:t>2</a:t>
              </a:r>
            </a:p>
          </p:txBody>
        </p:sp>
      </p:grpSp>
      <p:grpSp>
        <p:nvGrpSpPr>
          <p:cNvPr name="Group 6" id="6"/>
          <p:cNvGrpSpPr/>
          <p:nvPr/>
        </p:nvGrpSpPr>
        <p:grpSpPr>
          <a:xfrm rot="0">
            <a:off x="1252569" y="3094080"/>
            <a:ext cx="8052064" cy="3417418"/>
            <a:chOff x="0" y="0"/>
            <a:chExt cx="10736085" cy="4556557"/>
          </a:xfrm>
        </p:grpSpPr>
        <p:grpSp>
          <p:nvGrpSpPr>
            <p:cNvPr name="Group 7" id="7"/>
            <p:cNvGrpSpPr/>
            <p:nvPr/>
          </p:nvGrpSpPr>
          <p:grpSpPr>
            <a:xfrm rot="0">
              <a:off x="0" y="0"/>
              <a:ext cx="10736085" cy="4556557"/>
              <a:chOff x="0" y="0"/>
              <a:chExt cx="10736085" cy="4556557"/>
            </a:xfrm>
          </p:grpSpPr>
          <p:sp>
            <p:nvSpPr>
              <p:cNvPr name="Freeform 8" id="8"/>
              <p:cNvSpPr/>
              <p:nvPr/>
            </p:nvSpPr>
            <p:spPr>
              <a:xfrm flipH="false" flipV="false" rot="0">
                <a:off x="0" y="0"/>
                <a:ext cx="10736072" cy="4556570"/>
              </a:xfrm>
              <a:custGeom>
                <a:avLst/>
                <a:gdLst/>
                <a:ahLst/>
                <a:cxnLst/>
                <a:rect r="r" b="b" t="t" l="l"/>
                <a:pathLst>
                  <a:path h="4556570" w="10736072">
                    <a:moveTo>
                      <a:pt x="0" y="0"/>
                    </a:moveTo>
                    <a:lnTo>
                      <a:pt x="10736072" y="0"/>
                    </a:lnTo>
                    <a:lnTo>
                      <a:pt x="10736072" y="4556570"/>
                    </a:lnTo>
                    <a:lnTo>
                      <a:pt x="0" y="4556570"/>
                    </a:lnTo>
                    <a:close/>
                  </a:path>
                </a:pathLst>
              </a:custGeom>
              <a:solidFill>
                <a:srgbClr val="E6E7E8">
                  <a:alpha val="73725"/>
                </a:srgbClr>
              </a:solidFill>
            </p:spPr>
          </p:sp>
        </p:grpSp>
        <p:grpSp>
          <p:nvGrpSpPr>
            <p:cNvPr name="Group 9" id="9"/>
            <p:cNvGrpSpPr/>
            <p:nvPr/>
          </p:nvGrpSpPr>
          <p:grpSpPr>
            <a:xfrm rot="0">
              <a:off x="0" y="0"/>
              <a:ext cx="10736085" cy="4556557"/>
              <a:chOff x="0" y="0"/>
              <a:chExt cx="10736085" cy="4556557"/>
            </a:xfrm>
          </p:grpSpPr>
          <p:sp>
            <p:nvSpPr>
              <p:cNvPr name="Freeform 10" id="10"/>
              <p:cNvSpPr/>
              <p:nvPr/>
            </p:nvSpPr>
            <p:spPr>
              <a:xfrm flipH="false" flipV="false" rot="0">
                <a:off x="0" y="0"/>
                <a:ext cx="10736084" cy="4556558"/>
              </a:xfrm>
              <a:custGeom>
                <a:avLst/>
                <a:gdLst/>
                <a:ahLst/>
                <a:cxnLst/>
                <a:rect r="r" b="b" t="t" l="l"/>
                <a:pathLst>
                  <a:path h="4556558" w="10736084">
                    <a:moveTo>
                      <a:pt x="0" y="0"/>
                    </a:moveTo>
                    <a:lnTo>
                      <a:pt x="10736084" y="0"/>
                    </a:lnTo>
                    <a:lnTo>
                      <a:pt x="10736084" y="4556558"/>
                    </a:lnTo>
                    <a:lnTo>
                      <a:pt x="0" y="4556558"/>
                    </a:lnTo>
                    <a:close/>
                  </a:path>
                </a:pathLst>
              </a:custGeom>
              <a:blipFill>
                <a:blip r:embed="rId3">
                  <a:alphaModFix amt="0"/>
                </a:blip>
                <a:stretch>
                  <a:fillRect l="0" t="-34460" r="0" b="42640"/>
                </a:stretch>
              </a:blipFill>
            </p:spPr>
          </p:sp>
          <p:sp>
            <p:nvSpPr>
              <p:cNvPr name="TextBox 11" id="11"/>
              <p:cNvSpPr txBox="true"/>
              <p:nvPr/>
            </p:nvSpPr>
            <p:spPr>
              <a:xfrm>
                <a:off x="0" y="-57150"/>
                <a:ext cx="10736085" cy="4613707"/>
              </a:xfrm>
              <a:prstGeom prst="rect">
                <a:avLst/>
              </a:prstGeom>
            </p:spPr>
            <p:txBody>
              <a:bodyPr anchor="ctr" rtlCol="false" tIns="0" lIns="0" bIns="0" rIns="0"/>
              <a:lstStyle/>
              <a:p>
                <a:pPr algn="just">
                  <a:lnSpc>
                    <a:spcPts val="3790"/>
                  </a:lnSpc>
                </a:pPr>
                <a:r>
                  <a:rPr lang="en-US" sz="2700" u="sng">
                    <a:solidFill>
                      <a:srgbClr val="161718"/>
                    </a:solidFill>
                    <a:latin typeface="Work Sans"/>
                    <a:ea typeface="Work Sans"/>
                    <a:cs typeface="Work Sans"/>
                    <a:sym typeface="Work Sans"/>
                  </a:rPr>
                  <a:t>Presented by</a:t>
                </a:r>
              </a:p>
              <a:p>
                <a:pPr algn="l" marL="582930" indent="-291465" lvl="1">
                  <a:lnSpc>
                    <a:spcPts val="3790"/>
                  </a:lnSpc>
                  <a:buFont typeface="Arial"/>
                  <a:buChar char="•"/>
                </a:pPr>
                <a:r>
                  <a:rPr lang="en-US" sz="2700">
                    <a:solidFill>
                      <a:srgbClr val="161718"/>
                    </a:solidFill>
                    <a:latin typeface="Work Sans"/>
                    <a:ea typeface="Work Sans"/>
                    <a:cs typeface="Work Sans"/>
                    <a:sym typeface="Work Sans"/>
                  </a:rPr>
                  <a:t>Akashay Diwan </a:t>
                </a:r>
              </a:p>
              <a:p>
                <a:pPr algn="l" marL="582930" indent="-291465" lvl="1">
                  <a:lnSpc>
                    <a:spcPts val="3790"/>
                  </a:lnSpc>
                  <a:buFont typeface="Arial"/>
                  <a:buChar char="•"/>
                </a:pPr>
                <a:r>
                  <a:rPr lang="en-US" sz="2700">
                    <a:solidFill>
                      <a:srgbClr val="161718"/>
                    </a:solidFill>
                    <a:latin typeface="Work Sans"/>
                    <a:ea typeface="Work Sans"/>
                    <a:cs typeface="Work Sans"/>
                    <a:sym typeface="Work Sans"/>
                  </a:rPr>
                  <a:t>Adesh Jain</a:t>
                </a:r>
              </a:p>
              <a:p>
                <a:pPr algn="l" marL="582930" indent="-291465" lvl="1">
                  <a:lnSpc>
                    <a:spcPts val="3790"/>
                  </a:lnSpc>
                  <a:buFont typeface="Arial"/>
                  <a:buChar char="•"/>
                </a:pPr>
                <a:r>
                  <a:rPr lang="en-US" sz="2700">
                    <a:solidFill>
                      <a:srgbClr val="161718"/>
                    </a:solidFill>
                    <a:latin typeface="Work Sans"/>
                    <a:ea typeface="Work Sans"/>
                    <a:cs typeface="Work Sans"/>
                    <a:sym typeface="Work Sans"/>
                  </a:rPr>
                  <a:t>Harshal Kokate</a:t>
                </a:r>
              </a:p>
              <a:p>
                <a:pPr algn="l">
                  <a:lnSpc>
                    <a:spcPts val="3790"/>
                  </a:lnSpc>
                </a:pPr>
              </a:p>
              <a:p>
                <a:pPr algn="l">
                  <a:lnSpc>
                    <a:spcPts val="3790"/>
                  </a:lnSpc>
                </a:pPr>
                <a:r>
                  <a:rPr lang="en-US" sz="2700" u="sng">
                    <a:solidFill>
                      <a:srgbClr val="161718"/>
                    </a:solidFill>
                    <a:latin typeface="Work Sans"/>
                    <a:ea typeface="Work Sans"/>
                    <a:cs typeface="Work Sans"/>
                    <a:sym typeface="Work Sans"/>
                  </a:rPr>
                  <a:t>Mentored By:</a:t>
                </a:r>
              </a:p>
              <a:p>
                <a:pPr algn="l" marL="582930" indent="-291465" lvl="1">
                  <a:lnSpc>
                    <a:spcPts val="3790"/>
                  </a:lnSpc>
                  <a:buFont typeface="Arial"/>
                  <a:buChar char="•"/>
                </a:pPr>
                <a:r>
                  <a:rPr lang="en-US" sz="2700">
                    <a:solidFill>
                      <a:srgbClr val="161718"/>
                    </a:solidFill>
                    <a:latin typeface="Work Sans"/>
                    <a:ea typeface="Work Sans"/>
                    <a:cs typeface="Work Sans"/>
                    <a:sym typeface="Work Sans"/>
                  </a:rPr>
                  <a:t>Erick Morales</a:t>
                </a:r>
              </a:p>
            </p:txBody>
          </p:sp>
        </p:grpSp>
      </p:grpSp>
      <p:grpSp>
        <p:nvGrpSpPr>
          <p:cNvPr name="Group 12" id="12"/>
          <p:cNvGrpSpPr/>
          <p:nvPr/>
        </p:nvGrpSpPr>
        <p:grpSpPr>
          <a:xfrm rot="0">
            <a:off x="13186924" y="1028700"/>
            <a:ext cx="4551756" cy="1005313"/>
            <a:chOff x="0" y="0"/>
            <a:chExt cx="6069008" cy="1340417"/>
          </a:xfrm>
        </p:grpSpPr>
        <p:grpSp>
          <p:nvGrpSpPr>
            <p:cNvPr name="Group 13" id="13"/>
            <p:cNvGrpSpPr/>
            <p:nvPr/>
          </p:nvGrpSpPr>
          <p:grpSpPr>
            <a:xfrm rot="0">
              <a:off x="0" y="177581"/>
              <a:ext cx="3336849" cy="984428"/>
              <a:chOff x="0" y="0"/>
              <a:chExt cx="3336849" cy="984428"/>
            </a:xfrm>
          </p:grpSpPr>
          <p:sp>
            <p:nvSpPr>
              <p:cNvPr name="Freeform 14" id="14"/>
              <p:cNvSpPr/>
              <p:nvPr/>
            </p:nvSpPr>
            <p:spPr>
              <a:xfrm flipH="false" flipV="false" rot="0">
                <a:off x="0" y="0"/>
                <a:ext cx="3336798" cy="984377"/>
              </a:xfrm>
              <a:custGeom>
                <a:avLst/>
                <a:gdLst/>
                <a:ahLst/>
                <a:cxnLst/>
                <a:rect r="r" b="b" t="t" l="l"/>
                <a:pathLst>
                  <a:path h="984377" w="3336798">
                    <a:moveTo>
                      <a:pt x="0" y="0"/>
                    </a:moveTo>
                    <a:lnTo>
                      <a:pt x="3336798" y="0"/>
                    </a:lnTo>
                    <a:lnTo>
                      <a:pt x="3336798" y="984377"/>
                    </a:lnTo>
                    <a:lnTo>
                      <a:pt x="0" y="984377"/>
                    </a:lnTo>
                    <a:lnTo>
                      <a:pt x="0" y="0"/>
                    </a:lnTo>
                    <a:close/>
                  </a:path>
                </a:pathLst>
              </a:custGeom>
              <a:blipFill>
                <a:blip r:embed="rId4"/>
                <a:stretch>
                  <a:fillRect l="-127" t="0" r="-129" b="-5"/>
                </a:stretch>
              </a:blipFill>
            </p:spPr>
          </p:sp>
        </p:grpSp>
        <p:sp>
          <p:nvSpPr>
            <p:cNvPr name="TextBox 15" id="15"/>
            <p:cNvSpPr txBox="true"/>
            <p:nvPr/>
          </p:nvSpPr>
          <p:spPr>
            <a:xfrm rot="0">
              <a:off x="3940446" y="47625"/>
              <a:ext cx="2128562" cy="1292792"/>
            </a:xfrm>
            <a:prstGeom prst="rect">
              <a:avLst/>
            </a:prstGeom>
          </p:spPr>
          <p:txBody>
            <a:bodyPr anchor="t" rtlCol="false" tIns="0" lIns="0" bIns="0" rIns="0">
              <a:spAutoFit/>
            </a:bodyPr>
            <a:lstStyle/>
            <a:p>
              <a:pPr algn="l">
                <a:lnSpc>
                  <a:spcPts val="4203"/>
                </a:lnSpc>
              </a:pPr>
              <a:r>
                <a:rPr lang="en-US" sz="4041" b="true">
                  <a:solidFill>
                    <a:srgbClr val="FFFFFF"/>
                  </a:solidFill>
                  <a:latin typeface="Work Sans Bold"/>
                  <a:ea typeface="Work Sans Bold"/>
                  <a:cs typeface="Work Sans Bold"/>
                  <a:sym typeface="Work Sans Bold"/>
                </a:rPr>
                <a:t>APEX</a:t>
              </a:r>
            </a:p>
            <a:p>
              <a:pPr algn="l">
                <a:lnSpc>
                  <a:spcPts val="3152"/>
                </a:lnSpc>
              </a:pPr>
              <a:r>
                <a:rPr lang="en-US" sz="3031">
                  <a:solidFill>
                    <a:srgbClr val="FFFFFF"/>
                  </a:solidFill>
                  <a:latin typeface="Work Sans"/>
                  <a:ea typeface="Work Sans"/>
                  <a:cs typeface="Work Sans"/>
                  <a:sym typeface="Work Sans"/>
                </a:rPr>
                <a:t>LAB</a:t>
              </a:r>
            </a:p>
          </p:txBody>
        </p:sp>
        <p:sp>
          <p:nvSpPr>
            <p:cNvPr name="AutoShape 16" id="16"/>
            <p:cNvSpPr/>
            <p:nvPr/>
          </p:nvSpPr>
          <p:spPr>
            <a:xfrm flipV="true">
              <a:off x="3638647" y="177581"/>
              <a:ext cx="0" cy="984428"/>
            </a:xfrm>
            <a:prstGeom prst="line">
              <a:avLst/>
            </a:prstGeom>
            <a:ln cap="flat" w="50800">
              <a:solidFill>
                <a:srgbClr val="D7E1EA"/>
              </a:solidFill>
              <a:prstDash val="solid"/>
              <a:headEnd type="none" len="sm" w="sm"/>
              <a:tailEnd type="none" len="sm" w="sm"/>
            </a:ln>
          </p:spPr>
        </p:sp>
      </p:grpSp>
      <p:grpSp>
        <p:nvGrpSpPr>
          <p:cNvPr name="Group 17" id="17"/>
          <p:cNvGrpSpPr/>
          <p:nvPr/>
        </p:nvGrpSpPr>
        <p:grpSpPr>
          <a:xfrm rot="0">
            <a:off x="926309" y="9491358"/>
            <a:ext cx="2807304" cy="493053"/>
            <a:chOff x="0" y="0"/>
            <a:chExt cx="3743072" cy="657404"/>
          </a:xfrm>
        </p:grpSpPr>
        <p:sp>
          <p:nvSpPr>
            <p:cNvPr name="Freeform 18" id="18"/>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0" id="20"/>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a:off x="926309" y="9327844"/>
            <a:ext cx="16411578" cy="14322"/>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801300" y="704926"/>
            <a:ext cx="2502637" cy="738321"/>
            <a:chOff x="0" y="0"/>
            <a:chExt cx="3336849" cy="984428"/>
          </a:xfrm>
        </p:grpSpPr>
        <p:sp>
          <p:nvSpPr>
            <p:cNvPr name="Freeform 4" id="4"/>
            <p:cNvSpPr/>
            <p:nvPr/>
          </p:nvSpPr>
          <p:spPr>
            <a:xfrm flipH="false" flipV="false" rot="0">
              <a:off x="0" y="0"/>
              <a:ext cx="3336798" cy="984377"/>
            </a:xfrm>
            <a:custGeom>
              <a:avLst/>
              <a:gdLst/>
              <a:ahLst/>
              <a:cxnLst/>
              <a:rect r="r" b="b" t="t" l="l"/>
              <a:pathLst>
                <a:path h="984377" w="3336798">
                  <a:moveTo>
                    <a:pt x="0" y="0"/>
                  </a:moveTo>
                  <a:lnTo>
                    <a:pt x="3336798" y="0"/>
                  </a:lnTo>
                  <a:lnTo>
                    <a:pt x="3336798" y="984377"/>
                  </a:lnTo>
                  <a:lnTo>
                    <a:pt x="0" y="984377"/>
                  </a:lnTo>
                  <a:lnTo>
                    <a:pt x="0" y="0"/>
                  </a:lnTo>
                  <a:close/>
                </a:path>
              </a:pathLst>
            </a:custGeom>
            <a:blipFill>
              <a:blip r:embed="rId2"/>
              <a:stretch>
                <a:fillRect l="-127" t="0" r="-129" b="-5"/>
              </a:stretch>
            </a:blipFill>
          </p:spPr>
        </p:sp>
      </p:grpSp>
      <p:grpSp>
        <p:nvGrpSpPr>
          <p:cNvPr name="Group 5" id="5"/>
          <p:cNvGrpSpPr/>
          <p:nvPr/>
        </p:nvGrpSpPr>
        <p:grpSpPr>
          <a:xfrm rot="0">
            <a:off x="9526838" y="0"/>
            <a:ext cx="8761162" cy="10287000"/>
            <a:chOff x="0" y="0"/>
            <a:chExt cx="11681549" cy="13716000"/>
          </a:xfrm>
        </p:grpSpPr>
        <p:sp>
          <p:nvSpPr>
            <p:cNvPr name="Freeform 6" id="6"/>
            <p:cNvSpPr/>
            <p:nvPr/>
          </p:nvSpPr>
          <p:spPr>
            <a:xfrm flipH="false" flipV="false" rot="0">
              <a:off x="0" y="0"/>
              <a:ext cx="11681587" cy="13716000"/>
            </a:xfrm>
            <a:custGeom>
              <a:avLst/>
              <a:gdLst/>
              <a:ahLst/>
              <a:cxnLst/>
              <a:rect r="r" b="b" t="t" l="l"/>
              <a:pathLst>
                <a:path h="13716000" w="11681587">
                  <a:moveTo>
                    <a:pt x="0" y="0"/>
                  </a:moveTo>
                  <a:lnTo>
                    <a:pt x="11681587" y="0"/>
                  </a:lnTo>
                  <a:lnTo>
                    <a:pt x="11681587" y="13716000"/>
                  </a:lnTo>
                  <a:lnTo>
                    <a:pt x="0" y="13716000"/>
                  </a:lnTo>
                  <a:lnTo>
                    <a:pt x="0" y="0"/>
                  </a:lnTo>
                  <a:close/>
                </a:path>
              </a:pathLst>
            </a:custGeom>
            <a:blipFill>
              <a:blip r:embed="rId3"/>
              <a:stretch>
                <a:fillRect l="0" t="0" r="0" b="-33"/>
              </a:stretch>
            </a:blipFill>
          </p:spPr>
        </p:sp>
      </p:grpSp>
      <p:sp>
        <p:nvSpPr>
          <p:cNvPr name="TextBox 7" id="7"/>
          <p:cNvSpPr txBox="true"/>
          <p:nvPr/>
        </p:nvSpPr>
        <p:spPr>
          <a:xfrm rot="0">
            <a:off x="848563" y="4271620"/>
            <a:ext cx="7685856" cy="2552700"/>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CAN Bus Mon</a:t>
            </a:r>
            <a:r>
              <a:rPr lang="en-US" b="true" sz="4200" spc="-30">
                <a:solidFill>
                  <a:srgbClr val="E6E7E8"/>
                </a:solidFill>
                <a:latin typeface="Work Sans Medium"/>
                <a:ea typeface="Work Sans Medium"/>
                <a:cs typeface="Work Sans Medium"/>
                <a:sym typeface="Work Sans Medium"/>
              </a:rPr>
              <a:t>itoring, Simulation, and Diagnostics Platform using Raspberry Pi 5 </a:t>
            </a:r>
          </a:p>
        </p:txBody>
      </p:sp>
      <p:grpSp>
        <p:nvGrpSpPr>
          <p:cNvPr name="Group 8" id="8"/>
          <p:cNvGrpSpPr/>
          <p:nvPr/>
        </p:nvGrpSpPr>
        <p:grpSpPr>
          <a:xfrm rot="0">
            <a:off x="17337888" y="9479775"/>
            <a:ext cx="695325" cy="357188"/>
            <a:chOff x="0" y="0"/>
            <a:chExt cx="927100" cy="476250"/>
          </a:xfrm>
        </p:grpSpPr>
        <p:sp>
          <p:nvSpPr>
            <p:cNvPr name="Freeform 9" id="9"/>
            <p:cNvSpPr/>
            <p:nvPr/>
          </p:nvSpPr>
          <p:spPr>
            <a:xfrm flipH="false" flipV="false" rot="0">
              <a:off x="0" y="0"/>
              <a:ext cx="927100" cy="476250"/>
            </a:xfrm>
            <a:custGeom>
              <a:avLst/>
              <a:gdLst/>
              <a:ahLst/>
              <a:cxnLst/>
              <a:rect r="r" b="b" t="t" l="l"/>
              <a:pathLst>
                <a:path h="476250" w="927100">
                  <a:moveTo>
                    <a:pt x="0" y="0"/>
                  </a:moveTo>
                  <a:lnTo>
                    <a:pt x="927100" y="0"/>
                  </a:lnTo>
                  <a:lnTo>
                    <a:pt x="927100" y="476250"/>
                  </a:lnTo>
                  <a:lnTo>
                    <a:pt x="0" y="476250"/>
                  </a:lnTo>
                  <a:close/>
                </a:path>
              </a:pathLst>
            </a:custGeom>
            <a:blipFill>
              <a:blip r:embed="rId4">
                <a:alphaModFix amt="0"/>
              </a:blip>
              <a:stretch>
                <a:fillRect l="-15909" t="0" r="-15909" b="0"/>
              </a:stretch>
            </a:blipFill>
          </p:spPr>
        </p:sp>
        <p:sp>
          <p:nvSpPr>
            <p:cNvPr name="TextBox 10" id="10"/>
            <p:cNvSpPr txBox="true"/>
            <p:nvPr/>
          </p:nvSpPr>
          <p:spPr>
            <a:xfrm>
              <a:off x="0" y="-19050"/>
              <a:ext cx="927100" cy="495300"/>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3</a:t>
              </a:r>
            </a:p>
          </p:txBody>
        </p:sp>
      </p:grpSp>
      <p:grpSp>
        <p:nvGrpSpPr>
          <p:cNvPr name="Group 11" id="11"/>
          <p:cNvGrpSpPr/>
          <p:nvPr/>
        </p:nvGrpSpPr>
        <p:grpSpPr>
          <a:xfrm rot="0">
            <a:off x="13186924" y="1028700"/>
            <a:ext cx="4551756" cy="1005313"/>
            <a:chOff x="0" y="0"/>
            <a:chExt cx="6069008" cy="1340417"/>
          </a:xfrm>
        </p:grpSpPr>
        <p:grpSp>
          <p:nvGrpSpPr>
            <p:cNvPr name="Group 12" id="12"/>
            <p:cNvGrpSpPr/>
            <p:nvPr/>
          </p:nvGrpSpPr>
          <p:grpSpPr>
            <a:xfrm rot="0">
              <a:off x="0" y="177581"/>
              <a:ext cx="3336849" cy="984428"/>
              <a:chOff x="0" y="0"/>
              <a:chExt cx="3336849" cy="984428"/>
            </a:xfrm>
          </p:grpSpPr>
          <p:sp>
            <p:nvSpPr>
              <p:cNvPr name="Freeform 13" id="13"/>
              <p:cNvSpPr/>
              <p:nvPr/>
            </p:nvSpPr>
            <p:spPr>
              <a:xfrm flipH="false" flipV="false" rot="0">
                <a:off x="0" y="0"/>
                <a:ext cx="3336798" cy="984377"/>
              </a:xfrm>
              <a:custGeom>
                <a:avLst/>
                <a:gdLst/>
                <a:ahLst/>
                <a:cxnLst/>
                <a:rect r="r" b="b" t="t" l="l"/>
                <a:pathLst>
                  <a:path h="984377" w="3336798">
                    <a:moveTo>
                      <a:pt x="0" y="0"/>
                    </a:moveTo>
                    <a:lnTo>
                      <a:pt x="3336798" y="0"/>
                    </a:lnTo>
                    <a:lnTo>
                      <a:pt x="3336798" y="984377"/>
                    </a:lnTo>
                    <a:lnTo>
                      <a:pt x="0" y="984377"/>
                    </a:lnTo>
                    <a:lnTo>
                      <a:pt x="0" y="0"/>
                    </a:lnTo>
                    <a:close/>
                  </a:path>
                </a:pathLst>
              </a:custGeom>
              <a:blipFill>
                <a:blip r:embed="rId2"/>
                <a:stretch>
                  <a:fillRect l="-127" t="0" r="-129" b="-5"/>
                </a:stretch>
              </a:blipFill>
            </p:spPr>
          </p:sp>
        </p:grpSp>
        <p:sp>
          <p:nvSpPr>
            <p:cNvPr name="TextBox 14" id="14"/>
            <p:cNvSpPr txBox="true"/>
            <p:nvPr/>
          </p:nvSpPr>
          <p:spPr>
            <a:xfrm rot="0">
              <a:off x="3940446" y="47625"/>
              <a:ext cx="2128562" cy="1292792"/>
            </a:xfrm>
            <a:prstGeom prst="rect">
              <a:avLst/>
            </a:prstGeom>
          </p:spPr>
          <p:txBody>
            <a:bodyPr anchor="t" rtlCol="false" tIns="0" lIns="0" bIns="0" rIns="0">
              <a:spAutoFit/>
            </a:bodyPr>
            <a:lstStyle/>
            <a:p>
              <a:pPr algn="l">
                <a:lnSpc>
                  <a:spcPts val="4203"/>
                </a:lnSpc>
              </a:pPr>
              <a:r>
                <a:rPr lang="en-US" sz="4041" b="true">
                  <a:solidFill>
                    <a:srgbClr val="FFFFFF"/>
                  </a:solidFill>
                  <a:latin typeface="Work Sans Bold"/>
                  <a:ea typeface="Work Sans Bold"/>
                  <a:cs typeface="Work Sans Bold"/>
                  <a:sym typeface="Work Sans Bold"/>
                </a:rPr>
                <a:t>APEX</a:t>
              </a:r>
            </a:p>
            <a:p>
              <a:pPr algn="l">
                <a:lnSpc>
                  <a:spcPts val="3152"/>
                </a:lnSpc>
              </a:pPr>
              <a:r>
                <a:rPr lang="en-US" sz="3031">
                  <a:solidFill>
                    <a:srgbClr val="FFFFFF"/>
                  </a:solidFill>
                  <a:latin typeface="Work Sans"/>
                  <a:ea typeface="Work Sans"/>
                  <a:cs typeface="Work Sans"/>
                  <a:sym typeface="Work Sans"/>
                </a:rPr>
                <a:t>LAB</a:t>
              </a:r>
            </a:p>
          </p:txBody>
        </p:sp>
        <p:sp>
          <p:nvSpPr>
            <p:cNvPr name="AutoShape 15" id="15"/>
            <p:cNvSpPr/>
            <p:nvPr/>
          </p:nvSpPr>
          <p:spPr>
            <a:xfrm flipV="true">
              <a:off x="3638647" y="177581"/>
              <a:ext cx="0" cy="984428"/>
            </a:xfrm>
            <a:prstGeom prst="line">
              <a:avLst/>
            </a:prstGeom>
            <a:ln cap="flat" w="50800">
              <a:solidFill>
                <a:srgbClr val="D7E1EA"/>
              </a:solidFill>
              <a:prstDash val="solid"/>
              <a:headEnd type="none" len="sm" w="sm"/>
              <a:tailEnd type="none" len="sm" w="sm"/>
            </a:ln>
          </p:spPr>
        </p:sp>
      </p:grpSp>
      <p:grpSp>
        <p:nvGrpSpPr>
          <p:cNvPr name="Group 16" id="16"/>
          <p:cNvGrpSpPr/>
          <p:nvPr/>
        </p:nvGrpSpPr>
        <p:grpSpPr>
          <a:xfrm rot="0">
            <a:off x="926309" y="9491358"/>
            <a:ext cx="2807304" cy="493053"/>
            <a:chOff x="0" y="0"/>
            <a:chExt cx="3743072" cy="657404"/>
          </a:xfrm>
        </p:grpSpPr>
        <p:sp>
          <p:nvSpPr>
            <p:cNvPr name="Freeform 17" id="17"/>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19" id="19"/>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16784479" y="9491358"/>
            <a:ext cx="697335" cy="357088"/>
            <a:chOff x="0" y="0"/>
            <a:chExt cx="929780" cy="476118"/>
          </a:xfrm>
        </p:grpSpPr>
        <p:sp>
          <p:nvSpPr>
            <p:cNvPr name="Freeform 4" id="4"/>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5" id="5"/>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4</a:t>
              </a:r>
            </a:p>
          </p:txBody>
        </p:sp>
      </p:grpSp>
      <p:grpSp>
        <p:nvGrpSpPr>
          <p:cNvPr name="Group 6" id="6"/>
          <p:cNvGrpSpPr/>
          <p:nvPr/>
        </p:nvGrpSpPr>
        <p:grpSpPr>
          <a:xfrm rot="0">
            <a:off x="15325725" y="9491367"/>
            <a:ext cx="1299210" cy="357077"/>
            <a:chOff x="0" y="0"/>
            <a:chExt cx="1732280" cy="476102"/>
          </a:xfrm>
        </p:grpSpPr>
        <p:sp>
          <p:nvSpPr>
            <p:cNvPr name="Freeform 7" id="7"/>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8" id="8"/>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9" id="9"/>
          <p:cNvGrpSpPr/>
          <p:nvPr/>
        </p:nvGrpSpPr>
        <p:grpSpPr>
          <a:xfrm rot="0">
            <a:off x="1426145" y="1841467"/>
            <a:ext cx="16588628" cy="7070739"/>
            <a:chOff x="0" y="0"/>
            <a:chExt cx="22118171" cy="9427652"/>
          </a:xfrm>
        </p:grpSpPr>
        <p:grpSp>
          <p:nvGrpSpPr>
            <p:cNvPr name="Group 10" id="10"/>
            <p:cNvGrpSpPr/>
            <p:nvPr/>
          </p:nvGrpSpPr>
          <p:grpSpPr>
            <a:xfrm rot="0">
              <a:off x="3965914" y="5726997"/>
              <a:ext cx="6880715" cy="1753893"/>
              <a:chOff x="0" y="0"/>
              <a:chExt cx="1195369" cy="304699"/>
            </a:xfrm>
          </p:grpSpPr>
          <p:sp>
            <p:nvSpPr>
              <p:cNvPr name="Freeform 11" id="11"/>
              <p:cNvSpPr/>
              <p:nvPr/>
            </p:nvSpPr>
            <p:spPr>
              <a:xfrm flipH="false" flipV="false" rot="0">
                <a:off x="0" y="0"/>
                <a:ext cx="1195369" cy="304699"/>
              </a:xfrm>
              <a:custGeom>
                <a:avLst/>
                <a:gdLst/>
                <a:ahLst/>
                <a:cxnLst/>
                <a:rect r="r" b="b" t="t" l="l"/>
                <a:pathLst>
                  <a:path h="304699" w="1195369">
                    <a:moveTo>
                      <a:pt x="992169" y="0"/>
                    </a:moveTo>
                    <a:lnTo>
                      <a:pt x="0" y="0"/>
                    </a:lnTo>
                    <a:lnTo>
                      <a:pt x="203200" y="304699"/>
                    </a:lnTo>
                    <a:lnTo>
                      <a:pt x="1195369" y="304699"/>
                    </a:lnTo>
                    <a:lnTo>
                      <a:pt x="992169" y="0"/>
                    </a:lnTo>
                    <a:close/>
                  </a:path>
                </a:pathLst>
              </a:custGeom>
              <a:solidFill>
                <a:srgbClr val="B0FF45"/>
              </a:solidFill>
            </p:spPr>
          </p:sp>
          <p:sp>
            <p:nvSpPr>
              <p:cNvPr name="TextBox 12" id="12"/>
              <p:cNvSpPr txBox="true"/>
              <p:nvPr/>
            </p:nvSpPr>
            <p:spPr>
              <a:xfrm>
                <a:off x="101600" y="-19050"/>
                <a:ext cx="992169" cy="323749"/>
              </a:xfrm>
              <a:prstGeom prst="rect">
                <a:avLst/>
              </a:prstGeom>
            </p:spPr>
            <p:txBody>
              <a:bodyPr anchor="ctr" rtlCol="false" tIns="57760" lIns="57760" bIns="57760" rIns="57760"/>
              <a:lstStyle/>
              <a:p>
                <a:pPr algn="ctr">
                  <a:lnSpc>
                    <a:spcPts val="1919"/>
                  </a:lnSpc>
                </a:pPr>
              </a:p>
            </p:txBody>
          </p:sp>
        </p:grpSp>
        <p:grpSp>
          <p:nvGrpSpPr>
            <p:cNvPr name="Group 13" id="13"/>
            <p:cNvGrpSpPr/>
            <p:nvPr/>
          </p:nvGrpSpPr>
          <p:grpSpPr>
            <a:xfrm rot="0">
              <a:off x="11349016" y="5726997"/>
              <a:ext cx="6980388" cy="1753893"/>
              <a:chOff x="0" y="0"/>
              <a:chExt cx="1212685" cy="304699"/>
            </a:xfrm>
          </p:grpSpPr>
          <p:sp>
            <p:nvSpPr>
              <p:cNvPr name="Freeform 14" id="14"/>
              <p:cNvSpPr/>
              <p:nvPr/>
            </p:nvSpPr>
            <p:spPr>
              <a:xfrm flipH="false" flipV="false" rot="0">
                <a:off x="0" y="0"/>
                <a:ext cx="1212685" cy="304699"/>
              </a:xfrm>
              <a:custGeom>
                <a:avLst/>
                <a:gdLst/>
                <a:ahLst/>
                <a:cxnLst/>
                <a:rect r="r" b="b" t="t" l="l"/>
                <a:pathLst>
                  <a:path h="304699" w="1212685">
                    <a:moveTo>
                      <a:pt x="203200" y="0"/>
                    </a:moveTo>
                    <a:lnTo>
                      <a:pt x="1212685" y="0"/>
                    </a:lnTo>
                    <a:lnTo>
                      <a:pt x="1009485" y="304699"/>
                    </a:lnTo>
                    <a:lnTo>
                      <a:pt x="0" y="304699"/>
                    </a:lnTo>
                    <a:lnTo>
                      <a:pt x="203200" y="0"/>
                    </a:lnTo>
                    <a:close/>
                  </a:path>
                </a:pathLst>
              </a:custGeom>
              <a:solidFill>
                <a:srgbClr val="B0FF45"/>
              </a:solidFill>
            </p:spPr>
          </p:sp>
          <p:sp>
            <p:nvSpPr>
              <p:cNvPr name="TextBox 15" id="15"/>
              <p:cNvSpPr txBox="true"/>
              <p:nvPr/>
            </p:nvSpPr>
            <p:spPr>
              <a:xfrm>
                <a:off x="101600" y="-19050"/>
                <a:ext cx="1009485" cy="323749"/>
              </a:xfrm>
              <a:prstGeom prst="rect">
                <a:avLst/>
              </a:prstGeom>
            </p:spPr>
            <p:txBody>
              <a:bodyPr anchor="ctr" rtlCol="false" tIns="57760" lIns="57760" bIns="57760" rIns="57760"/>
              <a:lstStyle/>
              <a:p>
                <a:pPr algn="ctr">
                  <a:lnSpc>
                    <a:spcPts val="1919"/>
                  </a:lnSpc>
                </a:pPr>
              </a:p>
            </p:txBody>
          </p:sp>
        </p:grpSp>
        <p:grpSp>
          <p:nvGrpSpPr>
            <p:cNvPr name="Group 16" id="16"/>
            <p:cNvGrpSpPr/>
            <p:nvPr/>
          </p:nvGrpSpPr>
          <p:grpSpPr>
            <a:xfrm rot="0">
              <a:off x="5221960" y="7634804"/>
              <a:ext cx="7314857" cy="1792848"/>
              <a:chOff x="0" y="0"/>
              <a:chExt cx="1270791" cy="311467"/>
            </a:xfrm>
          </p:grpSpPr>
          <p:sp>
            <p:nvSpPr>
              <p:cNvPr name="Freeform 17" id="17"/>
              <p:cNvSpPr/>
              <p:nvPr/>
            </p:nvSpPr>
            <p:spPr>
              <a:xfrm flipH="false" flipV="false" rot="0">
                <a:off x="0" y="0"/>
                <a:ext cx="1270791" cy="311467"/>
              </a:xfrm>
              <a:custGeom>
                <a:avLst/>
                <a:gdLst/>
                <a:ahLst/>
                <a:cxnLst/>
                <a:rect r="r" b="b" t="t" l="l"/>
                <a:pathLst>
                  <a:path h="311467" w="1270791">
                    <a:moveTo>
                      <a:pt x="1067591" y="0"/>
                    </a:moveTo>
                    <a:lnTo>
                      <a:pt x="0" y="0"/>
                    </a:lnTo>
                    <a:lnTo>
                      <a:pt x="203200" y="311467"/>
                    </a:lnTo>
                    <a:lnTo>
                      <a:pt x="1270791" y="311467"/>
                    </a:lnTo>
                    <a:lnTo>
                      <a:pt x="1067591" y="0"/>
                    </a:lnTo>
                    <a:close/>
                  </a:path>
                </a:pathLst>
              </a:custGeom>
              <a:solidFill>
                <a:srgbClr val="B0FF45"/>
              </a:solidFill>
            </p:spPr>
          </p:sp>
          <p:sp>
            <p:nvSpPr>
              <p:cNvPr name="TextBox 18" id="18"/>
              <p:cNvSpPr txBox="true"/>
              <p:nvPr/>
            </p:nvSpPr>
            <p:spPr>
              <a:xfrm>
                <a:off x="101600" y="-19050"/>
                <a:ext cx="1067591" cy="330517"/>
              </a:xfrm>
              <a:prstGeom prst="rect">
                <a:avLst/>
              </a:prstGeom>
            </p:spPr>
            <p:txBody>
              <a:bodyPr anchor="ctr" rtlCol="false" tIns="57760" lIns="57760" bIns="57760" rIns="57760"/>
              <a:lstStyle/>
              <a:p>
                <a:pPr algn="ctr">
                  <a:lnSpc>
                    <a:spcPts val="1919"/>
                  </a:lnSpc>
                </a:pPr>
              </a:p>
            </p:txBody>
          </p:sp>
        </p:grpSp>
        <p:grpSp>
          <p:nvGrpSpPr>
            <p:cNvPr name="Group 19" id="19"/>
            <p:cNvGrpSpPr/>
            <p:nvPr/>
          </p:nvGrpSpPr>
          <p:grpSpPr>
            <a:xfrm rot="0">
              <a:off x="9556887" y="7634804"/>
              <a:ext cx="7420819" cy="1792848"/>
              <a:chOff x="0" y="0"/>
              <a:chExt cx="1289200" cy="311467"/>
            </a:xfrm>
          </p:grpSpPr>
          <p:sp>
            <p:nvSpPr>
              <p:cNvPr name="Freeform 20" id="20"/>
              <p:cNvSpPr/>
              <p:nvPr/>
            </p:nvSpPr>
            <p:spPr>
              <a:xfrm flipH="false" flipV="false" rot="0">
                <a:off x="0" y="0"/>
                <a:ext cx="1289200" cy="311467"/>
              </a:xfrm>
              <a:custGeom>
                <a:avLst/>
                <a:gdLst/>
                <a:ahLst/>
                <a:cxnLst/>
                <a:rect r="r" b="b" t="t" l="l"/>
                <a:pathLst>
                  <a:path h="311467" w="1289200">
                    <a:moveTo>
                      <a:pt x="203200" y="0"/>
                    </a:moveTo>
                    <a:lnTo>
                      <a:pt x="1289200" y="0"/>
                    </a:lnTo>
                    <a:lnTo>
                      <a:pt x="1086000" y="311467"/>
                    </a:lnTo>
                    <a:lnTo>
                      <a:pt x="0" y="311467"/>
                    </a:lnTo>
                    <a:lnTo>
                      <a:pt x="203200" y="0"/>
                    </a:lnTo>
                    <a:close/>
                  </a:path>
                </a:pathLst>
              </a:custGeom>
              <a:solidFill>
                <a:srgbClr val="B0FF45"/>
              </a:solidFill>
            </p:spPr>
          </p:sp>
          <p:sp>
            <p:nvSpPr>
              <p:cNvPr name="TextBox 21" id="21"/>
              <p:cNvSpPr txBox="true"/>
              <p:nvPr/>
            </p:nvSpPr>
            <p:spPr>
              <a:xfrm>
                <a:off x="101600" y="-19050"/>
                <a:ext cx="1086000" cy="330517"/>
              </a:xfrm>
              <a:prstGeom prst="rect">
                <a:avLst/>
              </a:prstGeom>
            </p:spPr>
            <p:txBody>
              <a:bodyPr anchor="ctr" rtlCol="false" tIns="57760" lIns="57760" bIns="57760" rIns="57760"/>
              <a:lstStyle/>
              <a:p>
                <a:pPr algn="ctr">
                  <a:lnSpc>
                    <a:spcPts val="1919"/>
                  </a:lnSpc>
                </a:pPr>
              </a:p>
            </p:txBody>
          </p:sp>
        </p:grpSp>
        <p:grpSp>
          <p:nvGrpSpPr>
            <p:cNvPr name="Group 22" id="22"/>
            <p:cNvGrpSpPr/>
            <p:nvPr/>
          </p:nvGrpSpPr>
          <p:grpSpPr>
            <a:xfrm rot="0">
              <a:off x="2587471" y="3818274"/>
              <a:ext cx="6880715" cy="1753893"/>
              <a:chOff x="0" y="0"/>
              <a:chExt cx="1195369" cy="304699"/>
            </a:xfrm>
          </p:grpSpPr>
          <p:sp>
            <p:nvSpPr>
              <p:cNvPr name="Freeform 23" id="23"/>
              <p:cNvSpPr/>
              <p:nvPr/>
            </p:nvSpPr>
            <p:spPr>
              <a:xfrm flipH="false" flipV="false" rot="0">
                <a:off x="0" y="0"/>
                <a:ext cx="1195369" cy="304699"/>
              </a:xfrm>
              <a:custGeom>
                <a:avLst/>
                <a:gdLst/>
                <a:ahLst/>
                <a:cxnLst/>
                <a:rect r="r" b="b" t="t" l="l"/>
                <a:pathLst>
                  <a:path h="304699" w="1195369">
                    <a:moveTo>
                      <a:pt x="992169" y="0"/>
                    </a:moveTo>
                    <a:lnTo>
                      <a:pt x="0" y="0"/>
                    </a:lnTo>
                    <a:lnTo>
                      <a:pt x="203200" y="304699"/>
                    </a:lnTo>
                    <a:lnTo>
                      <a:pt x="1195369" y="304699"/>
                    </a:lnTo>
                    <a:lnTo>
                      <a:pt x="992169" y="0"/>
                    </a:lnTo>
                    <a:close/>
                  </a:path>
                </a:pathLst>
              </a:custGeom>
              <a:solidFill>
                <a:srgbClr val="B0FF45"/>
              </a:solidFill>
            </p:spPr>
          </p:sp>
          <p:sp>
            <p:nvSpPr>
              <p:cNvPr name="TextBox 24" id="24"/>
              <p:cNvSpPr txBox="true"/>
              <p:nvPr/>
            </p:nvSpPr>
            <p:spPr>
              <a:xfrm>
                <a:off x="101600" y="-19050"/>
                <a:ext cx="992169" cy="323749"/>
              </a:xfrm>
              <a:prstGeom prst="rect">
                <a:avLst/>
              </a:prstGeom>
            </p:spPr>
            <p:txBody>
              <a:bodyPr anchor="ctr" rtlCol="false" tIns="57760" lIns="57760" bIns="57760" rIns="57760"/>
              <a:lstStyle/>
              <a:p>
                <a:pPr algn="ctr">
                  <a:lnSpc>
                    <a:spcPts val="1919"/>
                  </a:lnSpc>
                </a:pPr>
              </a:p>
            </p:txBody>
          </p:sp>
        </p:grpSp>
        <p:grpSp>
          <p:nvGrpSpPr>
            <p:cNvPr name="Group 25" id="25"/>
            <p:cNvGrpSpPr/>
            <p:nvPr/>
          </p:nvGrpSpPr>
          <p:grpSpPr>
            <a:xfrm rot="0">
              <a:off x="1291721" y="1909552"/>
              <a:ext cx="6880715" cy="1753893"/>
              <a:chOff x="0" y="0"/>
              <a:chExt cx="1195369" cy="304699"/>
            </a:xfrm>
          </p:grpSpPr>
          <p:sp>
            <p:nvSpPr>
              <p:cNvPr name="Freeform 26" id="26"/>
              <p:cNvSpPr/>
              <p:nvPr/>
            </p:nvSpPr>
            <p:spPr>
              <a:xfrm flipH="false" flipV="false" rot="0">
                <a:off x="0" y="0"/>
                <a:ext cx="1195369" cy="304699"/>
              </a:xfrm>
              <a:custGeom>
                <a:avLst/>
                <a:gdLst/>
                <a:ahLst/>
                <a:cxnLst/>
                <a:rect r="r" b="b" t="t" l="l"/>
                <a:pathLst>
                  <a:path h="304699" w="1195369">
                    <a:moveTo>
                      <a:pt x="992169" y="0"/>
                    </a:moveTo>
                    <a:lnTo>
                      <a:pt x="0" y="0"/>
                    </a:lnTo>
                    <a:lnTo>
                      <a:pt x="203200" y="304699"/>
                    </a:lnTo>
                    <a:lnTo>
                      <a:pt x="1195369" y="304699"/>
                    </a:lnTo>
                    <a:lnTo>
                      <a:pt x="992169" y="0"/>
                    </a:lnTo>
                    <a:close/>
                  </a:path>
                </a:pathLst>
              </a:custGeom>
              <a:solidFill>
                <a:srgbClr val="B0FF45"/>
              </a:solidFill>
            </p:spPr>
          </p:sp>
          <p:sp>
            <p:nvSpPr>
              <p:cNvPr name="TextBox 27" id="27"/>
              <p:cNvSpPr txBox="true"/>
              <p:nvPr/>
            </p:nvSpPr>
            <p:spPr>
              <a:xfrm>
                <a:off x="101600" y="-19050"/>
                <a:ext cx="992169" cy="323749"/>
              </a:xfrm>
              <a:prstGeom prst="rect">
                <a:avLst/>
              </a:prstGeom>
            </p:spPr>
            <p:txBody>
              <a:bodyPr anchor="ctr" rtlCol="false" tIns="57760" lIns="57760" bIns="57760" rIns="57760"/>
              <a:lstStyle/>
              <a:p>
                <a:pPr algn="ctr">
                  <a:lnSpc>
                    <a:spcPts val="1919"/>
                  </a:lnSpc>
                </a:pPr>
              </a:p>
            </p:txBody>
          </p:sp>
        </p:grpSp>
        <p:grpSp>
          <p:nvGrpSpPr>
            <p:cNvPr name="Group 28" id="28"/>
            <p:cNvGrpSpPr/>
            <p:nvPr/>
          </p:nvGrpSpPr>
          <p:grpSpPr>
            <a:xfrm rot="0">
              <a:off x="12628520" y="3818274"/>
              <a:ext cx="6980388" cy="1753893"/>
              <a:chOff x="0" y="0"/>
              <a:chExt cx="1212685" cy="304699"/>
            </a:xfrm>
          </p:grpSpPr>
          <p:sp>
            <p:nvSpPr>
              <p:cNvPr name="Freeform 29" id="29"/>
              <p:cNvSpPr/>
              <p:nvPr/>
            </p:nvSpPr>
            <p:spPr>
              <a:xfrm flipH="false" flipV="false" rot="0">
                <a:off x="0" y="0"/>
                <a:ext cx="1212685" cy="304699"/>
              </a:xfrm>
              <a:custGeom>
                <a:avLst/>
                <a:gdLst/>
                <a:ahLst/>
                <a:cxnLst/>
                <a:rect r="r" b="b" t="t" l="l"/>
                <a:pathLst>
                  <a:path h="304699" w="1212685">
                    <a:moveTo>
                      <a:pt x="203200" y="0"/>
                    </a:moveTo>
                    <a:lnTo>
                      <a:pt x="1212685" y="0"/>
                    </a:lnTo>
                    <a:lnTo>
                      <a:pt x="1009485" y="304699"/>
                    </a:lnTo>
                    <a:lnTo>
                      <a:pt x="0" y="304699"/>
                    </a:lnTo>
                    <a:lnTo>
                      <a:pt x="203200" y="0"/>
                    </a:lnTo>
                    <a:close/>
                  </a:path>
                </a:pathLst>
              </a:custGeom>
              <a:solidFill>
                <a:srgbClr val="B0FF45"/>
              </a:solidFill>
            </p:spPr>
          </p:sp>
          <p:sp>
            <p:nvSpPr>
              <p:cNvPr name="TextBox 30" id="30"/>
              <p:cNvSpPr txBox="true"/>
              <p:nvPr/>
            </p:nvSpPr>
            <p:spPr>
              <a:xfrm>
                <a:off x="101600" y="-19050"/>
                <a:ext cx="1009485" cy="323749"/>
              </a:xfrm>
              <a:prstGeom prst="rect">
                <a:avLst/>
              </a:prstGeom>
            </p:spPr>
            <p:txBody>
              <a:bodyPr anchor="ctr" rtlCol="false" tIns="57760" lIns="57760" bIns="57760" rIns="57760"/>
              <a:lstStyle/>
              <a:p>
                <a:pPr algn="ctr">
                  <a:lnSpc>
                    <a:spcPts val="1919"/>
                  </a:lnSpc>
                </a:pPr>
              </a:p>
            </p:txBody>
          </p:sp>
        </p:grpSp>
        <p:grpSp>
          <p:nvGrpSpPr>
            <p:cNvPr name="Group 31" id="31"/>
            <p:cNvGrpSpPr/>
            <p:nvPr/>
          </p:nvGrpSpPr>
          <p:grpSpPr>
            <a:xfrm rot="0">
              <a:off x="13957494" y="1909552"/>
              <a:ext cx="6980388" cy="1753893"/>
              <a:chOff x="0" y="0"/>
              <a:chExt cx="1212685" cy="304699"/>
            </a:xfrm>
          </p:grpSpPr>
          <p:sp>
            <p:nvSpPr>
              <p:cNvPr name="Freeform 32" id="32"/>
              <p:cNvSpPr/>
              <p:nvPr/>
            </p:nvSpPr>
            <p:spPr>
              <a:xfrm flipH="false" flipV="false" rot="0">
                <a:off x="0" y="0"/>
                <a:ext cx="1212685" cy="304699"/>
              </a:xfrm>
              <a:custGeom>
                <a:avLst/>
                <a:gdLst/>
                <a:ahLst/>
                <a:cxnLst/>
                <a:rect r="r" b="b" t="t" l="l"/>
                <a:pathLst>
                  <a:path h="304699" w="1212685">
                    <a:moveTo>
                      <a:pt x="203200" y="0"/>
                    </a:moveTo>
                    <a:lnTo>
                      <a:pt x="1212685" y="0"/>
                    </a:lnTo>
                    <a:lnTo>
                      <a:pt x="1009485" y="304699"/>
                    </a:lnTo>
                    <a:lnTo>
                      <a:pt x="0" y="304699"/>
                    </a:lnTo>
                    <a:lnTo>
                      <a:pt x="203200" y="0"/>
                    </a:lnTo>
                    <a:close/>
                  </a:path>
                </a:pathLst>
              </a:custGeom>
              <a:solidFill>
                <a:srgbClr val="B0FF45"/>
              </a:solidFill>
            </p:spPr>
          </p:sp>
          <p:sp>
            <p:nvSpPr>
              <p:cNvPr name="TextBox 33" id="33"/>
              <p:cNvSpPr txBox="true"/>
              <p:nvPr/>
            </p:nvSpPr>
            <p:spPr>
              <a:xfrm>
                <a:off x="101600" y="-19050"/>
                <a:ext cx="1009485" cy="323749"/>
              </a:xfrm>
              <a:prstGeom prst="rect">
                <a:avLst/>
              </a:prstGeom>
            </p:spPr>
            <p:txBody>
              <a:bodyPr anchor="ctr" rtlCol="false" tIns="57760" lIns="57760" bIns="57760" rIns="57760"/>
              <a:lstStyle/>
              <a:p>
                <a:pPr algn="ctr">
                  <a:lnSpc>
                    <a:spcPts val="1919"/>
                  </a:lnSpc>
                </a:pPr>
              </a:p>
            </p:txBody>
          </p:sp>
        </p:grpSp>
        <p:grpSp>
          <p:nvGrpSpPr>
            <p:cNvPr name="Group 34" id="34"/>
            <p:cNvGrpSpPr/>
            <p:nvPr/>
          </p:nvGrpSpPr>
          <p:grpSpPr>
            <a:xfrm rot="0">
              <a:off x="0" y="0"/>
              <a:ext cx="6880715" cy="1753893"/>
              <a:chOff x="0" y="0"/>
              <a:chExt cx="1195369" cy="304699"/>
            </a:xfrm>
          </p:grpSpPr>
          <p:sp>
            <p:nvSpPr>
              <p:cNvPr name="Freeform 35" id="35"/>
              <p:cNvSpPr/>
              <p:nvPr/>
            </p:nvSpPr>
            <p:spPr>
              <a:xfrm flipH="false" flipV="false" rot="0">
                <a:off x="0" y="0"/>
                <a:ext cx="1195369" cy="304699"/>
              </a:xfrm>
              <a:custGeom>
                <a:avLst/>
                <a:gdLst/>
                <a:ahLst/>
                <a:cxnLst/>
                <a:rect r="r" b="b" t="t" l="l"/>
                <a:pathLst>
                  <a:path h="304699" w="1195369">
                    <a:moveTo>
                      <a:pt x="992169" y="0"/>
                    </a:moveTo>
                    <a:lnTo>
                      <a:pt x="0" y="0"/>
                    </a:lnTo>
                    <a:lnTo>
                      <a:pt x="203200" y="304699"/>
                    </a:lnTo>
                    <a:lnTo>
                      <a:pt x="1195369" y="304699"/>
                    </a:lnTo>
                    <a:lnTo>
                      <a:pt x="992169" y="0"/>
                    </a:lnTo>
                    <a:close/>
                  </a:path>
                </a:pathLst>
              </a:custGeom>
              <a:solidFill>
                <a:srgbClr val="B0FF45"/>
              </a:solidFill>
            </p:spPr>
          </p:sp>
          <p:sp>
            <p:nvSpPr>
              <p:cNvPr name="TextBox 36" id="36"/>
              <p:cNvSpPr txBox="true"/>
              <p:nvPr/>
            </p:nvSpPr>
            <p:spPr>
              <a:xfrm>
                <a:off x="101600" y="-19050"/>
                <a:ext cx="992169" cy="323749"/>
              </a:xfrm>
              <a:prstGeom prst="rect">
                <a:avLst/>
              </a:prstGeom>
            </p:spPr>
            <p:txBody>
              <a:bodyPr anchor="ctr" rtlCol="false" tIns="57760" lIns="57760" bIns="57760" rIns="57760"/>
              <a:lstStyle/>
              <a:p>
                <a:pPr algn="ctr">
                  <a:lnSpc>
                    <a:spcPts val="1919"/>
                  </a:lnSpc>
                </a:pPr>
              </a:p>
            </p:txBody>
          </p:sp>
        </p:grpSp>
        <p:grpSp>
          <p:nvGrpSpPr>
            <p:cNvPr name="Group 37" id="37"/>
            <p:cNvGrpSpPr/>
            <p:nvPr/>
          </p:nvGrpSpPr>
          <p:grpSpPr>
            <a:xfrm rot="0">
              <a:off x="15254423" y="0"/>
              <a:ext cx="6863748" cy="1753893"/>
              <a:chOff x="0" y="0"/>
              <a:chExt cx="1192421" cy="304699"/>
            </a:xfrm>
          </p:grpSpPr>
          <p:sp>
            <p:nvSpPr>
              <p:cNvPr name="Freeform 38" id="38"/>
              <p:cNvSpPr/>
              <p:nvPr/>
            </p:nvSpPr>
            <p:spPr>
              <a:xfrm flipH="false" flipV="false" rot="0">
                <a:off x="0" y="0"/>
                <a:ext cx="1192421" cy="304699"/>
              </a:xfrm>
              <a:custGeom>
                <a:avLst/>
                <a:gdLst/>
                <a:ahLst/>
                <a:cxnLst/>
                <a:rect r="r" b="b" t="t" l="l"/>
                <a:pathLst>
                  <a:path h="304699" w="1192421">
                    <a:moveTo>
                      <a:pt x="203200" y="0"/>
                    </a:moveTo>
                    <a:lnTo>
                      <a:pt x="1192421" y="0"/>
                    </a:lnTo>
                    <a:lnTo>
                      <a:pt x="989221" y="304699"/>
                    </a:lnTo>
                    <a:lnTo>
                      <a:pt x="0" y="304699"/>
                    </a:lnTo>
                    <a:lnTo>
                      <a:pt x="203200" y="0"/>
                    </a:lnTo>
                    <a:close/>
                  </a:path>
                </a:pathLst>
              </a:custGeom>
              <a:solidFill>
                <a:srgbClr val="B0FF45"/>
              </a:solidFill>
            </p:spPr>
          </p:sp>
          <p:sp>
            <p:nvSpPr>
              <p:cNvPr name="TextBox 39" id="39"/>
              <p:cNvSpPr txBox="true"/>
              <p:nvPr/>
            </p:nvSpPr>
            <p:spPr>
              <a:xfrm>
                <a:off x="101600" y="-19050"/>
                <a:ext cx="989221" cy="323749"/>
              </a:xfrm>
              <a:prstGeom prst="rect">
                <a:avLst/>
              </a:prstGeom>
            </p:spPr>
            <p:txBody>
              <a:bodyPr anchor="ctr" rtlCol="false" tIns="57760" lIns="57760" bIns="57760" rIns="57760"/>
              <a:lstStyle/>
              <a:p>
                <a:pPr algn="ctr">
                  <a:lnSpc>
                    <a:spcPts val="1919"/>
                  </a:lnSpc>
                </a:pPr>
              </a:p>
            </p:txBody>
          </p:sp>
        </p:grpSp>
        <p:grpSp>
          <p:nvGrpSpPr>
            <p:cNvPr name="Group 40" id="40"/>
            <p:cNvGrpSpPr/>
            <p:nvPr/>
          </p:nvGrpSpPr>
          <p:grpSpPr>
            <a:xfrm rot="0">
              <a:off x="1425539" y="356673"/>
              <a:ext cx="3556566" cy="726864"/>
              <a:chOff x="0" y="0"/>
              <a:chExt cx="4205516" cy="859491"/>
            </a:xfrm>
          </p:grpSpPr>
          <p:sp>
            <p:nvSpPr>
              <p:cNvPr name="Freeform 41" id="41"/>
              <p:cNvSpPr/>
              <p:nvPr/>
            </p:nvSpPr>
            <p:spPr>
              <a:xfrm flipH="false" flipV="false" rot="0">
                <a:off x="0" y="0"/>
                <a:ext cx="4205520" cy="859495"/>
              </a:xfrm>
              <a:custGeom>
                <a:avLst/>
                <a:gdLst/>
                <a:ahLst/>
                <a:cxnLst/>
                <a:rect r="r" b="b" t="t" l="l"/>
                <a:pathLst>
                  <a:path h="859495" w="4205520">
                    <a:moveTo>
                      <a:pt x="0" y="0"/>
                    </a:moveTo>
                    <a:lnTo>
                      <a:pt x="4205520" y="0"/>
                    </a:lnTo>
                    <a:lnTo>
                      <a:pt x="4205520" y="859495"/>
                    </a:lnTo>
                    <a:lnTo>
                      <a:pt x="0" y="859495"/>
                    </a:lnTo>
                    <a:close/>
                  </a:path>
                </a:pathLst>
              </a:custGeom>
              <a:blipFill>
                <a:blip r:embed="rId3">
                  <a:alphaModFix amt="0"/>
                </a:blip>
                <a:stretch>
                  <a:fillRect l="0" t="-59235" r="0" b="-31445"/>
                </a:stretch>
              </a:blipFill>
            </p:spPr>
          </p:sp>
          <p:sp>
            <p:nvSpPr>
              <p:cNvPr name="TextBox 42" id="42"/>
              <p:cNvSpPr txBox="true"/>
              <p:nvPr/>
            </p:nvSpPr>
            <p:spPr>
              <a:xfrm>
                <a:off x="0" y="-57150"/>
                <a:ext cx="4205516" cy="916641"/>
              </a:xfrm>
              <a:prstGeom prst="rect">
                <a:avLst/>
              </a:prstGeom>
            </p:spPr>
            <p:txBody>
              <a:bodyPr anchor="ctr" rtlCol="false" tIns="0" lIns="0" bIns="0" rIns="0"/>
              <a:lstStyle/>
              <a:p>
                <a:pPr algn="r">
                  <a:lnSpc>
                    <a:spcPts val="3299"/>
                  </a:lnSpc>
                </a:pPr>
                <a:r>
                  <a:rPr lang="en-US" b="true" sz="2749">
                    <a:solidFill>
                      <a:srgbClr val="161718"/>
                    </a:solidFill>
                    <a:latin typeface="Calibri (MS) Bold"/>
                    <a:ea typeface="Calibri (MS) Bold"/>
                    <a:cs typeface="Calibri (MS) Bold"/>
                    <a:sym typeface="Calibri (MS) Bold"/>
                  </a:rPr>
                  <a:t>Requirements</a:t>
                </a:r>
              </a:p>
            </p:txBody>
          </p:sp>
        </p:grpSp>
        <p:grpSp>
          <p:nvGrpSpPr>
            <p:cNvPr name="Group 43" id="43"/>
            <p:cNvGrpSpPr/>
            <p:nvPr/>
          </p:nvGrpSpPr>
          <p:grpSpPr>
            <a:xfrm rot="0">
              <a:off x="1425539" y="806203"/>
              <a:ext cx="3556566" cy="608384"/>
              <a:chOff x="0" y="0"/>
              <a:chExt cx="4205516" cy="719393"/>
            </a:xfrm>
          </p:grpSpPr>
          <p:sp>
            <p:nvSpPr>
              <p:cNvPr name="Freeform 44" id="44"/>
              <p:cNvSpPr/>
              <p:nvPr/>
            </p:nvSpPr>
            <p:spPr>
              <a:xfrm flipH="false" flipV="false" rot="0">
                <a:off x="0" y="0"/>
                <a:ext cx="4205520" cy="719397"/>
              </a:xfrm>
              <a:custGeom>
                <a:avLst/>
                <a:gdLst/>
                <a:ahLst/>
                <a:cxnLst/>
                <a:rect r="r" b="b" t="t" l="l"/>
                <a:pathLst>
                  <a:path h="719397" w="4205520">
                    <a:moveTo>
                      <a:pt x="0" y="0"/>
                    </a:moveTo>
                    <a:lnTo>
                      <a:pt x="4205520" y="0"/>
                    </a:lnTo>
                    <a:lnTo>
                      <a:pt x="4205520" y="719397"/>
                    </a:lnTo>
                    <a:lnTo>
                      <a:pt x="0" y="719397"/>
                    </a:lnTo>
                    <a:close/>
                  </a:path>
                </a:pathLst>
              </a:custGeom>
              <a:blipFill>
                <a:blip r:embed="rId3">
                  <a:alphaModFix amt="0"/>
                </a:blip>
                <a:stretch>
                  <a:fillRect l="0" t="-78427" r="0" b="-49386"/>
                </a:stretch>
              </a:blipFill>
            </p:spPr>
          </p:sp>
          <p:sp>
            <p:nvSpPr>
              <p:cNvPr name="TextBox 45" id="45"/>
              <p:cNvSpPr txBox="true"/>
              <p:nvPr/>
            </p:nvSpPr>
            <p:spPr>
              <a:xfrm>
                <a:off x="0" y="-47625"/>
                <a:ext cx="4205516" cy="767018"/>
              </a:xfrm>
              <a:prstGeom prst="rect">
                <a:avLst/>
              </a:prstGeom>
            </p:spPr>
            <p:txBody>
              <a:bodyPr anchor="ctr" rtlCol="false" tIns="0" lIns="0" bIns="0" rIns="0"/>
              <a:lstStyle/>
              <a:p>
                <a:pPr algn="r">
                  <a:lnSpc>
                    <a:spcPts val="2759"/>
                  </a:lnSpc>
                </a:pPr>
                <a:r>
                  <a:rPr lang="en-US" sz="2299">
                    <a:solidFill>
                      <a:srgbClr val="622AD8"/>
                    </a:solidFill>
                    <a:latin typeface="Calibri (MS)"/>
                    <a:ea typeface="Calibri (MS)"/>
                    <a:cs typeface="Calibri (MS)"/>
                    <a:sym typeface="Calibri (MS)"/>
                  </a:rPr>
                  <a:t>SRS · Scope</a:t>
                </a:r>
              </a:p>
            </p:txBody>
          </p:sp>
        </p:grpSp>
        <p:grpSp>
          <p:nvGrpSpPr>
            <p:cNvPr name="Group 46" id="46"/>
            <p:cNvGrpSpPr/>
            <p:nvPr/>
          </p:nvGrpSpPr>
          <p:grpSpPr>
            <a:xfrm rot="0">
              <a:off x="6761767" y="8081453"/>
              <a:ext cx="8594636" cy="1165103"/>
              <a:chOff x="0" y="0"/>
              <a:chExt cx="8594636" cy="1165103"/>
            </a:xfrm>
          </p:grpSpPr>
          <p:sp>
            <p:nvSpPr>
              <p:cNvPr name="Freeform 47" id="47"/>
              <p:cNvSpPr/>
              <p:nvPr/>
            </p:nvSpPr>
            <p:spPr>
              <a:xfrm flipH="false" flipV="false" rot="0">
                <a:off x="0" y="0"/>
                <a:ext cx="8594640" cy="1165106"/>
              </a:xfrm>
              <a:custGeom>
                <a:avLst/>
                <a:gdLst/>
                <a:ahLst/>
                <a:cxnLst/>
                <a:rect r="r" b="b" t="t" l="l"/>
                <a:pathLst>
                  <a:path h="1165106" w="8594640">
                    <a:moveTo>
                      <a:pt x="0" y="0"/>
                    </a:moveTo>
                    <a:lnTo>
                      <a:pt x="8594640" y="0"/>
                    </a:lnTo>
                    <a:lnTo>
                      <a:pt x="8594640" y="1165106"/>
                    </a:lnTo>
                    <a:lnTo>
                      <a:pt x="0" y="1165106"/>
                    </a:lnTo>
                    <a:close/>
                  </a:path>
                </a:pathLst>
              </a:custGeom>
              <a:blipFill>
                <a:blip r:embed="rId3">
                  <a:alphaModFix amt="0"/>
                </a:blip>
                <a:stretch>
                  <a:fillRect l="0" t="-90435" r="0" b="-97034"/>
                </a:stretch>
              </a:blipFill>
            </p:spPr>
          </p:sp>
          <p:sp>
            <p:nvSpPr>
              <p:cNvPr name="TextBox 48" id="48"/>
              <p:cNvSpPr txBox="true"/>
              <p:nvPr/>
            </p:nvSpPr>
            <p:spPr>
              <a:xfrm>
                <a:off x="0" y="-57150"/>
                <a:ext cx="8594636" cy="1222253"/>
              </a:xfrm>
              <a:prstGeom prst="rect">
                <a:avLst/>
              </a:prstGeom>
            </p:spPr>
            <p:txBody>
              <a:bodyPr anchor="ctr" rtlCol="false" tIns="0" lIns="0" bIns="0" rIns="0"/>
              <a:lstStyle/>
              <a:p>
                <a:pPr algn="ctr">
                  <a:lnSpc>
                    <a:spcPts val="3239"/>
                  </a:lnSpc>
                </a:pPr>
                <a:r>
                  <a:rPr lang="en-US" sz="2699" b="true">
                    <a:solidFill>
                      <a:srgbClr val="0B1F33"/>
                    </a:solidFill>
                    <a:latin typeface="Calibri (MS) Bold"/>
                    <a:ea typeface="Calibri (MS) Bold"/>
                    <a:cs typeface="Calibri (MS) Bold"/>
                    <a:sym typeface="Calibri (MS) Bold"/>
                  </a:rPr>
                  <a:t>Coding &amp; Unit Tests — the V's vertex</a:t>
                </a:r>
              </a:p>
            </p:txBody>
          </p:sp>
        </p:grpSp>
        <p:grpSp>
          <p:nvGrpSpPr>
            <p:cNvPr name="Group 49" id="49"/>
            <p:cNvGrpSpPr/>
            <p:nvPr/>
          </p:nvGrpSpPr>
          <p:grpSpPr>
            <a:xfrm rot="0">
              <a:off x="2307968" y="2145127"/>
              <a:ext cx="4205516" cy="675617"/>
              <a:chOff x="0" y="0"/>
              <a:chExt cx="4205516" cy="675617"/>
            </a:xfrm>
          </p:grpSpPr>
          <p:sp>
            <p:nvSpPr>
              <p:cNvPr name="Freeform 50" id="50"/>
              <p:cNvSpPr/>
              <p:nvPr/>
            </p:nvSpPr>
            <p:spPr>
              <a:xfrm flipH="false" flipV="false" rot="0">
                <a:off x="0" y="0"/>
                <a:ext cx="4205520" cy="675620"/>
              </a:xfrm>
              <a:custGeom>
                <a:avLst/>
                <a:gdLst/>
                <a:ahLst/>
                <a:cxnLst/>
                <a:rect r="r" b="b" t="t" l="l"/>
                <a:pathLst>
                  <a:path h="675620" w="4205520">
                    <a:moveTo>
                      <a:pt x="0" y="0"/>
                    </a:moveTo>
                    <a:lnTo>
                      <a:pt x="4205520" y="0"/>
                    </a:lnTo>
                    <a:lnTo>
                      <a:pt x="4205520" y="675620"/>
                    </a:lnTo>
                    <a:lnTo>
                      <a:pt x="0" y="675620"/>
                    </a:lnTo>
                    <a:close/>
                  </a:path>
                </a:pathLst>
              </a:custGeom>
              <a:blipFill>
                <a:blip r:embed="rId3">
                  <a:alphaModFix amt="0"/>
                </a:blip>
                <a:stretch>
                  <a:fillRect l="0" t="-75357" r="0" b="-67218"/>
                </a:stretch>
              </a:blipFill>
            </p:spPr>
          </p:sp>
          <p:sp>
            <p:nvSpPr>
              <p:cNvPr name="TextBox 51" id="51"/>
              <p:cNvSpPr txBox="true"/>
              <p:nvPr/>
            </p:nvSpPr>
            <p:spPr>
              <a:xfrm>
                <a:off x="0" y="-47625"/>
                <a:ext cx="4205516" cy="723242"/>
              </a:xfrm>
              <a:prstGeom prst="rect">
                <a:avLst/>
              </a:prstGeom>
            </p:spPr>
            <p:txBody>
              <a:bodyPr anchor="ctr" rtlCol="false" tIns="0" lIns="0" bIns="0" rIns="0"/>
              <a:lstStyle/>
              <a:p>
                <a:pPr algn="r">
                  <a:lnSpc>
                    <a:spcPts val="3059"/>
                  </a:lnSpc>
                </a:pPr>
                <a:r>
                  <a:rPr lang="en-US" b="true" sz="2549">
                    <a:solidFill>
                      <a:srgbClr val="161718"/>
                    </a:solidFill>
                    <a:latin typeface="Calibri (MS) Bold"/>
                    <a:ea typeface="Calibri (MS) Bold"/>
                    <a:cs typeface="Calibri (MS) Bold"/>
                    <a:sym typeface="Calibri (MS) Bold"/>
                  </a:rPr>
                  <a:t>System Specs</a:t>
                </a:r>
              </a:p>
            </p:txBody>
          </p:sp>
        </p:grpSp>
        <p:grpSp>
          <p:nvGrpSpPr>
            <p:cNvPr name="Group 52" id="52"/>
            <p:cNvGrpSpPr/>
            <p:nvPr/>
          </p:nvGrpSpPr>
          <p:grpSpPr>
            <a:xfrm rot="0">
              <a:off x="2307968" y="2676681"/>
              <a:ext cx="4205516" cy="557137"/>
              <a:chOff x="0" y="0"/>
              <a:chExt cx="4205516" cy="557137"/>
            </a:xfrm>
          </p:grpSpPr>
          <p:sp>
            <p:nvSpPr>
              <p:cNvPr name="Freeform 53" id="53"/>
              <p:cNvSpPr/>
              <p:nvPr/>
            </p:nvSpPr>
            <p:spPr>
              <a:xfrm flipH="false" flipV="false" rot="0">
                <a:off x="0" y="0"/>
                <a:ext cx="4205520" cy="557141"/>
              </a:xfrm>
              <a:custGeom>
                <a:avLst/>
                <a:gdLst/>
                <a:ahLst/>
                <a:cxnLst/>
                <a:rect r="r" b="b" t="t" l="l"/>
                <a:pathLst>
                  <a:path h="557141" w="4205520">
                    <a:moveTo>
                      <a:pt x="0" y="0"/>
                    </a:moveTo>
                    <a:lnTo>
                      <a:pt x="4205520" y="0"/>
                    </a:lnTo>
                    <a:lnTo>
                      <a:pt x="4205520" y="557141"/>
                    </a:lnTo>
                    <a:lnTo>
                      <a:pt x="0" y="557141"/>
                    </a:lnTo>
                    <a:close/>
                  </a:path>
                </a:pathLst>
              </a:custGeom>
              <a:blipFill>
                <a:blip r:embed="rId3">
                  <a:alphaModFix amt="0"/>
                </a:blip>
                <a:stretch>
                  <a:fillRect l="0" t="-101268" r="0" b="-92892"/>
                </a:stretch>
              </a:blipFill>
            </p:spPr>
          </p:sp>
          <p:sp>
            <p:nvSpPr>
              <p:cNvPr name="TextBox 54" id="54"/>
              <p:cNvSpPr txBox="true"/>
              <p:nvPr/>
            </p:nvSpPr>
            <p:spPr>
              <a:xfrm>
                <a:off x="0" y="-47625"/>
                <a:ext cx="4205516" cy="604762"/>
              </a:xfrm>
              <a:prstGeom prst="rect">
                <a:avLst/>
              </a:prstGeom>
            </p:spPr>
            <p:txBody>
              <a:bodyPr anchor="ctr" rtlCol="false" tIns="0" lIns="0" bIns="0" rIns="0"/>
              <a:lstStyle/>
              <a:p>
                <a:pPr algn="r">
                  <a:lnSpc>
                    <a:spcPts val="2519"/>
                  </a:lnSpc>
                </a:pPr>
                <a:r>
                  <a:rPr lang="en-US" sz="2099">
                    <a:solidFill>
                      <a:srgbClr val="622AD8"/>
                    </a:solidFill>
                    <a:latin typeface="Calibri (MS)"/>
                    <a:ea typeface="Calibri (MS)"/>
                    <a:cs typeface="Calibri (MS)"/>
                    <a:sym typeface="Calibri (MS)"/>
                  </a:rPr>
                  <a:t>Hardware &amp; Protocol HLD</a:t>
                </a:r>
              </a:p>
            </p:txBody>
          </p:sp>
        </p:grpSp>
        <p:grpSp>
          <p:nvGrpSpPr>
            <p:cNvPr name="Group 55" id="55"/>
            <p:cNvGrpSpPr/>
            <p:nvPr/>
          </p:nvGrpSpPr>
          <p:grpSpPr>
            <a:xfrm rot="0">
              <a:off x="3850279" y="4208613"/>
              <a:ext cx="4205516" cy="675617"/>
              <a:chOff x="0" y="0"/>
              <a:chExt cx="4205516" cy="675617"/>
            </a:xfrm>
          </p:grpSpPr>
          <p:sp>
            <p:nvSpPr>
              <p:cNvPr name="Freeform 56" id="56"/>
              <p:cNvSpPr/>
              <p:nvPr/>
            </p:nvSpPr>
            <p:spPr>
              <a:xfrm flipH="false" flipV="false" rot="0">
                <a:off x="0" y="0"/>
                <a:ext cx="4205520" cy="675620"/>
              </a:xfrm>
              <a:custGeom>
                <a:avLst/>
                <a:gdLst/>
                <a:ahLst/>
                <a:cxnLst/>
                <a:rect r="r" b="b" t="t" l="l"/>
                <a:pathLst>
                  <a:path h="675620" w="4205520">
                    <a:moveTo>
                      <a:pt x="0" y="0"/>
                    </a:moveTo>
                    <a:lnTo>
                      <a:pt x="4205520" y="0"/>
                    </a:lnTo>
                    <a:lnTo>
                      <a:pt x="4205520" y="675620"/>
                    </a:lnTo>
                    <a:lnTo>
                      <a:pt x="0" y="675620"/>
                    </a:lnTo>
                    <a:close/>
                  </a:path>
                </a:pathLst>
              </a:custGeom>
              <a:blipFill>
                <a:blip r:embed="rId3">
                  <a:alphaModFix amt="0"/>
                </a:blip>
                <a:stretch>
                  <a:fillRect l="0" t="-75357" r="0" b="-67218"/>
                </a:stretch>
              </a:blipFill>
            </p:spPr>
          </p:sp>
          <p:sp>
            <p:nvSpPr>
              <p:cNvPr name="TextBox 57" id="57"/>
              <p:cNvSpPr txBox="true"/>
              <p:nvPr/>
            </p:nvSpPr>
            <p:spPr>
              <a:xfrm>
                <a:off x="0" y="-47625"/>
                <a:ext cx="4205516" cy="723242"/>
              </a:xfrm>
              <a:prstGeom prst="rect">
                <a:avLst/>
              </a:prstGeom>
            </p:spPr>
            <p:txBody>
              <a:bodyPr anchor="ctr" rtlCol="false" tIns="0" lIns="0" bIns="0" rIns="0"/>
              <a:lstStyle/>
              <a:p>
                <a:pPr algn="r">
                  <a:lnSpc>
                    <a:spcPts val="3059"/>
                  </a:lnSpc>
                </a:pPr>
                <a:r>
                  <a:rPr lang="en-US" b="true" sz="2549">
                    <a:solidFill>
                      <a:srgbClr val="161718"/>
                    </a:solidFill>
                    <a:latin typeface="Calibri (MS) Bold"/>
                    <a:ea typeface="Calibri (MS) Bold"/>
                    <a:cs typeface="Calibri (MS) Bold"/>
                    <a:sym typeface="Calibri (MS) Bold"/>
                  </a:rPr>
                  <a:t>Subsystem Design</a:t>
                </a:r>
              </a:p>
            </p:txBody>
          </p:sp>
        </p:grpSp>
        <p:grpSp>
          <p:nvGrpSpPr>
            <p:cNvPr name="Group 58" id="58"/>
            <p:cNvGrpSpPr/>
            <p:nvPr/>
          </p:nvGrpSpPr>
          <p:grpSpPr>
            <a:xfrm rot="0">
              <a:off x="3850279" y="4740166"/>
              <a:ext cx="4205516" cy="557137"/>
              <a:chOff x="0" y="0"/>
              <a:chExt cx="4205516" cy="557137"/>
            </a:xfrm>
          </p:grpSpPr>
          <p:sp>
            <p:nvSpPr>
              <p:cNvPr name="Freeform 59" id="59"/>
              <p:cNvSpPr/>
              <p:nvPr/>
            </p:nvSpPr>
            <p:spPr>
              <a:xfrm flipH="false" flipV="false" rot="0">
                <a:off x="0" y="0"/>
                <a:ext cx="4205520" cy="557141"/>
              </a:xfrm>
              <a:custGeom>
                <a:avLst/>
                <a:gdLst/>
                <a:ahLst/>
                <a:cxnLst/>
                <a:rect r="r" b="b" t="t" l="l"/>
                <a:pathLst>
                  <a:path h="557141" w="4205520">
                    <a:moveTo>
                      <a:pt x="0" y="0"/>
                    </a:moveTo>
                    <a:lnTo>
                      <a:pt x="4205520" y="0"/>
                    </a:lnTo>
                    <a:lnTo>
                      <a:pt x="4205520" y="557141"/>
                    </a:lnTo>
                    <a:lnTo>
                      <a:pt x="0" y="557141"/>
                    </a:lnTo>
                    <a:close/>
                  </a:path>
                </a:pathLst>
              </a:custGeom>
              <a:blipFill>
                <a:blip r:embed="rId3">
                  <a:alphaModFix amt="0"/>
                </a:blip>
                <a:stretch>
                  <a:fillRect l="0" t="-101268" r="0" b="-92892"/>
                </a:stretch>
              </a:blipFill>
            </p:spPr>
          </p:sp>
          <p:sp>
            <p:nvSpPr>
              <p:cNvPr name="TextBox 60" id="60"/>
              <p:cNvSpPr txBox="true"/>
              <p:nvPr/>
            </p:nvSpPr>
            <p:spPr>
              <a:xfrm>
                <a:off x="0" y="-47625"/>
                <a:ext cx="4205516" cy="604762"/>
              </a:xfrm>
              <a:prstGeom prst="rect">
                <a:avLst/>
              </a:prstGeom>
            </p:spPr>
            <p:txBody>
              <a:bodyPr anchor="ctr" rtlCol="false" tIns="0" lIns="0" bIns="0" rIns="0"/>
              <a:lstStyle/>
              <a:p>
                <a:pPr algn="r">
                  <a:lnSpc>
                    <a:spcPts val="2519"/>
                  </a:lnSpc>
                </a:pPr>
                <a:r>
                  <a:rPr lang="en-US" sz="2099">
                    <a:solidFill>
                      <a:srgbClr val="622AD8"/>
                    </a:solidFill>
                    <a:latin typeface="Calibri (MS)"/>
                    <a:ea typeface="Calibri (MS)"/>
                    <a:cs typeface="Calibri (MS)"/>
                    <a:sym typeface="Calibri (MS)"/>
                  </a:rPr>
                  <a:t>6 Modules · LLD</a:t>
                </a:r>
              </a:p>
            </p:txBody>
          </p:sp>
        </p:grpSp>
        <p:grpSp>
          <p:nvGrpSpPr>
            <p:cNvPr name="Group 61" id="61"/>
            <p:cNvGrpSpPr/>
            <p:nvPr/>
          </p:nvGrpSpPr>
          <p:grpSpPr>
            <a:xfrm rot="0">
              <a:off x="4982104" y="6160029"/>
              <a:ext cx="4205516" cy="656344"/>
              <a:chOff x="0" y="0"/>
              <a:chExt cx="4205516" cy="656344"/>
            </a:xfrm>
          </p:grpSpPr>
          <p:sp>
            <p:nvSpPr>
              <p:cNvPr name="Freeform 62" id="62"/>
              <p:cNvSpPr/>
              <p:nvPr/>
            </p:nvSpPr>
            <p:spPr>
              <a:xfrm flipH="false" flipV="false" rot="0">
                <a:off x="0" y="0"/>
                <a:ext cx="4205520" cy="656347"/>
              </a:xfrm>
              <a:custGeom>
                <a:avLst/>
                <a:gdLst/>
                <a:ahLst/>
                <a:cxnLst/>
                <a:rect r="r" b="b" t="t" l="l"/>
                <a:pathLst>
                  <a:path h="656347" w="4205520">
                    <a:moveTo>
                      <a:pt x="0" y="0"/>
                    </a:moveTo>
                    <a:lnTo>
                      <a:pt x="4205520" y="0"/>
                    </a:lnTo>
                    <a:lnTo>
                      <a:pt x="4205520" y="656347"/>
                    </a:lnTo>
                    <a:lnTo>
                      <a:pt x="0" y="656347"/>
                    </a:lnTo>
                    <a:close/>
                  </a:path>
                </a:pathLst>
              </a:custGeom>
              <a:blipFill>
                <a:blip r:embed="rId3">
                  <a:alphaModFix amt="0"/>
                </a:blip>
                <a:stretch>
                  <a:fillRect l="0" t="-77569" r="0" b="-72129"/>
                </a:stretch>
              </a:blipFill>
            </p:spPr>
          </p:sp>
          <p:sp>
            <p:nvSpPr>
              <p:cNvPr name="TextBox 63" id="63"/>
              <p:cNvSpPr txBox="true"/>
              <p:nvPr/>
            </p:nvSpPr>
            <p:spPr>
              <a:xfrm>
                <a:off x="0" y="-47625"/>
                <a:ext cx="4205516" cy="703969"/>
              </a:xfrm>
              <a:prstGeom prst="rect">
                <a:avLst/>
              </a:prstGeom>
            </p:spPr>
            <p:txBody>
              <a:bodyPr anchor="ctr" rtlCol="false" tIns="0" lIns="0" bIns="0" rIns="0"/>
              <a:lstStyle/>
              <a:p>
                <a:pPr algn="r">
                  <a:lnSpc>
                    <a:spcPts val="2939"/>
                  </a:lnSpc>
                </a:pPr>
                <a:r>
                  <a:rPr lang="en-US" b="true" sz="2449">
                    <a:solidFill>
                      <a:srgbClr val="000000"/>
                    </a:solidFill>
                    <a:latin typeface="Calibri (MS) Bold"/>
                    <a:ea typeface="Calibri (MS) Bold"/>
                    <a:cs typeface="Calibri (MS) Bold"/>
                    <a:sym typeface="Calibri (MS) Bold"/>
                  </a:rPr>
                  <a:t>Implementation</a:t>
                </a:r>
              </a:p>
            </p:txBody>
          </p:sp>
        </p:grpSp>
        <p:grpSp>
          <p:nvGrpSpPr>
            <p:cNvPr name="Group 64" id="64"/>
            <p:cNvGrpSpPr/>
            <p:nvPr/>
          </p:nvGrpSpPr>
          <p:grpSpPr>
            <a:xfrm rot="0">
              <a:off x="4982104" y="6691582"/>
              <a:ext cx="4205516" cy="525164"/>
              <a:chOff x="0" y="0"/>
              <a:chExt cx="4205516" cy="525164"/>
            </a:xfrm>
          </p:grpSpPr>
          <p:sp>
            <p:nvSpPr>
              <p:cNvPr name="Freeform 65" id="65"/>
              <p:cNvSpPr/>
              <p:nvPr/>
            </p:nvSpPr>
            <p:spPr>
              <a:xfrm flipH="false" flipV="false" rot="0">
                <a:off x="0" y="0"/>
                <a:ext cx="4205520" cy="525168"/>
              </a:xfrm>
              <a:custGeom>
                <a:avLst/>
                <a:gdLst/>
                <a:ahLst/>
                <a:cxnLst/>
                <a:rect r="r" b="b" t="t" l="l"/>
                <a:pathLst>
                  <a:path h="525168" w="4205520">
                    <a:moveTo>
                      <a:pt x="0" y="0"/>
                    </a:moveTo>
                    <a:lnTo>
                      <a:pt x="4205520" y="0"/>
                    </a:lnTo>
                    <a:lnTo>
                      <a:pt x="4205520" y="525168"/>
                    </a:lnTo>
                    <a:lnTo>
                      <a:pt x="0" y="525168"/>
                    </a:lnTo>
                    <a:close/>
                  </a:path>
                </a:pathLst>
              </a:custGeom>
              <a:blipFill>
                <a:blip r:embed="rId3">
                  <a:alphaModFix amt="0"/>
                </a:blip>
                <a:stretch>
                  <a:fillRect l="0" t="-107433" r="0" b="-104636"/>
                </a:stretch>
              </a:blipFill>
            </p:spPr>
          </p:sp>
          <p:sp>
            <p:nvSpPr>
              <p:cNvPr name="TextBox 66" id="66"/>
              <p:cNvSpPr txBox="true"/>
              <p:nvPr/>
            </p:nvSpPr>
            <p:spPr>
              <a:xfrm>
                <a:off x="0" y="-47625"/>
                <a:ext cx="4205516" cy="572789"/>
              </a:xfrm>
              <a:prstGeom prst="rect">
                <a:avLst/>
              </a:prstGeom>
            </p:spPr>
            <p:txBody>
              <a:bodyPr anchor="ctr" rtlCol="false" tIns="0" lIns="0" bIns="0" rIns="0"/>
              <a:lstStyle/>
              <a:p>
                <a:pPr algn="r">
                  <a:lnSpc>
                    <a:spcPts val="2399"/>
                  </a:lnSpc>
                </a:pPr>
                <a:r>
                  <a:rPr lang="en-US" sz="1999">
                    <a:solidFill>
                      <a:srgbClr val="622AD8"/>
                    </a:solidFill>
                    <a:latin typeface="Calibri (MS)"/>
                    <a:ea typeface="Calibri (MS)"/>
                    <a:cs typeface="Calibri (MS)"/>
                    <a:sym typeface="Calibri (MS)"/>
                  </a:rPr>
                  <a:t>Code · Algorithms</a:t>
                </a:r>
              </a:p>
            </p:txBody>
          </p:sp>
        </p:grpSp>
        <p:grpSp>
          <p:nvGrpSpPr>
            <p:cNvPr name="Group 67" id="67"/>
            <p:cNvGrpSpPr/>
            <p:nvPr/>
          </p:nvGrpSpPr>
          <p:grpSpPr>
            <a:xfrm rot="0">
              <a:off x="12885183" y="6017274"/>
              <a:ext cx="4205516" cy="582214"/>
              <a:chOff x="0" y="0"/>
              <a:chExt cx="4205516" cy="582214"/>
            </a:xfrm>
          </p:grpSpPr>
          <p:sp>
            <p:nvSpPr>
              <p:cNvPr name="Freeform 68" id="68"/>
              <p:cNvSpPr/>
              <p:nvPr/>
            </p:nvSpPr>
            <p:spPr>
              <a:xfrm flipH="false" flipV="false" rot="0">
                <a:off x="0" y="0"/>
                <a:ext cx="4205520" cy="582217"/>
              </a:xfrm>
              <a:custGeom>
                <a:avLst/>
                <a:gdLst/>
                <a:ahLst/>
                <a:cxnLst/>
                <a:rect r="r" b="b" t="t" l="l"/>
                <a:pathLst>
                  <a:path h="582217" w="4205520">
                    <a:moveTo>
                      <a:pt x="0" y="0"/>
                    </a:moveTo>
                    <a:lnTo>
                      <a:pt x="4205520" y="0"/>
                    </a:lnTo>
                    <a:lnTo>
                      <a:pt x="4205520" y="582217"/>
                    </a:lnTo>
                    <a:lnTo>
                      <a:pt x="0" y="582217"/>
                    </a:lnTo>
                    <a:close/>
                  </a:path>
                </a:pathLst>
              </a:custGeom>
              <a:blipFill>
                <a:blip r:embed="rId3">
                  <a:alphaModFix amt="0"/>
                </a:blip>
                <a:stretch>
                  <a:fillRect l="0" t="-87446" r="0" b="-94045"/>
                </a:stretch>
              </a:blipFill>
            </p:spPr>
          </p:sp>
          <p:sp>
            <p:nvSpPr>
              <p:cNvPr name="TextBox 69" id="69"/>
              <p:cNvSpPr txBox="true"/>
              <p:nvPr/>
            </p:nvSpPr>
            <p:spPr>
              <a:xfrm>
                <a:off x="0" y="-47625"/>
                <a:ext cx="4205516" cy="629839"/>
              </a:xfrm>
              <a:prstGeom prst="rect">
                <a:avLst/>
              </a:prstGeom>
            </p:spPr>
            <p:txBody>
              <a:bodyPr anchor="ctr" rtlCol="false" tIns="0" lIns="0" bIns="0" rIns="0"/>
              <a:lstStyle/>
              <a:p>
                <a:pPr algn="l">
                  <a:lnSpc>
                    <a:spcPts val="2609"/>
                  </a:lnSpc>
                </a:pPr>
                <a:r>
                  <a:rPr lang="en-US" b="true" sz="2174">
                    <a:solidFill>
                      <a:srgbClr val="000000"/>
                    </a:solidFill>
                    <a:latin typeface="Calibri (MS) Bold"/>
                    <a:ea typeface="Calibri (MS) Bold"/>
                    <a:cs typeface="Calibri (MS) Bold"/>
                    <a:sym typeface="Calibri (MS) Bold"/>
                  </a:rPr>
                  <a:t>Unit Verification &amp; UDS</a:t>
                </a:r>
              </a:p>
            </p:txBody>
          </p:sp>
        </p:grpSp>
        <p:grpSp>
          <p:nvGrpSpPr>
            <p:cNvPr name="Group 70" id="70"/>
            <p:cNvGrpSpPr/>
            <p:nvPr/>
          </p:nvGrpSpPr>
          <p:grpSpPr>
            <a:xfrm rot="0">
              <a:off x="12885183" y="6548827"/>
              <a:ext cx="4205516" cy="829518"/>
              <a:chOff x="0" y="0"/>
              <a:chExt cx="4205516" cy="829518"/>
            </a:xfrm>
          </p:grpSpPr>
          <p:sp>
            <p:nvSpPr>
              <p:cNvPr name="Freeform 71" id="71"/>
              <p:cNvSpPr/>
              <p:nvPr/>
            </p:nvSpPr>
            <p:spPr>
              <a:xfrm flipH="false" flipV="false" rot="0">
                <a:off x="0" y="0"/>
                <a:ext cx="4205520" cy="829521"/>
              </a:xfrm>
              <a:custGeom>
                <a:avLst/>
                <a:gdLst/>
                <a:ahLst/>
                <a:cxnLst/>
                <a:rect r="r" b="b" t="t" l="l"/>
                <a:pathLst>
                  <a:path h="829521" w="4205520">
                    <a:moveTo>
                      <a:pt x="0" y="0"/>
                    </a:moveTo>
                    <a:lnTo>
                      <a:pt x="4205520" y="0"/>
                    </a:lnTo>
                    <a:lnTo>
                      <a:pt x="4205520" y="829521"/>
                    </a:lnTo>
                    <a:lnTo>
                      <a:pt x="0" y="829521"/>
                    </a:lnTo>
                    <a:close/>
                  </a:path>
                </a:pathLst>
              </a:custGeom>
              <a:blipFill>
                <a:blip r:embed="rId3">
                  <a:alphaModFix amt="0"/>
                </a:blip>
                <a:stretch>
                  <a:fillRect l="0" t="-68016" r="0" b="-29554"/>
                </a:stretch>
              </a:blipFill>
            </p:spPr>
          </p:sp>
          <p:sp>
            <p:nvSpPr>
              <p:cNvPr name="TextBox 72" id="72"/>
              <p:cNvSpPr txBox="true"/>
              <p:nvPr/>
            </p:nvSpPr>
            <p:spPr>
              <a:xfrm>
                <a:off x="0" y="-38100"/>
                <a:ext cx="4205516" cy="867618"/>
              </a:xfrm>
              <a:prstGeom prst="rect">
                <a:avLst/>
              </a:prstGeom>
            </p:spPr>
            <p:txBody>
              <a:bodyPr anchor="ctr" rtlCol="false" tIns="0" lIns="0" bIns="0" rIns="0"/>
              <a:lstStyle/>
              <a:p>
                <a:pPr algn="l">
                  <a:lnSpc>
                    <a:spcPts val="2159"/>
                  </a:lnSpc>
                </a:pPr>
                <a:r>
                  <a:rPr lang="en-US" sz="1799">
                    <a:solidFill>
                      <a:srgbClr val="622AD8"/>
                    </a:solidFill>
                    <a:latin typeface="Calibri (MS)"/>
                    <a:ea typeface="Calibri (MS)"/>
                    <a:cs typeface="Calibri (MS)"/>
                    <a:sym typeface="Calibri (MS)"/>
                  </a:rPr>
                  <a:t>UDS implementation and responses</a:t>
                </a:r>
              </a:p>
            </p:txBody>
          </p:sp>
        </p:grpSp>
        <p:grpSp>
          <p:nvGrpSpPr>
            <p:cNvPr name="Group 73" id="73"/>
            <p:cNvGrpSpPr/>
            <p:nvPr/>
          </p:nvGrpSpPr>
          <p:grpSpPr>
            <a:xfrm rot="0">
              <a:off x="14060914" y="3986968"/>
              <a:ext cx="4530158" cy="855431"/>
              <a:chOff x="0" y="0"/>
              <a:chExt cx="4530158" cy="855431"/>
            </a:xfrm>
          </p:grpSpPr>
          <p:sp>
            <p:nvSpPr>
              <p:cNvPr name="Freeform 74" id="74"/>
              <p:cNvSpPr/>
              <p:nvPr/>
            </p:nvSpPr>
            <p:spPr>
              <a:xfrm flipH="false" flipV="false" rot="0">
                <a:off x="0" y="0"/>
                <a:ext cx="4530162" cy="855434"/>
              </a:xfrm>
              <a:custGeom>
                <a:avLst/>
                <a:gdLst/>
                <a:ahLst/>
                <a:cxnLst/>
                <a:rect r="r" b="b" t="t" l="l"/>
                <a:pathLst>
                  <a:path h="855434" w="4530162">
                    <a:moveTo>
                      <a:pt x="0" y="0"/>
                    </a:moveTo>
                    <a:lnTo>
                      <a:pt x="4530162" y="0"/>
                    </a:lnTo>
                    <a:lnTo>
                      <a:pt x="4530162" y="855434"/>
                    </a:lnTo>
                    <a:lnTo>
                      <a:pt x="0" y="855434"/>
                    </a:lnTo>
                    <a:close/>
                  </a:path>
                </a:pathLst>
              </a:custGeom>
              <a:blipFill>
                <a:blip r:embed="rId3">
                  <a:alphaModFix amt="0"/>
                </a:blip>
                <a:stretch>
                  <a:fillRect l="0" t="-59516" r="7166" b="-32069"/>
                </a:stretch>
              </a:blipFill>
            </p:spPr>
          </p:sp>
          <p:sp>
            <p:nvSpPr>
              <p:cNvPr name="TextBox 75" id="75"/>
              <p:cNvSpPr txBox="true"/>
              <p:nvPr/>
            </p:nvSpPr>
            <p:spPr>
              <a:xfrm>
                <a:off x="0" y="-47625"/>
                <a:ext cx="4530158" cy="903056"/>
              </a:xfrm>
              <a:prstGeom prst="rect">
                <a:avLst/>
              </a:prstGeom>
            </p:spPr>
            <p:txBody>
              <a:bodyPr anchor="ctr" rtlCol="false" tIns="0" lIns="0" bIns="0" rIns="0"/>
              <a:lstStyle/>
              <a:p>
                <a:pPr algn="l">
                  <a:lnSpc>
                    <a:spcPts val="2729"/>
                  </a:lnSpc>
                </a:pPr>
                <a:r>
                  <a:rPr lang="en-US" b="true" sz="2274">
                    <a:solidFill>
                      <a:srgbClr val="000000"/>
                    </a:solidFill>
                    <a:latin typeface="Calibri (MS) Bold"/>
                    <a:ea typeface="Calibri (MS) Bold"/>
                    <a:cs typeface="Calibri (MS) Bold"/>
                    <a:sym typeface="Calibri (MS) Bold"/>
                  </a:rPr>
                  <a:t>Subsystem Integration Test</a:t>
                </a:r>
              </a:p>
            </p:txBody>
          </p:sp>
        </p:grpSp>
        <p:grpSp>
          <p:nvGrpSpPr>
            <p:cNvPr name="Group 76" id="76"/>
            <p:cNvGrpSpPr/>
            <p:nvPr/>
          </p:nvGrpSpPr>
          <p:grpSpPr>
            <a:xfrm rot="0">
              <a:off x="14060914" y="4564730"/>
              <a:ext cx="4530158" cy="904305"/>
              <a:chOff x="0" y="0"/>
              <a:chExt cx="4530158" cy="904305"/>
            </a:xfrm>
          </p:grpSpPr>
          <p:sp>
            <p:nvSpPr>
              <p:cNvPr name="Freeform 77" id="77"/>
              <p:cNvSpPr/>
              <p:nvPr/>
            </p:nvSpPr>
            <p:spPr>
              <a:xfrm flipH="false" flipV="false" rot="0">
                <a:off x="0" y="0"/>
                <a:ext cx="4530162" cy="904309"/>
              </a:xfrm>
              <a:custGeom>
                <a:avLst/>
                <a:gdLst/>
                <a:ahLst/>
                <a:cxnLst/>
                <a:rect r="r" b="b" t="t" l="l"/>
                <a:pathLst>
                  <a:path h="904309" w="4530162">
                    <a:moveTo>
                      <a:pt x="0" y="0"/>
                    </a:moveTo>
                    <a:lnTo>
                      <a:pt x="4530162" y="0"/>
                    </a:lnTo>
                    <a:lnTo>
                      <a:pt x="4530162" y="904309"/>
                    </a:lnTo>
                    <a:lnTo>
                      <a:pt x="0" y="904309"/>
                    </a:lnTo>
                    <a:close/>
                  </a:path>
                </a:pathLst>
              </a:custGeom>
              <a:blipFill>
                <a:blip r:embed="rId3">
                  <a:alphaModFix amt="0"/>
                </a:blip>
                <a:stretch>
                  <a:fillRect l="0" t="-62391" r="7166" b="-18840"/>
                </a:stretch>
              </a:blipFill>
            </p:spPr>
          </p:sp>
          <p:sp>
            <p:nvSpPr>
              <p:cNvPr name="TextBox 78" id="78"/>
              <p:cNvSpPr txBox="true"/>
              <p:nvPr/>
            </p:nvSpPr>
            <p:spPr>
              <a:xfrm>
                <a:off x="0" y="-38100"/>
                <a:ext cx="4530158" cy="942405"/>
              </a:xfrm>
              <a:prstGeom prst="rect">
                <a:avLst/>
              </a:prstGeom>
            </p:spPr>
            <p:txBody>
              <a:bodyPr anchor="ctr" rtlCol="false" tIns="0" lIns="0" bIns="0" rIns="0"/>
              <a:lstStyle/>
              <a:p>
                <a:pPr algn="l">
                  <a:lnSpc>
                    <a:spcPts val="2279"/>
                  </a:lnSpc>
                </a:pPr>
                <a:r>
                  <a:rPr lang="en-US" sz="1899">
                    <a:solidFill>
                      <a:srgbClr val="753DFF"/>
                    </a:solidFill>
                    <a:latin typeface="Calibri (MS)"/>
                    <a:ea typeface="Calibri (MS)"/>
                    <a:cs typeface="Calibri (MS)"/>
                    <a:sym typeface="Calibri (MS)"/>
                  </a:rPr>
                  <a:t>Module-level checks,encode &amp; decode proof</a:t>
                </a:r>
              </a:p>
            </p:txBody>
          </p:sp>
        </p:grpSp>
        <p:grpSp>
          <p:nvGrpSpPr>
            <p:cNvPr name="Group 79" id="79"/>
            <p:cNvGrpSpPr/>
            <p:nvPr/>
          </p:nvGrpSpPr>
          <p:grpSpPr>
            <a:xfrm rot="0">
              <a:off x="15643159" y="2167013"/>
              <a:ext cx="4205516" cy="606741"/>
              <a:chOff x="0" y="0"/>
              <a:chExt cx="4205516" cy="606741"/>
            </a:xfrm>
          </p:grpSpPr>
          <p:sp>
            <p:nvSpPr>
              <p:cNvPr name="Freeform 80" id="80"/>
              <p:cNvSpPr/>
              <p:nvPr/>
            </p:nvSpPr>
            <p:spPr>
              <a:xfrm flipH="false" flipV="false" rot="0">
                <a:off x="0" y="0"/>
                <a:ext cx="4205520" cy="606744"/>
              </a:xfrm>
              <a:custGeom>
                <a:avLst/>
                <a:gdLst/>
                <a:ahLst/>
                <a:cxnLst/>
                <a:rect r="r" b="b" t="t" l="l"/>
                <a:pathLst>
                  <a:path h="606744" w="4205520">
                    <a:moveTo>
                      <a:pt x="0" y="0"/>
                    </a:moveTo>
                    <a:lnTo>
                      <a:pt x="4205520" y="0"/>
                    </a:lnTo>
                    <a:lnTo>
                      <a:pt x="4205520" y="606744"/>
                    </a:lnTo>
                    <a:lnTo>
                      <a:pt x="0" y="606744"/>
                    </a:lnTo>
                    <a:close/>
                  </a:path>
                </a:pathLst>
              </a:custGeom>
              <a:blipFill>
                <a:blip r:embed="rId3">
                  <a:alphaModFix amt="0"/>
                </a:blip>
                <a:stretch>
                  <a:fillRect l="0" t="-83911" r="0" b="-86201"/>
                </a:stretch>
              </a:blipFill>
            </p:spPr>
          </p:sp>
          <p:sp>
            <p:nvSpPr>
              <p:cNvPr name="TextBox 81" id="81"/>
              <p:cNvSpPr txBox="true"/>
              <p:nvPr/>
            </p:nvSpPr>
            <p:spPr>
              <a:xfrm>
                <a:off x="0" y="-47625"/>
                <a:ext cx="4205516" cy="654366"/>
              </a:xfrm>
              <a:prstGeom prst="rect">
                <a:avLst/>
              </a:prstGeom>
            </p:spPr>
            <p:txBody>
              <a:bodyPr anchor="ctr" rtlCol="false" tIns="0" lIns="0" bIns="0" rIns="0"/>
              <a:lstStyle/>
              <a:p>
                <a:pPr algn="l">
                  <a:lnSpc>
                    <a:spcPts val="2729"/>
                  </a:lnSpc>
                </a:pPr>
                <a:r>
                  <a:rPr lang="en-US" b="true" sz="2274">
                    <a:solidFill>
                      <a:srgbClr val="000000"/>
                    </a:solidFill>
                    <a:latin typeface="Calibri (MS) Bold"/>
                    <a:ea typeface="Calibri (MS) Bold"/>
                    <a:cs typeface="Calibri (MS) Bold"/>
                    <a:sym typeface="Calibri (MS) Bold"/>
                  </a:rPr>
                  <a:t>System Integration Test</a:t>
                </a:r>
              </a:p>
            </p:txBody>
          </p:sp>
        </p:grpSp>
        <p:grpSp>
          <p:nvGrpSpPr>
            <p:cNvPr name="Group 82" id="82"/>
            <p:cNvGrpSpPr/>
            <p:nvPr/>
          </p:nvGrpSpPr>
          <p:grpSpPr>
            <a:xfrm rot="0">
              <a:off x="15643159" y="2698566"/>
              <a:ext cx="4205516" cy="505891"/>
              <a:chOff x="0" y="0"/>
              <a:chExt cx="4205516" cy="505891"/>
            </a:xfrm>
          </p:grpSpPr>
          <p:sp>
            <p:nvSpPr>
              <p:cNvPr name="Freeform 83" id="83"/>
              <p:cNvSpPr/>
              <p:nvPr/>
            </p:nvSpPr>
            <p:spPr>
              <a:xfrm flipH="false" flipV="false" rot="0">
                <a:off x="0" y="0"/>
                <a:ext cx="4205520" cy="505894"/>
              </a:xfrm>
              <a:custGeom>
                <a:avLst/>
                <a:gdLst/>
                <a:ahLst/>
                <a:cxnLst/>
                <a:rect r="r" b="b" t="t" l="l"/>
                <a:pathLst>
                  <a:path h="505894" w="4205520">
                    <a:moveTo>
                      <a:pt x="0" y="0"/>
                    </a:moveTo>
                    <a:lnTo>
                      <a:pt x="4205520" y="0"/>
                    </a:lnTo>
                    <a:lnTo>
                      <a:pt x="4205520" y="505894"/>
                    </a:lnTo>
                    <a:lnTo>
                      <a:pt x="0" y="505894"/>
                    </a:lnTo>
                    <a:close/>
                  </a:path>
                </a:pathLst>
              </a:custGeom>
              <a:blipFill>
                <a:blip r:embed="rId3">
                  <a:alphaModFix amt="0"/>
                </a:blip>
                <a:stretch>
                  <a:fillRect l="0" t="-111526" r="0" b="-112432"/>
                </a:stretch>
              </a:blipFill>
            </p:spPr>
          </p:sp>
          <p:sp>
            <p:nvSpPr>
              <p:cNvPr name="TextBox 84" id="84"/>
              <p:cNvSpPr txBox="true"/>
              <p:nvPr/>
            </p:nvSpPr>
            <p:spPr>
              <a:xfrm>
                <a:off x="0" y="-38100"/>
                <a:ext cx="4205516" cy="543991"/>
              </a:xfrm>
              <a:prstGeom prst="rect">
                <a:avLst/>
              </a:prstGeom>
            </p:spPr>
            <p:txBody>
              <a:bodyPr anchor="ctr" rtlCol="false" tIns="0" lIns="0" bIns="0" rIns="0"/>
              <a:lstStyle/>
              <a:p>
                <a:pPr algn="l">
                  <a:lnSpc>
                    <a:spcPts val="2279"/>
                  </a:lnSpc>
                </a:pPr>
                <a:r>
                  <a:rPr lang="en-US" sz="1899">
                    <a:solidFill>
                      <a:srgbClr val="753DFF"/>
                    </a:solidFill>
                    <a:latin typeface="Calibri (MS)"/>
                    <a:ea typeface="Calibri (MS)"/>
                    <a:cs typeface="Calibri (MS)"/>
                    <a:sym typeface="Calibri (MS)"/>
                  </a:rPr>
                  <a:t>End-to-end bus flow</a:t>
                </a:r>
              </a:p>
            </p:txBody>
          </p:sp>
        </p:grpSp>
        <p:grpSp>
          <p:nvGrpSpPr>
            <p:cNvPr name="Group 85" id="85"/>
            <p:cNvGrpSpPr/>
            <p:nvPr/>
          </p:nvGrpSpPr>
          <p:grpSpPr>
            <a:xfrm rot="0">
              <a:off x="16716232" y="420249"/>
              <a:ext cx="4530158" cy="582214"/>
              <a:chOff x="0" y="0"/>
              <a:chExt cx="4530158" cy="582214"/>
            </a:xfrm>
          </p:grpSpPr>
          <p:sp>
            <p:nvSpPr>
              <p:cNvPr name="Freeform 86" id="86"/>
              <p:cNvSpPr/>
              <p:nvPr/>
            </p:nvSpPr>
            <p:spPr>
              <a:xfrm flipH="false" flipV="false" rot="0">
                <a:off x="0" y="0"/>
                <a:ext cx="4530162" cy="582217"/>
              </a:xfrm>
              <a:custGeom>
                <a:avLst/>
                <a:gdLst/>
                <a:ahLst/>
                <a:cxnLst/>
                <a:rect r="r" b="b" t="t" l="l"/>
                <a:pathLst>
                  <a:path h="582217" w="4530162">
                    <a:moveTo>
                      <a:pt x="0" y="0"/>
                    </a:moveTo>
                    <a:lnTo>
                      <a:pt x="4530162" y="0"/>
                    </a:lnTo>
                    <a:lnTo>
                      <a:pt x="4530162" y="582217"/>
                    </a:lnTo>
                    <a:lnTo>
                      <a:pt x="0" y="582217"/>
                    </a:lnTo>
                    <a:close/>
                  </a:path>
                </a:pathLst>
              </a:custGeom>
              <a:blipFill>
                <a:blip r:embed="rId3">
                  <a:alphaModFix amt="0"/>
                </a:blip>
                <a:stretch>
                  <a:fillRect l="0" t="-87446" r="7166" b="-94045"/>
                </a:stretch>
              </a:blipFill>
            </p:spPr>
          </p:sp>
          <p:sp>
            <p:nvSpPr>
              <p:cNvPr name="TextBox 87" id="87"/>
              <p:cNvSpPr txBox="true"/>
              <p:nvPr/>
            </p:nvSpPr>
            <p:spPr>
              <a:xfrm>
                <a:off x="0" y="-47625"/>
                <a:ext cx="4530158" cy="629839"/>
              </a:xfrm>
              <a:prstGeom prst="rect">
                <a:avLst/>
              </a:prstGeom>
            </p:spPr>
            <p:txBody>
              <a:bodyPr anchor="ctr" rtlCol="false" tIns="0" lIns="0" bIns="0" rIns="0"/>
              <a:lstStyle/>
              <a:p>
                <a:pPr algn="l">
                  <a:lnSpc>
                    <a:spcPts val="2609"/>
                  </a:lnSpc>
                </a:pPr>
                <a:r>
                  <a:rPr lang="en-US" b="true" sz="2174">
                    <a:solidFill>
                      <a:srgbClr val="161718"/>
                    </a:solidFill>
                    <a:latin typeface="Calibri (MS) Bold"/>
                    <a:ea typeface="Calibri (MS) Bold"/>
                    <a:cs typeface="Calibri (MS) Bold"/>
                    <a:sym typeface="Calibri (MS) Bold"/>
                  </a:rPr>
                  <a:t>Acceptance &amp; Use-Case Test</a:t>
                </a:r>
              </a:p>
            </p:txBody>
          </p:sp>
        </p:grpSp>
        <p:grpSp>
          <p:nvGrpSpPr>
            <p:cNvPr name="Group 88" id="88"/>
            <p:cNvGrpSpPr/>
            <p:nvPr/>
          </p:nvGrpSpPr>
          <p:grpSpPr>
            <a:xfrm rot="0">
              <a:off x="16716232" y="770785"/>
              <a:ext cx="4530158" cy="478874"/>
              <a:chOff x="0" y="0"/>
              <a:chExt cx="4530158" cy="478874"/>
            </a:xfrm>
          </p:grpSpPr>
          <p:sp>
            <p:nvSpPr>
              <p:cNvPr name="Freeform 89" id="89"/>
              <p:cNvSpPr/>
              <p:nvPr/>
            </p:nvSpPr>
            <p:spPr>
              <a:xfrm flipH="false" flipV="false" rot="0">
                <a:off x="0" y="0"/>
                <a:ext cx="4530162" cy="478878"/>
              </a:xfrm>
              <a:custGeom>
                <a:avLst/>
                <a:gdLst/>
                <a:ahLst/>
                <a:cxnLst/>
                <a:rect r="r" b="b" t="t" l="l"/>
                <a:pathLst>
                  <a:path h="478878" w="4530162">
                    <a:moveTo>
                      <a:pt x="0" y="0"/>
                    </a:moveTo>
                    <a:lnTo>
                      <a:pt x="4530162" y="0"/>
                    </a:lnTo>
                    <a:lnTo>
                      <a:pt x="4530162" y="478878"/>
                    </a:lnTo>
                    <a:lnTo>
                      <a:pt x="0" y="478878"/>
                    </a:lnTo>
                    <a:close/>
                  </a:path>
                </a:pathLst>
              </a:custGeom>
              <a:blipFill>
                <a:blip r:embed="rId3">
                  <a:alphaModFix amt="0"/>
                </a:blip>
                <a:stretch>
                  <a:fillRect l="0" t="-117818" r="7166" b="-124417"/>
                </a:stretch>
              </a:blipFill>
            </p:spPr>
          </p:sp>
          <p:sp>
            <p:nvSpPr>
              <p:cNvPr name="TextBox 90" id="90"/>
              <p:cNvSpPr txBox="true"/>
              <p:nvPr/>
            </p:nvSpPr>
            <p:spPr>
              <a:xfrm>
                <a:off x="0" y="-38100"/>
                <a:ext cx="4530158" cy="516974"/>
              </a:xfrm>
              <a:prstGeom prst="rect">
                <a:avLst/>
              </a:prstGeom>
            </p:spPr>
            <p:txBody>
              <a:bodyPr anchor="ctr" rtlCol="false" tIns="0" lIns="0" bIns="0" rIns="0"/>
              <a:lstStyle/>
              <a:p>
                <a:pPr algn="l">
                  <a:lnSpc>
                    <a:spcPts val="2159"/>
                  </a:lnSpc>
                </a:pPr>
                <a:r>
                  <a:rPr lang="en-US" sz="1799">
                    <a:solidFill>
                      <a:srgbClr val="622AD8"/>
                    </a:solidFill>
                    <a:latin typeface="Calibri (MS)"/>
                    <a:ea typeface="Calibri (MS)"/>
                    <a:cs typeface="Calibri (MS)"/>
                    <a:sym typeface="Calibri (MS)"/>
                  </a:rPr>
                  <a:t>System validation</a:t>
                </a:r>
              </a:p>
            </p:txBody>
          </p:sp>
        </p:grpSp>
      </p:grpSp>
      <p:sp>
        <p:nvSpPr>
          <p:cNvPr name="TextBox 91" id="91"/>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Fo</a:t>
            </a:r>
            <a:r>
              <a:rPr lang="en-US" b="true" sz="4200" spc="-30">
                <a:solidFill>
                  <a:srgbClr val="E6E7E8"/>
                </a:solidFill>
                <a:latin typeface="Work Sans Medium"/>
                <a:ea typeface="Work Sans Medium"/>
                <a:cs typeface="Work Sans Medium"/>
                <a:sym typeface="Work Sans Medium"/>
              </a:rPr>
              <a:t>llowing the V-Model, End to End</a:t>
            </a:r>
          </a:p>
        </p:txBody>
      </p:sp>
      <p:sp>
        <p:nvSpPr>
          <p:cNvPr name="AutoShape 92" id="92"/>
          <p:cNvSpPr/>
          <p:nvPr/>
        </p:nvSpPr>
        <p:spPr>
          <a:xfrm>
            <a:off x="933450" y="1476137"/>
            <a:ext cx="6553613" cy="0"/>
          </a:xfrm>
          <a:prstGeom prst="line">
            <a:avLst/>
          </a:prstGeom>
          <a:ln cap="flat" w="38100">
            <a:solidFill>
              <a:srgbClr val="753DFF"/>
            </a:solidFill>
            <a:prstDash val="solid"/>
            <a:headEnd type="none" len="sm" w="sm"/>
            <a:tailEnd type="oval" len="lg" w="lg"/>
          </a:ln>
        </p:spPr>
      </p:sp>
      <p:grpSp>
        <p:nvGrpSpPr>
          <p:cNvPr name="Group 93" id="93"/>
          <p:cNvGrpSpPr/>
          <p:nvPr/>
        </p:nvGrpSpPr>
        <p:grpSpPr>
          <a:xfrm rot="0">
            <a:off x="926309" y="9491358"/>
            <a:ext cx="2807304" cy="493053"/>
            <a:chOff x="0" y="0"/>
            <a:chExt cx="3743072" cy="657404"/>
          </a:xfrm>
        </p:grpSpPr>
        <p:sp>
          <p:nvSpPr>
            <p:cNvPr name="Freeform 94" id="94"/>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5" id="95"/>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96" id="96"/>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Pu</a:t>
            </a:r>
            <a:r>
              <a:rPr lang="en-US" b="true" sz="4200" spc="-30">
                <a:solidFill>
                  <a:srgbClr val="E6E7E8"/>
                </a:solidFill>
                <a:latin typeface="Work Sans Medium"/>
                <a:ea typeface="Work Sans Medium"/>
                <a:cs typeface="Work Sans Medium"/>
                <a:sym typeface="Work Sans Medium"/>
              </a:rPr>
              <a:t>rpose &amp; Scope of the Platform</a:t>
            </a:r>
          </a:p>
        </p:txBody>
      </p:sp>
      <p:sp>
        <p:nvSpPr>
          <p:cNvPr name="TextBox 4" id="4"/>
          <p:cNvSpPr txBox="true"/>
          <p:nvPr/>
        </p:nvSpPr>
        <p:spPr>
          <a:xfrm rot="0">
            <a:off x="933450" y="1743560"/>
            <a:ext cx="9590065" cy="943964"/>
          </a:xfrm>
          <a:prstGeom prst="rect">
            <a:avLst/>
          </a:prstGeom>
        </p:spPr>
        <p:txBody>
          <a:bodyPr anchor="t" rtlCol="false" tIns="0" lIns="0" bIns="0" rIns="0">
            <a:spAutoFit/>
          </a:bodyPr>
          <a:lstStyle/>
          <a:p>
            <a:pPr algn="l">
              <a:lnSpc>
                <a:spcPts val="2527"/>
              </a:lnSpc>
            </a:pPr>
            <a:r>
              <a:rPr lang="en-US" sz="1800">
                <a:solidFill>
                  <a:srgbClr val="FFFFFF"/>
                </a:solidFill>
                <a:latin typeface="Work Sans Light"/>
                <a:ea typeface="Work Sans Light"/>
                <a:cs typeface="Work Sans Light"/>
                <a:sym typeface="Work Sans Light"/>
              </a:rPr>
              <a:t>B</a:t>
            </a:r>
            <a:r>
              <a:rPr lang="en-US" sz="1800">
                <a:solidFill>
                  <a:srgbClr val="FFFFFF"/>
                </a:solidFill>
                <a:latin typeface="Work Sans Light"/>
                <a:ea typeface="Work Sans Light"/>
                <a:cs typeface="Work Sans Light"/>
                <a:sym typeface="Work Sans Light"/>
              </a:rPr>
              <a:t>uilt on Raspberry Pi 5 + MCP2515 (SPI CAN) + PCAN-USB(For testing), the platform establishes CAN communication, monitors and decodes live traffic, generates test frames, and validates ECU behaviour under simulated and faulted conditions.</a:t>
            </a:r>
          </a:p>
        </p:txBody>
      </p:sp>
      <p:grpSp>
        <p:nvGrpSpPr>
          <p:cNvPr name="Group 5" id="5"/>
          <p:cNvGrpSpPr/>
          <p:nvPr/>
        </p:nvGrpSpPr>
        <p:grpSpPr>
          <a:xfrm rot="0">
            <a:off x="896036" y="3349466"/>
            <a:ext cx="8006344" cy="4332808"/>
            <a:chOff x="0" y="0"/>
            <a:chExt cx="10675125" cy="5777078"/>
          </a:xfrm>
        </p:grpSpPr>
        <p:sp>
          <p:nvSpPr>
            <p:cNvPr name="TextBox 6" id="6"/>
            <p:cNvSpPr txBox="true"/>
            <p:nvPr/>
          </p:nvSpPr>
          <p:spPr>
            <a:xfrm rot="0">
              <a:off x="30480" y="-19050"/>
              <a:ext cx="10644645" cy="628650"/>
            </a:xfrm>
            <a:prstGeom prst="rect">
              <a:avLst/>
            </a:prstGeom>
          </p:spPr>
          <p:txBody>
            <a:bodyPr anchor="t" rtlCol="false" tIns="0" lIns="0" bIns="0" rIns="0">
              <a:spAutoFit/>
            </a:bodyPr>
            <a:lstStyle/>
            <a:p>
              <a:pPr algn="l">
                <a:lnSpc>
                  <a:spcPts val="3600"/>
                </a:lnSpc>
              </a:pPr>
              <a:r>
                <a:rPr lang="en-US" sz="3000" b="true">
                  <a:solidFill>
                    <a:srgbClr val="FFFFFF"/>
                  </a:solidFill>
                  <a:latin typeface="Work Sans Medium"/>
                  <a:ea typeface="Work Sans Medium"/>
                  <a:cs typeface="Work Sans Medium"/>
                  <a:sym typeface="Work Sans Medium"/>
                </a:rPr>
                <a:t>SCOP</a:t>
              </a:r>
              <a:r>
                <a:rPr lang="en-US" sz="3000" b="true">
                  <a:solidFill>
                    <a:srgbClr val="FFFFFF"/>
                  </a:solidFill>
                  <a:latin typeface="Work Sans Medium"/>
                  <a:ea typeface="Work Sans Medium"/>
                  <a:cs typeface="Work Sans Medium"/>
                  <a:sym typeface="Work Sans Medium"/>
                </a:rPr>
                <a:t>E</a:t>
              </a:r>
            </a:p>
          </p:txBody>
        </p:sp>
        <p:sp>
          <p:nvSpPr>
            <p:cNvPr name="TextBox 7" id="7"/>
            <p:cNvSpPr txBox="true"/>
            <p:nvPr/>
          </p:nvSpPr>
          <p:spPr>
            <a:xfrm rot="0">
              <a:off x="0" y="997052"/>
              <a:ext cx="10675125" cy="4780026"/>
            </a:xfrm>
            <a:prstGeom prst="rect">
              <a:avLst/>
            </a:prstGeom>
          </p:spPr>
          <p:txBody>
            <a:bodyPr anchor="t" rtlCol="false" tIns="0" lIns="0" bIns="0" rIns="0">
              <a:spAutoFit/>
            </a:bodyPr>
            <a:lstStyle/>
            <a:p>
              <a:pPr algn="l" marL="407194" indent="-203597" lvl="1">
                <a:lnSpc>
                  <a:spcPts val="3158"/>
                </a:lnSpc>
                <a:buFont typeface="Arial"/>
                <a:buChar char="•"/>
              </a:pPr>
              <a:r>
                <a:rPr lang="en-US" sz="2250">
                  <a:solidFill>
                    <a:srgbClr val="FFFFFF"/>
                  </a:solidFill>
                  <a:latin typeface="Work Sans"/>
                  <a:ea typeface="Work Sans"/>
                  <a:cs typeface="Work Sans"/>
                  <a:sym typeface="Work Sans"/>
                </a:rPr>
                <a:t>MCP2515</a:t>
              </a:r>
              <a:r>
                <a:rPr lang="en-US" sz="2250">
                  <a:solidFill>
                    <a:srgbClr val="FFFFFF"/>
                  </a:solidFill>
                  <a:latin typeface="Work Sans"/>
                  <a:ea typeface="Work Sans"/>
                  <a:cs typeface="Work Sans"/>
                  <a:sym typeface="Work Sans"/>
                </a:rPr>
                <a:t> configuration on RPi5 over SPI</a:t>
              </a:r>
            </a:p>
            <a:p>
              <a:pPr algn="l" marL="407194" indent="-203597" lvl="1">
                <a:lnSpc>
                  <a:spcPts val="3158"/>
                </a:lnSpc>
                <a:buFont typeface="Arial"/>
                <a:buChar char="•"/>
              </a:pPr>
              <a:r>
                <a:rPr lang="en-US" sz="2250">
                  <a:solidFill>
                    <a:srgbClr val="FFFFFF"/>
                  </a:solidFill>
                  <a:latin typeface="Work Sans"/>
                  <a:ea typeface="Work Sans"/>
                  <a:cs typeface="Work Sans"/>
                  <a:sym typeface="Work Sans"/>
                </a:rPr>
                <a:t>CAN frame TX/RX — Standard (11-bit) &amp; Extended (29-bit) IDs</a:t>
              </a:r>
            </a:p>
            <a:p>
              <a:pPr algn="l" marL="407194" indent="-203597" lvl="1">
                <a:lnSpc>
                  <a:spcPts val="3158"/>
                </a:lnSpc>
                <a:buFont typeface="Arial"/>
                <a:buChar char="•"/>
              </a:pPr>
              <a:r>
                <a:rPr lang="en-US" sz="2250">
                  <a:solidFill>
                    <a:srgbClr val="FFFFFF"/>
                  </a:solidFill>
                  <a:latin typeface="Work Sans"/>
                  <a:ea typeface="Work Sans"/>
                  <a:cs typeface="Work Sans"/>
                  <a:sym typeface="Work Sans"/>
                </a:rPr>
                <a:t>Bus monitoring, filtering &amp; acceptance masks</a:t>
              </a:r>
            </a:p>
            <a:p>
              <a:pPr algn="l" marL="407194" indent="-203597" lvl="1">
                <a:lnSpc>
                  <a:spcPts val="3158"/>
                </a:lnSpc>
                <a:buFont typeface="Arial"/>
                <a:buChar char="•"/>
              </a:pPr>
              <a:r>
                <a:rPr lang="en-US" sz="2250">
                  <a:solidFill>
                    <a:srgbClr val="FFFFFF"/>
                  </a:solidFill>
                  <a:latin typeface="Work Sans"/>
                  <a:ea typeface="Work Sans"/>
                  <a:cs typeface="Work Sans"/>
                  <a:sym typeface="Work Sans"/>
                </a:rPr>
                <a:t>Fault generation and </a:t>
              </a:r>
              <a:r>
                <a:rPr lang="en-US" sz="2250">
                  <a:solidFill>
                    <a:srgbClr val="FFFFFF"/>
                  </a:solidFill>
                  <a:latin typeface="Work Sans"/>
                  <a:ea typeface="Work Sans"/>
                  <a:cs typeface="Work Sans"/>
                  <a:sym typeface="Work Sans"/>
                </a:rPr>
                <a:t>error-state simulation</a:t>
              </a:r>
            </a:p>
            <a:p>
              <a:pPr algn="l" marL="407194" indent="-203597" lvl="1">
                <a:lnSpc>
                  <a:spcPts val="3158"/>
                </a:lnSpc>
                <a:buFont typeface="Arial"/>
                <a:buChar char="•"/>
              </a:pPr>
              <a:r>
                <a:rPr lang="en-US" sz="2250">
                  <a:solidFill>
                    <a:srgbClr val="FFFFFF"/>
                  </a:solidFill>
                  <a:latin typeface="Work Sans"/>
                  <a:ea typeface="Work Sans"/>
                  <a:cs typeface="Work Sans"/>
                  <a:sym typeface="Work Sans"/>
                </a:rPr>
                <a:t>PCAN-USB integratio</a:t>
              </a:r>
              <a:r>
                <a:rPr lang="en-US" sz="2250">
                  <a:solidFill>
                    <a:srgbClr val="FFFFFF"/>
                  </a:solidFill>
                  <a:latin typeface="Work Sans"/>
                  <a:ea typeface="Work Sans"/>
                  <a:cs typeface="Work Sans"/>
                  <a:sym typeface="Work Sans"/>
                </a:rPr>
                <a:t>n for independent valida</a:t>
              </a:r>
              <a:r>
                <a:rPr lang="en-US" sz="2250">
                  <a:solidFill>
                    <a:srgbClr val="FFFFFF"/>
                  </a:solidFill>
                  <a:latin typeface="Work Sans"/>
                  <a:ea typeface="Work Sans"/>
                  <a:cs typeface="Work Sans"/>
                  <a:sym typeface="Work Sans"/>
                </a:rPr>
                <a:t>tion</a:t>
              </a:r>
            </a:p>
            <a:p>
              <a:pPr algn="l" marL="407194" indent="-203597" lvl="1">
                <a:lnSpc>
                  <a:spcPts val="3158"/>
                </a:lnSpc>
                <a:buFont typeface="Arial"/>
                <a:buChar char="•"/>
              </a:pPr>
              <a:r>
                <a:rPr lang="en-US" sz="2250">
                  <a:solidFill>
                    <a:srgbClr val="FFFFFF"/>
                  </a:solidFill>
                  <a:latin typeface="Work Sans"/>
                  <a:ea typeface="Work Sans"/>
                  <a:cs typeface="Work Sans"/>
                  <a:sym typeface="Work Sans"/>
                </a:rPr>
                <a:t>Diagnostic tooling and user interfaces</a:t>
              </a:r>
            </a:p>
            <a:p>
              <a:pPr algn="l" marL="407194" indent="-203597" lvl="1">
                <a:lnSpc>
                  <a:spcPts val="3158"/>
                </a:lnSpc>
                <a:buFont typeface="Arial"/>
                <a:buChar char="•"/>
              </a:pPr>
              <a:r>
                <a:rPr lang="en-US" sz="2250">
                  <a:solidFill>
                    <a:srgbClr val="FFFFFF"/>
                  </a:solidFill>
                  <a:latin typeface="Work Sans"/>
                  <a:ea typeface="Work Sans"/>
                  <a:cs typeface="Work Sans"/>
                  <a:sym typeface="Work Sans"/>
                </a:rPr>
                <a:t>Storage &amp; visualisation of CAN traffic</a:t>
              </a:r>
            </a:p>
            <a:p>
              <a:pPr algn="l" marL="407194" indent="-203597" lvl="1">
                <a:lnSpc>
                  <a:spcPts val="3158"/>
                </a:lnSpc>
              </a:pPr>
            </a:p>
          </p:txBody>
        </p:sp>
      </p:grpSp>
      <p:grpSp>
        <p:nvGrpSpPr>
          <p:cNvPr name="Group 8" id="8"/>
          <p:cNvGrpSpPr/>
          <p:nvPr/>
        </p:nvGrpSpPr>
        <p:grpSpPr>
          <a:xfrm rot="0">
            <a:off x="9546698" y="2514838"/>
            <a:ext cx="939403" cy="939403"/>
            <a:chOff x="0" y="0"/>
            <a:chExt cx="1252538" cy="1252538"/>
          </a:xfrm>
        </p:grpSpPr>
        <p:sp>
          <p:nvSpPr>
            <p:cNvPr name="Freeform 9" id="9"/>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B0FF45"/>
            </a:solidFill>
          </p:spPr>
        </p:sp>
      </p:grpSp>
      <p:grpSp>
        <p:nvGrpSpPr>
          <p:cNvPr name="Group 10" id="10"/>
          <p:cNvGrpSpPr/>
          <p:nvPr/>
        </p:nvGrpSpPr>
        <p:grpSpPr>
          <a:xfrm rot="0">
            <a:off x="9651473" y="2619613"/>
            <a:ext cx="729853" cy="729853"/>
            <a:chOff x="0" y="0"/>
            <a:chExt cx="973138" cy="973138"/>
          </a:xfrm>
        </p:grpSpPr>
        <p:sp>
          <p:nvSpPr>
            <p:cNvPr name="Freeform 11" id="11"/>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12" id="12"/>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000000"/>
                  </a:solidFill>
                  <a:latin typeface="Work Sans"/>
                  <a:ea typeface="Work Sans"/>
                  <a:cs typeface="Work Sans"/>
                  <a:sym typeface="Work Sans"/>
                </a:rPr>
                <a:t>1</a:t>
              </a:r>
            </a:p>
          </p:txBody>
        </p:sp>
      </p:grpSp>
      <p:grpSp>
        <p:nvGrpSpPr>
          <p:cNvPr name="Group 13" id="13"/>
          <p:cNvGrpSpPr/>
          <p:nvPr/>
        </p:nvGrpSpPr>
        <p:grpSpPr>
          <a:xfrm rot="0">
            <a:off x="9546698" y="4055697"/>
            <a:ext cx="939403" cy="939403"/>
            <a:chOff x="0" y="0"/>
            <a:chExt cx="1252538" cy="1252538"/>
          </a:xfrm>
        </p:grpSpPr>
        <p:sp>
          <p:nvSpPr>
            <p:cNvPr name="Freeform 14" id="14"/>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8FDB00"/>
            </a:solidFill>
          </p:spPr>
        </p:sp>
      </p:grpSp>
      <p:grpSp>
        <p:nvGrpSpPr>
          <p:cNvPr name="Group 15" id="15"/>
          <p:cNvGrpSpPr/>
          <p:nvPr/>
        </p:nvGrpSpPr>
        <p:grpSpPr>
          <a:xfrm rot="0">
            <a:off x="9651473" y="4160472"/>
            <a:ext cx="729853" cy="729853"/>
            <a:chOff x="0" y="0"/>
            <a:chExt cx="973138" cy="973138"/>
          </a:xfrm>
        </p:grpSpPr>
        <p:sp>
          <p:nvSpPr>
            <p:cNvPr name="Freeform 16" id="16"/>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17" id="17"/>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FFFFFF"/>
                  </a:solidFill>
                  <a:latin typeface="Work Sans"/>
                  <a:ea typeface="Work Sans"/>
                  <a:cs typeface="Work Sans"/>
                  <a:sym typeface="Work Sans"/>
                </a:rPr>
                <a:t>2</a:t>
              </a:r>
            </a:p>
          </p:txBody>
        </p:sp>
      </p:grpSp>
      <p:grpSp>
        <p:nvGrpSpPr>
          <p:cNvPr name="Group 18" id="18"/>
          <p:cNvGrpSpPr/>
          <p:nvPr/>
        </p:nvGrpSpPr>
        <p:grpSpPr>
          <a:xfrm rot="0">
            <a:off x="9546698" y="5596547"/>
            <a:ext cx="939403" cy="939403"/>
            <a:chOff x="0" y="0"/>
            <a:chExt cx="1252538" cy="1252538"/>
          </a:xfrm>
        </p:grpSpPr>
        <p:sp>
          <p:nvSpPr>
            <p:cNvPr name="Freeform 19" id="19"/>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428003"/>
            </a:solidFill>
          </p:spPr>
        </p:sp>
      </p:grpSp>
      <p:grpSp>
        <p:nvGrpSpPr>
          <p:cNvPr name="Group 20" id="20"/>
          <p:cNvGrpSpPr/>
          <p:nvPr/>
        </p:nvGrpSpPr>
        <p:grpSpPr>
          <a:xfrm rot="0">
            <a:off x="9651473" y="5701322"/>
            <a:ext cx="729853" cy="729853"/>
            <a:chOff x="0" y="0"/>
            <a:chExt cx="973138" cy="973138"/>
          </a:xfrm>
        </p:grpSpPr>
        <p:sp>
          <p:nvSpPr>
            <p:cNvPr name="Freeform 21" id="21"/>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22" id="22"/>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FFFFFF"/>
                  </a:solidFill>
                  <a:latin typeface="Work Sans"/>
                  <a:ea typeface="Work Sans"/>
                  <a:cs typeface="Work Sans"/>
                  <a:sym typeface="Work Sans"/>
                </a:rPr>
                <a:t>3</a:t>
              </a:r>
            </a:p>
          </p:txBody>
        </p:sp>
      </p:grpSp>
      <p:grpSp>
        <p:nvGrpSpPr>
          <p:cNvPr name="Group 23" id="23"/>
          <p:cNvGrpSpPr/>
          <p:nvPr/>
        </p:nvGrpSpPr>
        <p:grpSpPr>
          <a:xfrm rot="0">
            <a:off x="9546698" y="7180497"/>
            <a:ext cx="939403" cy="939403"/>
            <a:chOff x="0" y="0"/>
            <a:chExt cx="1252538" cy="1252538"/>
          </a:xfrm>
        </p:grpSpPr>
        <p:sp>
          <p:nvSpPr>
            <p:cNvPr name="Freeform 24" id="24"/>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753DFF"/>
            </a:solidFill>
          </p:spPr>
        </p:sp>
      </p:grpSp>
      <p:grpSp>
        <p:nvGrpSpPr>
          <p:cNvPr name="Group 25" id="25"/>
          <p:cNvGrpSpPr/>
          <p:nvPr/>
        </p:nvGrpSpPr>
        <p:grpSpPr>
          <a:xfrm rot="0">
            <a:off x="9651473" y="7285272"/>
            <a:ext cx="729853" cy="729853"/>
            <a:chOff x="0" y="0"/>
            <a:chExt cx="973138" cy="973138"/>
          </a:xfrm>
        </p:grpSpPr>
        <p:sp>
          <p:nvSpPr>
            <p:cNvPr name="Freeform 26" id="26"/>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27" id="27"/>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000000"/>
                  </a:solidFill>
                  <a:latin typeface="Work Sans"/>
                  <a:ea typeface="Work Sans"/>
                  <a:cs typeface="Work Sans"/>
                  <a:sym typeface="Work Sans"/>
                </a:rPr>
                <a:t>4</a:t>
              </a:r>
            </a:p>
          </p:txBody>
        </p:sp>
      </p:grpSp>
      <p:grpSp>
        <p:nvGrpSpPr>
          <p:cNvPr name="Group 28" id="28"/>
          <p:cNvGrpSpPr/>
          <p:nvPr/>
        </p:nvGrpSpPr>
        <p:grpSpPr>
          <a:xfrm rot="0">
            <a:off x="16784479" y="9491358"/>
            <a:ext cx="697335" cy="357088"/>
            <a:chOff x="0" y="0"/>
            <a:chExt cx="929780" cy="476118"/>
          </a:xfrm>
        </p:grpSpPr>
        <p:sp>
          <p:nvSpPr>
            <p:cNvPr name="Freeform 29" id="2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30" id="3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5</a:t>
              </a:r>
            </a:p>
          </p:txBody>
        </p:sp>
      </p:grpSp>
      <p:grpSp>
        <p:nvGrpSpPr>
          <p:cNvPr name="Group 31" id="31"/>
          <p:cNvGrpSpPr/>
          <p:nvPr/>
        </p:nvGrpSpPr>
        <p:grpSpPr>
          <a:xfrm rot="0">
            <a:off x="10918212" y="2687525"/>
            <a:ext cx="7369788" cy="594030"/>
            <a:chOff x="0" y="0"/>
            <a:chExt cx="9826384" cy="792040"/>
          </a:xfrm>
        </p:grpSpPr>
        <p:sp>
          <p:nvSpPr>
            <p:cNvPr name="TextBox 32" id="32"/>
            <p:cNvSpPr txBox="true"/>
            <p:nvPr/>
          </p:nvSpPr>
          <p:spPr>
            <a:xfrm rot="0">
              <a:off x="0" y="-66675"/>
              <a:ext cx="8567649" cy="542671"/>
            </a:xfrm>
            <a:prstGeom prst="rect">
              <a:avLst/>
            </a:prstGeom>
          </p:spPr>
          <p:txBody>
            <a:bodyPr anchor="t" rtlCol="false" tIns="0" lIns="0" bIns="0" rIns="0">
              <a:spAutoFit/>
            </a:bodyPr>
            <a:lstStyle/>
            <a:p>
              <a:pPr algn="l">
                <a:lnSpc>
                  <a:spcPts val="3383"/>
                </a:lnSpc>
              </a:pPr>
              <a:r>
                <a:rPr lang="en-US" sz="2349">
                  <a:solidFill>
                    <a:srgbClr val="FFFFFF"/>
                  </a:solidFill>
                  <a:latin typeface="Work Sans"/>
                  <a:ea typeface="Work Sans"/>
                  <a:cs typeface="Work Sans"/>
                  <a:sym typeface="Work Sans"/>
                </a:rPr>
                <a:t>E</a:t>
              </a:r>
              <a:r>
                <a:rPr lang="en-US" sz="2349">
                  <a:solidFill>
                    <a:srgbClr val="FFFFFF"/>
                  </a:solidFill>
                  <a:latin typeface="Work Sans"/>
                  <a:ea typeface="Work Sans"/>
                  <a:cs typeface="Work Sans"/>
                  <a:sym typeface="Work Sans"/>
                </a:rPr>
                <a:t>stablish CAN communication</a:t>
              </a:r>
            </a:p>
          </p:txBody>
        </p:sp>
        <p:sp>
          <p:nvSpPr>
            <p:cNvPr name="TextBox 33" id="33"/>
            <p:cNvSpPr txBox="true"/>
            <p:nvPr/>
          </p:nvSpPr>
          <p:spPr>
            <a:xfrm rot="0">
              <a:off x="0" y="387496"/>
              <a:ext cx="9826384" cy="404544"/>
            </a:xfrm>
            <a:prstGeom prst="rect">
              <a:avLst/>
            </a:prstGeom>
          </p:spPr>
          <p:txBody>
            <a:bodyPr anchor="t" rtlCol="false" tIns="0" lIns="0" bIns="0" rIns="0">
              <a:spAutoFit/>
            </a:bodyPr>
            <a:lstStyle/>
            <a:p>
              <a:pPr algn="l">
                <a:lnSpc>
                  <a:spcPts val="2527"/>
                </a:lnSpc>
              </a:pPr>
              <a:r>
                <a:rPr lang="en-US" sz="1800">
                  <a:solidFill>
                    <a:srgbClr val="FFFFFF"/>
                  </a:solidFill>
                  <a:latin typeface="Work Sans Light"/>
                  <a:ea typeface="Work Sans Light"/>
                  <a:cs typeface="Work Sans Light"/>
                  <a:sym typeface="Work Sans Light"/>
                </a:rPr>
                <a:t>between embedded ECUs and host</a:t>
              </a:r>
            </a:p>
          </p:txBody>
        </p:sp>
      </p:grpSp>
      <p:grpSp>
        <p:nvGrpSpPr>
          <p:cNvPr name="Group 34" id="34"/>
          <p:cNvGrpSpPr/>
          <p:nvPr/>
        </p:nvGrpSpPr>
        <p:grpSpPr>
          <a:xfrm rot="0">
            <a:off x="10918212" y="4228384"/>
            <a:ext cx="7369788" cy="594030"/>
            <a:chOff x="0" y="0"/>
            <a:chExt cx="9826384" cy="792040"/>
          </a:xfrm>
        </p:grpSpPr>
        <p:sp>
          <p:nvSpPr>
            <p:cNvPr name="TextBox 35" id="35"/>
            <p:cNvSpPr txBox="true"/>
            <p:nvPr/>
          </p:nvSpPr>
          <p:spPr>
            <a:xfrm rot="0">
              <a:off x="0" y="-66675"/>
              <a:ext cx="8567649" cy="542671"/>
            </a:xfrm>
            <a:prstGeom prst="rect">
              <a:avLst/>
            </a:prstGeom>
          </p:spPr>
          <p:txBody>
            <a:bodyPr anchor="t" rtlCol="false" tIns="0" lIns="0" bIns="0" rIns="0">
              <a:spAutoFit/>
            </a:bodyPr>
            <a:lstStyle/>
            <a:p>
              <a:pPr algn="l">
                <a:lnSpc>
                  <a:spcPts val="3383"/>
                </a:lnSpc>
              </a:pPr>
              <a:r>
                <a:rPr lang="en-US" sz="2349">
                  <a:solidFill>
                    <a:srgbClr val="FFFFFF"/>
                  </a:solidFill>
                  <a:latin typeface="Work Sans"/>
                  <a:ea typeface="Work Sans"/>
                  <a:cs typeface="Work Sans"/>
                  <a:sym typeface="Work Sans"/>
                </a:rPr>
                <a:t>Moni</a:t>
              </a:r>
              <a:r>
                <a:rPr lang="en-US" sz="2349">
                  <a:solidFill>
                    <a:srgbClr val="FFFFFF"/>
                  </a:solidFill>
                  <a:latin typeface="Work Sans"/>
                  <a:ea typeface="Work Sans"/>
                  <a:cs typeface="Work Sans"/>
                  <a:sym typeface="Work Sans"/>
                </a:rPr>
                <a:t>tor &amp; analyse in real time</a:t>
              </a:r>
            </a:p>
          </p:txBody>
        </p:sp>
        <p:sp>
          <p:nvSpPr>
            <p:cNvPr name="TextBox 36" id="36"/>
            <p:cNvSpPr txBox="true"/>
            <p:nvPr/>
          </p:nvSpPr>
          <p:spPr>
            <a:xfrm rot="0">
              <a:off x="0" y="387496"/>
              <a:ext cx="9826384" cy="404544"/>
            </a:xfrm>
            <a:prstGeom prst="rect">
              <a:avLst/>
            </a:prstGeom>
          </p:spPr>
          <p:txBody>
            <a:bodyPr anchor="t" rtlCol="false" tIns="0" lIns="0" bIns="0" rIns="0">
              <a:spAutoFit/>
            </a:bodyPr>
            <a:lstStyle/>
            <a:p>
              <a:pPr algn="l">
                <a:lnSpc>
                  <a:spcPts val="2527"/>
                </a:lnSpc>
              </a:pPr>
              <a:r>
                <a:rPr lang="en-US" sz="1800">
                  <a:solidFill>
                    <a:srgbClr val="FFFFFF"/>
                  </a:solidFill>
                  <a:latin typeface="Work Sans Light"/>
                  <a:ea typeface="Work Sans Light"/>
                  <a:cs typeface="Work Sans Light"/>
                  <a:sym typeface="Work Sans Light"/>
                </a:rPr>
                <a:t>encode &amp; decode every frame on the bus</a:t>
              </a:r>
            </a:p>
          </p:txBody>
        </p:sp>
      </p:grpSp>
      <p:grpSp>
        <p:nvGrpSpPr>
          <p:cNvPr name="Group 37" id="37"/>
          <p:cNvGrpSpPr/>
          <p:nvPr/>
        </p:nvGrpSpPr>
        <p:grpSpPr>
          <a:xfrm rot="0">
            <a:off x="10918212" y="5769234"/>
            <a:ext cx="7369788" cy="594030"/>
            <a:chOff x="0" y="0"/>
            <a:chExt cx="9826384" cy="792040"/>
          </a:xfrm>
        </p:grpSpPr>
        <p:sp>
          <p:nvSpPr>
            <p:cNvPr name="TextBox 38" id="38"/>
            <p:cNvSpPr txBox="true"/>
            <p:nvPr/>
          </p:nvSpPr>
          <p:spPr>
            <a:xfrm rot="0">
              <a:off x="0" y="-66675"/>
              <a:ext cx="8567649" cy="542671"/>
            </a:xfrm>
            <a:prstGeom prst="rect">
              <a:avLst/>
            </a:prstGeom>
          </p:spPr>
          <p:txBody>
            <a:bodyPr anchor="t" rtlCol="false" tIns="0" lIns="0" bIns="0" rIns="0">
              <a:spAutoFit/>
            </a:bodyPr>
            <a:lstStyle/>
            <a:p>
              <a:pPr algn="l">
                <a:lnSpc>
                  <a:spcPts val="3383"/>
                </a:lnSpc>
              </a:pPr>
              <a:r>
                <a:rPr lang="en-US" sz="2349">
                  <a:solidFill>
                    <a:srgbClr val="FFFFFF"/>
                  </a:solidFill>
                  <a:latin typeface="Work Sans"/>
                  <a:ea typeface="Work Sans"/>
                  <a:cs typeface="Work Sans"/>
                  <a:sym typeface="Work Sans"/>
                </a:rPr>
                <a:t>Generate &amp; </a:t>
              </a:r>
              <a:r>
                <a:rPr lang="en-US" sz="2349">
                  <a:solidFill>
                    <a:srgbClr val="FFFFFF"/>
                  </a:solidFill>
                  <a:latin typeface="Work Sans"/>
                  <a:ea typeface="Work Sans"/>
                  <a:cs typeface="Work Sans"/>
                  <a:sym typeface="Work Sans"/>
                </a:rPr>
                <a:t>transmit test frames</a:t>
              </a:r>
            </a:p>
          </p:txBody>
        </p:sp>
        <p:sp>
          <p:nvSpPr>
            <p:cNvPr name="TextBox 39" id="39"/>
            <p:cNvSpPr txBox="true"/>
            <p:nvPr/>
          </p:nvSpPr>
          <p:spPr>
            <a:xfrm rot="0">
              <a:off x="0" y="387496"/>
              <a:ext cx="9826384" cy="404544"/>
            </a:xfrm>
            <a:prstGeom prst="rect">
              <a:avLst/>
            </a:prstGeom>
          </p:spPr>
          <p:txBody>
            <a:bodyPr anchor="t" rtlCol="false" tIns="0" lIns="0" bIns="0" rIns="0">
              <a:spAutoFit/>
            </a:bodyPr>
            <a:lstStyle/>
            <a:p>
              <a:pPr algn="l">
                <a:lnSpc>
                  <a:spcPts val="2527"/>
                </a:lnSpc>
              </a:pPr>
              <a:r>
                <a:rPr lang="en-US" sz="1800">
                  <a:solidFill>
                    <a:srgbClr val="FFFFFF"/>
                  </a:solidFill>
                  <a:latin typeface="Work Sans Light"/>
                  <a:ea typeface="Work Sans Light"/>
                  <a:cs typeface="Work Sans Light"/>
                  <a:sym typeface="Work Sans Light"/>
                </a:rPr>
                <a:t>exercise ECU responses on demand</a:t>
              </a:r>
            </a:p>
          </p:txBody>
        </p:sp>
      </p:grpSp>
      <p:grpSp>
        <p:nvGrpSpPr>
          <p:cNvPr name="Group 40" id="40"/>
          <p:cNvGrpSpPr/>
          <p:nvPr/>
        </p:nvGrpSpPr>
        <p:grpSpPr>
          <a:xfrm rot="0">
            <a:off x="10918212" y="7353184"/>
            <a:ext cx="7369788" cy="594030"/>
            <a:chOff x="0" y="0"/>
            <a:chExt cx="9826384" cy="792040"/>
          </a:xfrm>
        </p:grpSpPr>
        <p:sp>
          <p:nvSpPr>
            <p:cNvPr name="TextBox 41" id="41"/>
            <p:cNvSpPr txBox="true"/>
            <p:nvPr/>
          </p:nvSpPr>
          <p:spPr>
            <a:xfrm rot="0">
              <a:off x="0" y="-66675"/>
              <a:ext cx="8567649" cy="542671"/>
            </a:xfrm>
            <a:prstGeom prst="rect">
              <a:avLst/>
            </a:prstGeom>
          </p:spPr>
          <p:txBody>
            <a:bodyPr anchor="t" rtlCol="false" tIns="0" lIns="0" bIns="0" rIns="0">
              <a:spAutoFit/>
            </a:bodyPr>
            <a:lstStyle/>
            <a:p>
              <a:pPr algn="l">
                <a:lnSpc>
                  <a:spcPts val="3383"/>
                </a:lnSpc>
              </a:pPr>
              <a:r>
                <a:rPr lang="en-US" sz="2349">
                  <a:solidFill>
                    <a:srgbClr val="FFFFFF"/>
                  </a:solidFill>
                  <a:latin typeface="Work Sans"/>
                  <a:ea typeface="Work Sans"/>
                  <a:cs typeface="Work Sans"/>
                  <a:sym typeface="Work Sans"/>
                </a:rPr>
                <a:t>Simula</a:t>
              </a:r>
              <a:r>
                <a:rPr lang="en-US" sz="2349">
                  <a:solidFill>
                    <a:srgbClr val="FFFFFF"/>
                  </a:solidFill>
                  <a:latin typeface="Work Sans"/>
                  <a:ea typeface="Work Sans"/>
                  <a:cs typeface="Work Sans"/>
                  <a:sym typeface="Work Sans"/>
                </a:rPr>
                <a:t>te faults &amp; network conditions</a:t>
              </a:r>
            </a:p>
          </p:txBody>
        </p:sp>
        <p:sp>
          <p:nvSpPr>
            <p:cNvPr name="TextBox 42" id="42"/>
            <p:cNvSpPr txBox="true"/>
            <p:nvPr/>
          </p:nvSpPr>
          <p:spPr>
            <a:xfrm rot="0">
              <a:off x="0" y="387496"/>
              <a:ext cx="9826384" cy="404544"/>
            </a:xfrm>
            <a:prstGeom prst="rect">
              <a:avLst/>
            </a:prstGeom>
          </p:spPr>
          <p:txBody>
            <a:bodyPr anchor="t" rtlCol="false" tIns="0" lIns="0" bIns="0" rIns="0">
              <a:spAutoFit/>
            </a:bodyPr>
            <a:lstStyle/>
            <a:p>
              <a:pPr algn="l">
                <a:lnSpc>
                  <a:spcPts val="2527"/>
                </a:lnSpc>
              </a:pPr>
              <a:r>
                <a:rPr lang="en-US" sz="1800">
                  <a:solidFill>
                    <a:srgbClr val="FFFFFF"/>
                  </a:solidFill>
                  <a:latin typeface="Work Sans Light"/>
                  <a:ea typeface="Work Sans Light"/>
                  <a:cs typeface="Work Sans Light"/>
                  <a:sym typeface="Work Sans Light"/>
                </a:rPr>
                <a:t>DTCs,</a:t>
              </a:r>
              <a:r>
                <a:rPr lang="en-US" sz="1800">
                  <a:solidFill>
                    <a:srgbClr val="FFFFFF"/>
                  </a:solidFill>
                  <a:latin typeface="Work Sans Light"/>
                  <a:ea typeface="Work Sans Light"/>
                  <a:cs typeface="Work Sans Light"/>
                  <a:sym typeface="Work Sans Light"/>
                </a:rPr>
                <a:t>bus-off, errors, dropped frames</a:t>
              </a:r>
            </a:p>
          </p:txBody>
        </p:sp>
      </p:grpSp>
      <p:grpSp>
        <p:nvGrpSpPr>
          <p:cNvPr name="Group 43" id="43"/>
          <p:cNvGrpSpPr/>
          <p:nvPr/>
        </p:nvGrpSpPr>
        <p:grpSpPr>
          <a:xfrm rot="0">
            <a:off x="14432971" y="340693"/>
            <a:ext cx="3531112" cy="688007"/>
            <a:chOff x="0" y="0"/>
            <a:chExt cx="4708150" cy="917342"/>
          </a:xfrm>
        </p:grpSpPr>
        <p:sp>
          <p:nvSpPr>
            <p:cNvPr name="Freeform 44" id="44"/>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45" id="45"/>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1/8</a:t>
              </a:r>
            </a:p>
          </p:txBody>
        </p:sp>
      </p:grpSp>
      <p:sp>
        <p:nvSpPr>
          <p:cNvPr name="AutoShape 46" id="46"/>
          <p:cNvSpPr/>
          <p:nvPr/>
        </p:nvSpPr>
        <p:spPr>
          <a:xfrm flipV="true">
            <a:off x="926309" y="1619964"/>
            <a:ext cx="5429263" cy="0"/>
          </a:xfrm>
          <a:prstGeom prst="line">
            <a:avLst/>
          </a:prstGeom>
          <a:ln cap="flat" w="38100">
            <a:solidFill>
              <a:srgbClr val="B0FF45"/>
            </a:solidFill>
            <a:prstDash val="solid"/>
            <a:headEnd type="none" len="sm" w="sm"/>
            <a:tailEnd type="oval" len="lg" w="lg"/>
          </a:ln>
        </p:spPr>
      </p:sp>
      <p:grpSp>
        <p:nvGrpSpPr>
          <p:cNvPr name="Group 47" id="47"/>
          <p:cNvGrpSpPr/>
          <p:nvPr/>
        </p:nvGrpSpPr>
        <p:grpSpPr>
          <a:xfrm rot="0">
            <a:off x="15325725" y="9491367"/>
            <a:ext cx="1299210" cy="357077"/>
            <a:chOff x="0" y="0"/>
            <a:chExt cx="1732280" cy="476102"/>
          </a:xfrm>
        </p:grpSpPr>
        <p:sp>
          <p:nvSpPr>
            <p:cNvPr name="Freeform 48" id="48"/>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49" id="49"/>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50" id="50"/>
          <p:cNvGrpSpPr/>
          <p:nvPr/>
        </p:nvGrpSpPr>
        <p:grpSpPr>
          <a:xfrm rot="0">
            <a:off x="926309" y="9491358"/>
            <a:ext cx="2807304" cy="493053"/>
            <a:chOff x="0" y="0"/>
            <a:chExt cx="3743072" cy="657404"/>
          </a:xfrm>
        </p:grpSpPr>
        <p:sp>
          <p:nvSpPr>
            <p:cNvPr name="Freeform 51" id="51"/>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2" id="52"/>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53" id="53"/>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Functional Requirements</a:t>
            </a:r>
          </a:p>
        </p:txBody>
      </p:sp>
      <p:sp>
        <p:nvSpPr>
          <p:cNvPr name="TextBox 4" id="4"/>
          <p:cNvSpPr txBox="true"/>
          <p:nvPr/>
        </p:nvSpPr>
        <p:spPr>
          <a:xfrm rot="0">
            <a:off x="926309" y="1734264"/>
            <a:ext cx="9270587" cy="336171"/>
          </a:xfrm>
          <a:prstGeom prst="rect">
            <a:avLst/>
          </a:prstGeom>
        </p:spPr>
        <p:txBody>
          <a:bodyPr anchor="t" rtlCol="false" tIns="0" lIns="0" bIns="0" rIns="0">
            <a:spAutoFit/>
          </a:bodyPr>
          <a:lstStyle/>
          <a:p>
            <a:pPr algn="l">
              <a:lnSpc>
                <a:spcPts val="2676"/>
              </a:lnSpc>
            </a:pPr>
            <a:r>
              <a:rPr lang="en-US" sz="1906">
                <a:solidFill>
                  <a:srgbClr val="FFFFFF"/>
                </a:solidFill>
                <a:latin typeface="Work Sans Light"/>
                <a:ea typeface="Work Sans Light"/>
                <a:cs typeface="Work Sans Light"/>
                <a:sym typeface="Work Sans Light"/>
              </a:rPr>
              <a:t>the specif</a:t>
            </a:r>
            <a:r>
              <a:rPr lang="en-US" sz="1906">
                <a:solidFill>
                  <a:srgbClr val="FFFFFF"/>
                </a:solidFill>
                <a:latin typeface="Work Sans Light"/>
                <a:ea typeface="Work Sans Light"/>
                <a:cs typeface="Work Sans Light"/>
                <a:sym typeface="Work Sans Light"/>
              </a:rPr>
              <a:t>ic tasks and behaviors the system must perform to meet user needs.</a:t>
            </a:r>
          </a:p>
        </p:txBody>
      </p:sp>
      <p:sp>
        <p:nvSpPr>
          <p:cNvPr name="TextBox 5" id="5"/>
          <p:cNvSpPr txBox="true"/>
          <p:nvPr/>
        </p:nvSpPr>
        <p:spPr>
          <a:xfrm rot="0">
            <a:off x="953224" y="6422641"/>
            <a:ext cx="3531870"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Work Sans Medium"/>
                <a:ea typeface="Work Sans Medium"/>
                <a:cs typeface="Work Sans Medium"/>
                <a:sym typeface="Work Sans Medium"/>
              </a:rPr>
              <a:t>SIMULATION</a:t>
            </a:r>
          </a:p>
        </p:txBody>
      </p:sp>
      <p:sp>
        <p:nvSpPr>
          <p:cNvPr name="TextBox 6" id="6"/>
          <p:cNvSpPr txBox="true"/>
          <p:nvPr/>
        </p:nvSpPr>
        <p:spPr>
          <a:xfrm rot="0">
            <a:off x="953224" y="7075170"/>
            <a:ext cx="3531870" cy="1952244"/>
          </a:xfrm>
          <a:prstGeom prst="rect">
            <a:avLst/>
          </a:prstGeom>
        </p:spPr>
        <p:txBody>
          <a:bodyPr anchor="t" rtlCol="false" tIns="0" lIns="0" bIns="0" rIns="0">
            <a:spAutoFit/>
          </a:bodyPr>
          <a:lstStyle/>
          <a:p>
            <a:pPr algn="ctr">
              <a:lnSpc>
                <a:spcPts val="3078"/>
              </a:lnSpc>
            </a:pPr>
            <a:r>
              <a:rPr lang="en-US" sz="2250">
                <a:solidFill>
                  <a:srgbClr val="FFFFFF"/>
                </a:solidFill>
                <a:latin typeface="Work Sans"/>
                <a:ea typeface="Work Sans"/>
                <a:cs typeface="Work Sans"/>
                <a:sym typeface="Work Sans"/>
              </a:rPr>
              <a:t>Generate realistic ECU CAN messages to emulate vehicle behavior for development and testing.</a:t>
            </a:r>
          </a:p>
        </p:txBody>
      </p:sp>
      <p:sp>
        <p:nvSpPr>
          <p:cNvPr name="TextBox 7" id="7"/>
          <p:cNvSpPr txBox="true"/>
          <p:nvPr/>
        </p:nvSpPr>
        <p:spPr>
          <a:xfrm rot="0">
            <a:off x="5229616" y="6422641"/>
            <a:ext cx="3531870"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Work Sans Medium"/>
                <a:ea typeface="Work Sans Medium"/>
                <a:cs typeface="Work Sans Medium"/>
                <a:sym typeface="Work Sans Medium"/>
              </a:rPr>
              <a:t>MONITORING</a:t>
            </a:r>
          </a:p>
        </p:txBody>
      </p:sp>
      <p:sp>
        <p:nvSpPr>
          <p:cNvPr name="TextBox 8" id="8"/>
          <p:cNvSpPr txBox="true"/>
          <p:nvPr/>
        </p:nvSpPr>
        <p:spPr>
          <a:xfrm rot="0">
            <a:off x="5229616" y="7075170"/>
            <a:ext cx="3531870" cy="1561719"/>
          </a:xfrm>
          <a:prstGeom prst="rect">
            <a:avLst/>
          </a:prstGeom>
        </p:spPr>
        <p:txBody>
          <a:bodyPr anchor="t" rtlCol="false" tIns="0" lIns="0" bIns="0" rIns="0">
            <a:spAutoFit/>
          </a:bodyPr>
          <a:lstStyle/>
          <a:p>
            <a:pPr algn="ctr">
              <a:lnSpc>
                <a:spcPts val="3078"/>
              </a:lnSpc>
            </a:pPr>
            <a:r>
              <a:rPr lang="en-US" sz="2250">
                <a:solidFill>
                  <a:srgbClr val="FFFFFF"/>
                </a:solidFill>
                <a:latin typeface="Work Sans"/>
                <a:ea typeface="Work Sans"/>
                <a:cs typeface="Work Sans"/>
                <a:sym typeface="Work Sans"/>
              </a:rPr>
              <a:t>Capture, decode, and visualize live CAN/CAN FD messages with real-time signal monitoring.</a:t>
            </a:r>
          </a:p>
        </p:txBody>
      </p:sp>
      <p:sp>
        <p:nvSpPr>
          <p:cNvPr name="TextBox 9" id="9"/>
          <p:cNvSpPr txBox="true"/>
          <p:nvPr/>
        </p:nvSpPr>
        <p:spPr>
          <a:xfrm rot="0">
            <a:off x="9505998" y="6422641"/>
            <a:ext cx="3531870"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Work Sans Medium"/>
                <a:ea typeface="Work Sans Medium"/>
                <a:cs typeface="Work Sans Medium"/>
                <a:sym typeface="Work Sans Medium"/>
              </a:rPr>
              <a:t>DIAGNOSTICS</a:t>
            </a:r>
          </a:p>
        </p:txBody>
      </p:sp>
      <p:sp>
        <p:nvSpPr>
          <p:cNvPr name="TextBox 10" id="10"/>
          <p:cNvSpPr txBox="true"/>
          <p:nvPr/>
        </p:nvSpPr>
        <p:spPr>
          <a:xfrm rot="0">
            <a:off x="9505998" y="7075170"/>
            <a:ext cx="3531870" cy="1952244"/>
          </a:xfrm>
          <a:prstGeom prst="rect">
            <a:avLst/>
          </a:prstGeom>
        </p:spPr>
        <p:txBody>
          <a:bodyPr anchor="t" rtlCol="false" tIns="0" lIns="0" bIns="0" rIns="0">
            <a:spAutoFit/>
          </a:bodyPr>
          <a:lstStyle/>
          <a:p>
            <a:pPr algn="ctr">
              <a:lnSpc>
                <a:spcPts val="3078"/>
              </a:lnSpc>
            </a:pPr>
            <a:r>
              <a:rPr lang="en-US" sz="2250">
                <a:solidFill>
                  <a:srgbClr val="FFFFFF"/>
                </a:solidFill>
                <a:latin typeface="Work Sans"/>
                <a:ea typeface="Work Sans"/>
                <a:cs typeface="Work Sans"/>
                <a:sym typeface="Work Sans"/>
              </a:rPr>
              <a:t>Perform UDS over ISO-TP communication for ECU identification, session control, and fault analysis.</a:t>
            </a:r>
          </a:p>
        </p:txBody>
      </p:sp>
      <p:sp>
        <p:nvSpPr>
          <p:cNvPr name="TextBox 11" id="11"/>
          <p:cNvSpPr txBox="true"/>
          <p:nvPr/>
        </p:nvSpPr>
        <p:spPr>
          <a:xfrm rot="0">
            <a:off x="13796667" y="6422641"/>
            <a:ext cx="3531870"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Work Sans Medium"/>
                <a:ea typeface="Work Sans Medium"/>
                <a:cs typeface="Work Sans Medium"/>
                <a:sym typeface="Work Sans Medium"/>
              </a:rPr>
              <a:t>LOGGING</a:t>
            </a:r>
          </a:p>
        </p:txBody>
      </p:sp>
      <p:sp>
        <p:nvSpPr>
          <p:cNvPr name="TextBox 12" id="12"/>
          <p:cNvSpPr txBox="true"/>
          <p:nvPr/>
        </p:nvSpPr>
        <p:spPr>
          <a:xfrm rot="0">
            <a:off x="13796667" y="7075170"/>
            <a:ext cx="3531870" cy="1561719"/>
          </a:xfrm>
          <a:prstGeom prst="rect">
            <a:avLst/>
          </a:prstGeom>
        </p:spPr>
        <p:txBody>
          <a:bodyPr anchor="t" rtlCol="false" tIns="0" lIns="0" bIns="0" rIns="0">
            <a:spAutoFit/>
          </a:bodyPr>
          <a:lstStyle/>
          <a:p>
            <a:pPr algn="ctr">
              <a:lnSpc>
                <a:spcPts val="3078"/>
              </a:lnSpc>
            </a:pPr>
            <a:r>
              <a:rPr lang="en-US" sz="2250">
                <a:solidFill>
                  <a:srgbClr val="FFFFFF"/>
                </a:solidFill>
                <a:latin typeface="Work Sans"/>
                <a:ea typeface="Work Sans"/>
                <a:cs typeface="Work Sans"/>
                <a:sym typeface="Work Sans"/>
              </a:rPr>
              <a:t>Record CAN frames and decoded signals with timestamps in persistent storage.</a:t>
            </a:r>
          </a:p>
        </p:txBody>
      </p:sp>
      <p:grpSp>
        <p:nvGrpSpPr>
          <p:cNvPr name="Group 13" id="13"/>
          <p:cNvGrpSpPr/>
          <p:nvPr/>
        </p:nvGrpSpPr>
        <p:grpSpPr>
          <a:xfrm rot="0">
            <a:off x="16784479" y="9491358"/>
            <a:ext cx="697335" cy="357088"/>
            <a:chOff x="0" y="0"/>
            <a:chExt cx="929780" cy="476118"/>
          </a:xfrm>
        </p:grpSpPr>
        <p:sp>
          <p:nvSpPr>
            <p:cNvPr name="Freeform 14" id="14"/>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5" id="15"/>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6</a:t>
              </a:r>
            </a:p>
          </p:txBody>
        </p:sp>
      </p:grpSp>
      <p:grpSp>
        <p:nvGrpSpPr>
          <p:cNvPr name="Group 16" id="16"/>
          <p:cNvGrpSpPr/>
          <p:nvPr/>
        </p:nvGrpSpPr>
        <p:grpSpPr>
          <a:xfrm rot="0">
            <a:off x="1608277" y="3584381"/>
            <a:ext cx="2186997" cy="2186997"/>
            <a:chOff x="0" y="0"/>
            <a:chExt cx="2915996" cy="2915996"/>
          </a:xfrm>
        </p:grpSpPr>
        <p:sp>
          <p:nvSpPr>
            <p:cNvPr name="Freeform 17" id="17"/>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B0FF45"/>
            </a:solidFill>
          </p:spPr>
        </p:sp>
      </p:grpSp>
      <p:grpSp>
        <p:nvGrpSpPr>
          <p:cNvPr name="Group 18" id="18"/>
          <p:cNvGrpSpPr/>
          <p:nvPr/>
        </p:nvGrpSpPr>
        <p:grpSpPr>
          <a:xfrm rot="0">
            <a:off x="5876420" y="3584381"/>
            <a:ext cx="2186997" cy="2186997"/>
            <a:chOff x="0" y="0"/>
            <a:chExt cx="2915996" cy="2915996"/>
          </a:xfrm>
        </p:grpSpPr>
        <p:sp>
          <p:nvSpPr>
            <p:cNvPr name="Freeform 19" id="19"/>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8FDB00"/>
            </a:solidFill>
          </p:spPr>
        </p:sp>
      </p:grpSp>
      <p:grpSp>
        <p:nvGrpSpPr>
          <p:cNvPr name="Group 20" id="20"/>
          <p:cNvGrpSpPr/>
          <p:nvPr/>
        </p:nvGrpSpPr>
        <p:grpSpPr>
          <a:xfrm rot="0">
            <a:off x="10223811" y="3584381"/>
            <a:ext cx="2186997" cy="2186997"/>
            <a:chOff x="0" y="0"/>
            <a:chExt cx="2915996" cy="2915996"/>
          </a:xfrm>
        </p:grpSpPr>
        <p:sp>
          <p:nvSpPr>
            <p:cNvPr name="Freeform 21" id="21"/>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428003"/>
            </a:solidFill>
          </p:spPr>
        </p:sp>
      </p:grpSp>
      <p:grpSp>
        <p:nvGrpSpPr>
          <p:cNvPr name="Group 22" id="22"/>
          <p:cNvGrpSpPr/>
          <p:nvPr/>
        </p:nvGrpSpPr>
        <p:grpSpPr>
          <a:xfrm rot="0">
            <a:off x="14597482" y="3584381"/>
            <a:ext cx="2186997" cy="2186997"/>
            <a:chOff x="0" y="0"/>
            <a:chExt cx="2915996" cy="2915996"/>
          </a:xfrm>
        </p:grpSpPr>
        <p:sp>
          <p:nvSpPr>
            <p:cNvPr name="Freeform 23" id="23"/>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B0FF45"/>
            </a:solidFill>
          </p:spPr>
        </p:sp>
      </p:grpSp>
      <p:grpSp>
        <p:nvGrpSpPr>
          <p:cNvPr name="Group 24" id="24"/>
          <p:cNvGrpSpPr/>
          <p:nvPr/>
        </p:nvGrpSpPr>
        <p:grpSpPr>
          <a:xfrm rot="0">
            <a:off x="6442497" y="4163746"/>
            <a:ext cx="1129491" cy="1129491"/>
            <a:chOff x="0" y="0"/>
            <a:chExt cx="721436" cy="721436"/>
          </a:xfrm>
        </p:grpSpPr>
        <p:sp>
          <p:nvSpPr>
            <p:cNvPr name="Freeform 25" id="25" descr="icons/satellite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4"/>
              <a:stretch>
                <a:fillRect l="0" t="0" r="7" b="7"/>
              </a:stretch>
            </a:blipFill>
          </p:spPr>
        </p:sp>
      </p:grpSp>
      <p:grpSp>
        <p:nvGrpSpPr>
          <p:cNvPr name="Group 26" id="26"/>
          <p:cNvGrpSpPr/>
          <p:nvPr/>
        </p:nvGrpSpPr>
        <p:grpSpPr>
          <a:xfrm rot="0">
            <a:off x="2137030" y="4113134"/>
            <a:ext cx="1129491" cy="1129491"/>
            <a:chOff x="0" y="0"/>
            <a:chExt cx="721436" cy="721436"/>
          </a:xfrm>
        </p:grpSpPr>
        <p:sp>
          <p:nvSpPr>
            <p:cNvPr name="Freeform 27" id="27" descr="icons/tacho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5"/>
              <a:stretch>
                <a:fillRect l="0" t="0" r="7" b="7"/>
              </a:stretch>
            </a:blipFill>
          </p:spPr>
        </p:sp>
      </p:grpSp>
      <p:grpSp>
        <p:nvGrpSpPr>
          <p:cNvPr name="Group 28" id="28"/>
          <p:cNvGrpSpPr/>
          <p:nvPr/>
        </p:nvGrpSpPr>
        <p:grpSpPr>
          <a:xfrm rot="0">
            <a:off x="10782999" y="4143570"/>
            <a:ext cx="1068620" cy="1068620"/>
            <a:chOff x="0" y="0"/>
            <a:chExt cx="721436" cy="721436"/>
          </a:xfrm>
        </p:grpSpPr>
        <p:sp>
          <p:nvSpPr>
            <p:cNvPr name="Freeform 29" id="29" descr="icons/shield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6"/>
              <a:stretch>
                <a:fillRect l="0" t="0" r="7" b="7"/>
              </a:stretch>
            </a:blipFill>
          </p:spPr>
        </p:sp>
      </p:grpSp>
      <p:grpSp>
        <p:nvGrpSpPr>
          <p:cNvPr name="Group 30" id="30"/>
          <p:cNvGrpSpPr/>
          <p:nvPr/>
        </p:nvGrpSpPr>
        <p:grpSpPr>
          <a:xfrm rot="0">
            <a:off x="15178592" y="4216103"/>
            <a:ext cx="1024776" cy="1024776"/>
            <a:chOff x="0" y="0"/>
            <a:chExt cx="721436" cy="721436"/>
          </a:xfrm>
        </p:grpSpPr>
        <p:sp>
          <p:nvSpPr>
            <p:cNvPr name="Freeform 31" id="31" descr="icons/save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7"/>
              <a:stretch>
                <a:fillRect l="0" t="0" r="7" b="7"/>
              </a:stretch>
            </a:blipFill>
          </p:spPr>
        </p:sp>
      </p:grpSp>
      <p:grpSp>
        <p:nvGrpSpPr>
          <p:cNvPr name="Group 32" id="32"/>
          <p:cNvGrpSpPr/>
          <p:nvPr/>
        </p:nvGrpSpPr>
        <p:grpSpPr>
          <a:xfrm rot="0">
            <a:off x="14432971" y="340693"/>
            <a:ext cx="3531112" cy="688007"/>
            <a:chOff x="0" y="0"/>
            <a:chExt cx="4708150" cy="917342"/>
          </a:xfrm>
        </p:grpSpPr>
        <p:sp>
          <p:nvSpPr>
            <p:cNvPr name="Freeform 33" id="33"/>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8"/>
              <a:stretch>
                <a:fillRect l="0" t="-1644" r="0" b="-1644"/>
              </a:stretch>
            </a:blipFill>
            <a:ln cap="sq">
              <a:noFill/>
              <a:prstDash val="solid"/>
              <a:miter/>
            </a:ln>
          </p:spPr>
        </p:sp>
        <p:sp>
          <p:nvSpPr>
            <p:cNvPr name="TextBox 34" id="34"/>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1/8</a:t>
              </a:r>
            </a:p>
          </p:txBody>
        </p:sp>
      </p:grpSp>
      <p:sp>
        <p:nvSpPr>
          <p:cNvPr name="AutoShape 35" id="35"/>
          <p:cNvSpPr/>
          <p:nvPr/>
        </p:nvSpPr>
        <p:spPr>
          <a:xfrm flipV="true">
            <a:off x="926309" y="1619964"/>
            <a:ext cx="5429263" cy="0"/>
          </a:xfrm>
          <a:prstGeom prst="line">
            <a:avLst/>
          </a:prstGeom>
          <a:ln cap="flat" w="38100">
            <a:solidFill>
              <a:srgbClr val="622AD8"/>
            </a:solidFill>
            <a:prstDash val="solid"/>
            <a:headEnd type="none" len="sm" w="sm"/>
            <a:tailEnd type="oval" len="lg" w="lg"/>
          </a:ln>
        </p:spPr>
      </p:sp>
      <p:grpSp>
        <p:nvGrpSpPr>
          <p:cNvPr name="Group 36" id="36"/>
          <p:cNvGrpSpPr/>
          <p:nvPr/>
        </p:nvGrpSpPr>
        <p:grpSpPr>
          <a:xfrm rot="0">
            <a:off x="15325725" y="9491367"/>
            <a:ext cx="1299210" cy="357077"/>
            <a:chOff x="0" y="0"/>
            <a:chExt cx="1732280" cy="476102"/>
          </a:xfrm>
        </p:grpSpPr>
        <p:sp>
          <p:nvSpPr>
            <p:cNvPr name="Freeform 37" id="37"/>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38" id="38"/>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39" id="39"/>
          <p:cNvGrpSpPr/>
          <p:nvPr/>
        </p:nvGrpSpPr>
        <p:grpSpPr>
          <a:xfrm rot="0">
            <a:off x="926309" y="9491358"/>
            <a:ext cx="2807304" cy="493053"/>
            <a:chOff x="0" y="0"/>
            <a:chExt cx="3743072" cy="657404"/>
          </a:xfrm>
        </p:grpSpPr>
        <p:sp>
          <p:nvSpPr>
            <p:cNvPr name="Freeform 40" id="40"/>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1" id="41"/>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42" id="42"/>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Functio</a:t>
            </a:r>
            <a:r>
              <a:rPr lang="en-US" b="true" sz="4200" spc="-30">
                <a:solidFill>
                  <a:srgbClr val="E6E7E8"/>
                </a:solidFill>
                <a:latin typeface="Work Sans Medium"/>
                <a:ea typeface="Work Sans Medium"/>
                <a:cs typeface="Work Sans Medium"/>
                <a:sym typeface="Work Sans Medium"/>
              </a:rPr>
              <a:t>nal Requirements</a:t>
            </a:r>
          </a:p>
        </p:txBody>
      </p:sp>
      <p:grpSp>
        <p:nvGrpSpPr>
          <p:cNvPr name="Group 4" id="4"/>
          <p:cNvGrpSpPr/>
          <p:nvPr/>
        </p:nvGrpSpPr>
        <p:grpSpPr>
          <a:xfrm rot="0">
            <a:off x="6653212" y="3080614"/>
            <a:ext cx="2486025" cy="2486025"/>
            <a:chOff x="0" y="0"/>
            <a:chExt cx="3314700" cy="3314700"/>
          </a:xfrm>
        </p:grpSpPr>
        <p:sp>
          <p:nvSpPr>
            <p:cNvPr name="Freeform 5" id="5"/>
            <p:cNvSpPr/>
            <p:nvPr/>
          </p:nvSpPr>
          <p:spPr>
            <a:xfrm flipH="false" flipV="false" rot="0">
              <a:off x="0" y="0"/>
              <a:ext cx="3314700" cy="3314700"/>
            </a:xfrm>
            <a:custGeom>
              <a:avLst/>
              <a:gdLst/>
              <a:ahLst/>
              <a:cxnLst/>
              <a:rect r="r" b="b" t="t" l="l"/>
              <a:pathLst>
                <a:path h="3314700" w="3314700">
                  <a:moveTo>
                    <a:pt x="0" y="0"/>
                  </a:moveTo>
                  <a:lnTo>
                    <a:pt x="3314700" y="0"/>
                  </a:lnTo>
                  <a:lnTo>
                    <a:pt x="3314700" y="3314700"/>
                  </a:lnTo>
                  <a:lnTo>
                    <a:pt x="0" y="3314700"/>
                  </a:lnTo>
                  <a:close/>
                </a:path>
              </a:pathLst>
            </a:custGeom>
            <a:solidFill>
              <a:srgbClr val="B0FF45"/>
            </a:solidFill>
          </p:spPr>
        </p:sp>
        <p:sp>
          <p:nvSpPr>
            <p:cNvPr name="TextBox 6" id="6"/>
            <p:cNvSpPr txBox="true"/>
            <p:nvPr/>
          </p:nvSpPr>
          <p:spPr>
            <a:xfrm>
              <a:off x="0" y="85725"/>
              <a:ext cx="3314700" cy="3228975"/>
            </a:xfrm>
            <a:prstGeom prst="rect">
              <a:avLst/>
            </a:prstGeom>
          </p:spPr>
          <p:txBody>
            <a:bodyPr anchor="ctr" rtlCol="false" tIns="50800" lIns="50800" bIns="50800" rIns="50800"/>
            <a:lstStyle/>
            <a:p>
              <a:pPr algn="ctr">
                <a:lnSpc>
                  <a:spcPts val="9720"/>
                </a:lnSpc>
              </a:pPr>
              <a:r>
                <a:rPr lang="en-US" sz="9000">
                  <a:solidFill>
                    <a:srgbClr val="FFFFFF"/>
                  </a:solidFill>
                  <a:latin typeface="Work Sans"/>
                  <a:ea typeface="Work Sans"/>
                  <a:cs typeface="Work Sans"/>
                  <a:sym typeface="Work Sans"/>
                </a:rPr>
                <a:t>S</a:t>
              </a:r>
            </a:p>
            <a:p>
              <a:pPr algn="ctr">
                <a:lnSpc>
                  <a:spcPts val="2430"/>
                </a:lnSpc>
              </a:pPr>
              <a:r>
                <a:rPr lang="en-US" sz="2250">
                  <a:solidFill>
                    <a:srgbClr val="FFFFFF"/>
                  </a:solidFill>
                  <a:latin typeface="Work Sans"/>
                  <a:ea typeface="Work Sans"/>
                  <a:cs typeface="Work Sans"/>
                  <a:sym typeface="Work Sans"/>
                </a:rPr>
                <a:t>SIMULATION</a:t>
              </a:r>
            </a:p>
          </p:txBody>
        </p:sp>
      </p:grpSp>
      <p:grpSp>
        <p:nvGrpSpPr>
          <p:cNvPr name="Group 7" id="7"/>
          <p:cNvGrpSpPr/>
          <p:nvPr/>
        </p:nvGrpSpPr>
        <p:grpSpPr>
          <a:xfrm rot="0">
            <a:off x="9139238" y="3080614"/>
            <a:ext cx="2486025" cy="2486025"/>
            <a:chOff x="0" y="0"/>
            <a:chExt cx="3314700" cy="3314700"/>
          </a:xfrm>
        </p:grpSpPr>
        <p:sp>
          <p:nvSpPr>
            <p:cNvPr name="Freeform 8" id="8"/>
            <p:cNvSpPr/>
            <p:nvPr/>
          </p:nvSpPr>
          <p:spPr>
            <a:xfrm flipH="false" flipV="false" rot="0">
              <a:off x="0" y="0"/>
              <a:ext cx="3314700" cy="3314700"/>
            </a:xfrm>
            <a:custGeom>
              <a:avLst/>
              <a:gdLst/>
              <a:ahLst/>
              <a:cxnLst/>
              <a:rect r="r" b="b" t="t" l="l"/>
              <a:pathLst>
                <a:path h="3314700" w="3314700">
                  <a:moveTo>
                    <a:pt x="0" y="0"/>
                  </a:moveTo>
                  <a:lnTo>
                    <a:pt x="3314700" y="0"/>
                  </a:lnTo>
                  <a:lnTo>
                    <a:pt x="3314700" y="3314700"/>
                  </a:lnTo>
                  <a:lnTo>
                    <a:pt x="0" y="3314700"/>
                  </a:lnTo>
                  <a:close/>
                </a:path>
              </a:pathLst>
            </a:custGeom>
            <a:solidFill>
              <a:srgbClr val="8FDB00"/>
            </a:solidFill>
          </p:spPr>
        </p:sp>
        <p:sp>
          <p:nvSpPr>
            <p:cNvPr name="TextBox 9" id="9"/>
            <p:cNvSpPr txBox="true"/>
            <p:nvPr/>
          </p:nvSpPr>
          <p:spPr>
            <a:xfrm>
              <a:off x="0" y="85725"/>
              <a:ext cx="3314700" cy="3228975"/>
            </a:xfrm>
            <a:prstGeom prst="rect">
              <a:avLst/>
            </a:prstGeom>
          </p:spPr>
          <p:txBody>
            <a:bodyPr anchor="ctr" rtlCol="false" tIns="50800" lIns="50800" bIns="50800" rIns="50800"/>
            <a:lstStyle/>
            <a:p>
              <a:pPr algn="ctr">
                <a:lnSpc>
                  <a:spcPts val="9720"/>
                </a:lnSpc>
              </a:pPr>
              <a:r>
                <a:rPr lang="en-US" sz="9000">
                  <a:solidFill>
                    <a:srgbClr val="FFFFFF"/>
                  </a:solidFill>
                  <a:latin typeface="Work Sans"/>
                  <a:ea typeface="Work Sans"/>
                  <a:cs typeface="Work Sans"/>
                  <a:sym typeface="Work Sans"/>
                </a:rPr>
                <a:t>M</a:t>
              </a:r>
            </a:p>
            <a:p>
              <a:pPr algn="ctr">
                <a:lnSpc>
                  <a:spcPts val="1755"/>
                </a:lnSpc>
              </a:pPr>
              <a:r>
                <a:rPr lang="en-US" sz="2250">
                  <a:solidFill>
                    <a:srgbClr val="FFFFFF"/>
                  </a:solidFill>
                  <a:latin typeface="Work Sans"/>
                  <a:ea typeface="Work Sans"/>
                  <a:cs typeface="Work Sans"/>
                  <a:sym typeface="Work Sans"/>
                </a:rPr>
                <a:t>MO</a:t>
              </a:r>
              <a:r>
                <a:rPr lang="en-US" sz="2250">
                  <a:solidFill>
                    <a:srgbClr val="FFFFFF"/>
                  </a:solidFill>
                  <a:latin typeface="Work Sans"/>
                  <a:ea typeface="Work Sans"/>
                  <a:cs typeface="Work Sans"/>
                  <a:sym typeface="Work Sans"/>
                </a:rPr>
                <a:t>NITORING</a:t>
              </a:r>
            </a:p>
          </p:txBody>
        </p:sp>
      </p:grpSp>
      <p:grpSp>
        <p:nvGrpSpPr>
          <p:cNvPr name="Group 10" id="10"/>
          <p:cNvGrpSpPr/>
          <p:nvPr/>
        </p:nvGrpSpPr>
        <p:grpSpPr>
          <a:xfrm rot="0">
            <a:off x="6653212" y="5566639"/>
            <a:ext cx="2486025" cy="2486025"/>
            <a:chOff x="0" y="0"/>
            <a:chExt cx="3314700" cy="3314700"/>
          </a:xfrm>
        </p:grpSpPr>
        <p:sp>
          <p:nvSpPr>
            <p:cNvPr name="Freeform 11" id="11"/>
            <p:cNvSpPr/>
            <p:nvPr/>
          </p:nvSpPr>
          <p:spPr>
            <a:xfrm flipH="false" flipV="false" rot="0">
              <a:off x="0" y="0"/>
              <a:ext cx="3314700" cy="3314700"/>
            </a:xfrm>
            <a:custGeom>
              <a:avLst/>
              <a:gdLst/>
              <a:ahLst/>
              <a:cxnLst/>
              <a:rect r="r" b="b" t="t" l="l"/>
              <a:pathLst>
                <a:path h="3314700" w="3314700">
                  <a:moveTo>
                    <a:pt x="0" y="0"/>
                  </a:moveTo>
                  <a:lnTo>
                    <a:pt x="3314700" y="0"/>
                  </a:lnTo>
                  <a:lnTo>
                    <a:pt x="3314700" y="3314700"/>
                  </a:lnTo>
                  <a:lnTo>
                    <a:pt x="0" y="3314700"/>
                  </a:lnTo>
                  <a:close/>
                </a:path>
              </a:pathLst>
            </a:custGeom>
            <a:solidFill>
              <a:srgbClr val="428003"/>
            </a:solidFill>
          </p:spPr>
        </p:sp>
        <p:sp>
          <p:nvSpPr>
            <p:cNvPr name="TextBox 12" id="12"/>
            <p:cNvSpPr txBox="true"/>
            <p:nvPr/>
          </p:nvSpPr>
          <p:spPr>
            <a:xfrm>
              <a:off x="0" y="85725"/>
              <a:ext cx="3314700" cy="3228975"/>
            </a:xfrm>
            <a:prstGeom prst="rect">
              <a:avLst/>
            </a:prstGeom>
          </p:spPr>
          <p:txBody>
            <a:bodyPr anchor="ctr" rtlCol="false" tIns="50800" lIns="50800" bIns="50800" rIns="50800"/>
            <a:lstStyle/>
            <a:p>
              <a:pPr algn="ctr">
                <a:lnSpc>
                  <a:spcPts val="9720"/>
                </a:lnSpc>
              </a:pPr>
              <a:r>
                <a:rPr lang="en-US" sz="9000">
                  <a:solidFill>
                    <a:srgbClr val="FFFFFF"/>
                  </a:solidFill>
                  <a:latin typeface="Work Sans"/>
                  <a:ea typeface="Work Sans"/>
                  <a:cs typeface="Work Sans"/>
                  <a:sym typeface="Work Sans"/>
                </a:rPr>
                <a:t>L</a:t>
              </a:r>
            </a:p>
            <a:p>
              <a:pPr algn="ctr">
                <a:lnSpc>
                  <a:spcPts val="2430"/>
                </a:lnSpc>
              </a:pPr>
              <a:r>
                <a:rPr lang="en-US" sz="2250">
                  <a:solidFill>
                    <a:srgbClr val="FFFFFF"/>
                  </a:solidFill>
                  <a:latin typeface="Work Sans"/>
                  <a:ea typeface="Work Sans"/>
                  <a:cs typeface="Work Sans"/>
                  <a:sym typeface="Work Sans"/>
                </a:rPr>
                <a:t>L</a:t>
              </a:r>
              <a:r>
                <a:rPr lang="en-US" sz="2250">
                  <a:solidFill>
                    <a:srgbClr val="FFFFFF"/>
                  </a:solidFill>
                  <a:latin typeface="Work Sans"/>
                  <a:ea typeface="Work Sans"/>
                  <a:cs typeface="Work Sans"/>
                  <a:sym typeface="Work Sans"/>
                </a:rPr>
                <a:t>OGGING</a:t>
              </a:r>
            </a:p>
          </p:txBody>
        </p:sp>
      </p:grpSp>
      <p:grpSp>
        <p:nvGrpSpPr>
          <p:cNvPr name="Group 13" id="13"/>
          <p:cNvGrpSpPr/>
          <p:nvPr/>
        </p:nvGrpSpPr>
        <p:grpSpPr>
          <a:xfrm rot="0">
            <a:off x="9139238" y="5566639"/>
            <a:ext cx="2486025" cy="2486025"/>
            <a:chOff x="0" y="0"/>
            <a:chExt cx="3314700" cy="3314700"/>
          </a:xfrm>
        </p:grpSpPr>
        <p:sp>
          <p:nvSpPr>
            <p:cNvPr name="Freeform 14" id="14"/>
            <p:cNvSpPr/>
            <p:nvPr/>
          </p:nvSpPr>
          <p:spPr>
            <a:xfrm flipH="false" flipV="false" rot="0">
              <a:off x="0" y="0"/>
              <a:ext cx="3314700" cy="3314700"/>
            </a:xfrm>
            <a:custGeom>
              <a:avLst/>
              <a:gdLst/>
              <a:ahLst/>
              <a:cxnLst/>
              <a:rect r="r" b="b" t="t" l="l"/>
              <a:pathLst>
                <a:path h="3314700" w="3314700">
                  <a:moveTo>
                    <a:pt x="0" y="0"/>
                  </a:moveTo>
                  <a:lnTo>
                    <a:pt x="3314700" y="0"/>
                  </a:lnTo>
                  <a:lnTo>
                    <a:pt x="3314700" y="3314700"/>
                  </a:lnTo>
                  <a:lnTo>
                    <a:pt x="0" y="3314700"/>
                  </a:lnTo>
                  <a:close/>
                </a:path>
              </a:pathLst>
            </a:custGeom>
            <a:solidFill>
              <a:srgbClr val="753DFF"/>
            </a:solidFill>
          </p:spPr>
        </p:sp>
        <p:sp>
          <p:nvSpPr>
            <p:cNvPr name="TextBox 15" id="15"/>
            <p:cNvSpPr txBox="true"/>
            <p:nvPr/>
          </p:nvSpPr>
          <p:spPr>
            <a:xfrm>
              <a:off x="0" y="85725"/>
              <a:ext cx="3314700" cy="3228975"/>
            </a:xfrm>
            <a:prstGeom prst="rect">
              <a:avLst/>
            </a:prstGeom>
          </p:spPr>
          <p:txBody>
            <a:bodyPr anchor="ctr" rtlCol="false" tIns="50800" lIns="50800" bIns="50800" rIns="50800"/>
            <a:lstStyle/>
            <a:p>
              <a:pPr algn="ctr">
                <a:lnSpc>
                  <a:spcPts val="9720"/>
                </a:lnSpc>
              </a:pPr>
              <a:r>
                <a:rPr lang="en-US" sz="9000">
                  <a:solidFill>
                    <a:srgbClr val="161718"/>
                  </a:solidFill>
                  <a:latin typeface="Work Sans"/>
                  <a:ea typeface="Work Sans"/>
                  <a:cs typeface="Work Sans"/>
                  <a:sym typeface="Work Sans"/>
                </a:rPr>
                <a:t>D</a:t>
              </a:r>
            </a:p>
            <a:p>
              <a:pPr algn="ctr">
                <a:lnSpc>
                  <a:spcPts val="2430"/>
                </a:lnSpc>
              </a:pPr>
              <a:r>
                <a:rPr lang="en-US" sz="2250">
                  <a:solidFill>
                    <a:srgbClr val="161718"/>
                  </a:solidFill>
                  <a:latin typeface="Work Sans"/>
                  <a:ea typeface="Work Sans"/>
                  <a:cs typeface="Work Sans"/>
                  <a:sym typeface="Work Sans"/>
                </a:rPr>
                <a:t>DI</a:t>
              </a:r>
              <a:r>
                <a:rPr lang="en-US" sz="2250">
                  <a:solidFill>
                    <a:srgbClr val="161718"/>
                  </a:solidFill>
                  <a:latin typeface="Work Sans"/>
                  <a:ea typeface="Work Sans"/>
                  <a:cs typeface="Work Sans"/>
                  <a:sym typeface="Work Sans"/>
                </a:rPr>
                <a:t>AGNOSTICS</a:t>
              </a:r>
            </a:p>
          </p:txBody>
        </p:sp>
      </p:grpSp>
      <p:sp>
        <p:nvSpPr>
          <p:cNvPr name="TextBox 16" id="16"/>
          <p:cNvSpPr txBox="true"/>
          <p:nvPr/>
        </p:nvSpPr>
        <p:spPr>
          <a:xfrm rot="0">
            <a:off x="12330446" y="3139802"/>
            <a:ext cx="5526601" cy="2438095"/>
          </a:xfrm>
          <a:prstGeom prst="rect">
            <a:avLst/>
          </a:prstGeom>
        </p:spPr>
        <p:txBody>
          <a:bodyPr anchor="t" rtlCol="false" tIns="0" lIns="0" bIns="0" rIns="0">
            <a:spAutoFit/>
          </a:bodyPr>
          <a:lstStyle/>
          <a:p>
            <a:pPr algn="l">
              <a:lnSpc>
                <a:spcPts val="2462"/>
              </a:lnSpc>
            </a:pPr>
            <a:r>
              <a:rPr lang="en-US" sz="1800">
                <a:solidFill>
                  <a:srgbClr val="FFFFFF"/>
                </a:solidFill>
                <a:latin typeface="Work Sans"/>
                <a:ea typeface="Work Sans"/>
                <a:cs typeface="Work Sans"/>
                <a:sym typeface="Work Sans"/>
              </a:rPr>
              <a:t>500</a:t>
            </a:r>
            <a:r>
              <a:rPr lang="en-US" sz="1800">
                <a:solidFill>
                  <a:srgbClr val="FFFFFF"/>
                </a:solidFill>
                <a:latin typeface="Work Sans"/>
                <a:ea typeface="Work Sans"/>
                <a:cs typeface="Work Sans"/>
                <a:sym typeface="Work Sans"/>
              </a:rPr>
              <a:t> kbps standard CAN via SocketCAN, 87.5% sample point</a:t>
            </a:r>
          </a:p>
          <a:p>
            <a:pPr algn="l">
              <a:lnSpc>
                <a:spcPts val="2462"/>
              </a:lnSpc>
            </a:pPr>
          </a:p>
          <a:p>
            <a:pPr algn="l">
              <a:lnSpc>
                <a:spcPts val="2462"/>
              </a:lnSpc>
            </a:pPr>
            <a:r>
              <a:rPr lang="en-US" sz="1800">
                <a:solidFill>
                  <a:srgbClr val="FFFFFF"/>
                </a:solidFill>
                <a:latin typeface="Work Sans"/>
                <a:ea typeface="Work Sans"/>
                <a:cs typeface="Work Sans"/>
                <a:sym typeface="Work Sans"/>
              </a:rPr>
              <a:t>Monitor interface state and reinitialize on error </a:t>
            </a:r>
          </a:p>
          <a:p>
            <a:pPr algn="l">
              <a:lnSpc>
                <a:spcPts val="2462"/>
              </a:lnSpc>
            </a:pPr>
          </a:p>
          <a:p>
            <a:pPr algn="l">
              <a:lnSpc>
                <a:spcPts val="2462"/>
              </a:lnSpc>
            </a:pPr>
            <a:r>
              <a:rPr lang="en-US" sz="1800">
                <a:solidFill>
                  <a:srgbClr val="FFFFFF"/>
                </a:solidFill>
                <a:latin typeface="Work Sans"/>
                <a:ea typeface="Work Sans"/>
                <a:cs typeface="Work Sans"/>
                <a:sym typeface="Work Sans"/>
              </a:rPr>
              <a:t>DBC-based decoding: Physical = Raw × Scale + Offset </a:t>
            </a:r>
          </a:p>
          <a:p>
            <a:pPr algn="l">
              <a:lnSpc>
                <a:spcPts val="2462"/>
              </a:lnSpc>
            </a:pPr>
          </a:p>
        </p:txBody>
      </p:sp>
      <p:sp>
        <p:nvSpPr>
          <p:cNvPr name="TextBox 17" id="17"/>
          <p:cNvSpPr txBox="true"/>
          <p:nvPr/>
        </p:nvSpPr>
        <p:spPr>
          <a:xfrm rot="0">
            <a:off x="12330446" y="5713228"/>
            <a:ext cx="5059928" cy="2133295"/>
          </a:xfrm>
          <a:prstGeom prst="rect">
            <a:avLst/>
          </a:prstGeom>
        </p:spPr>
        <p:txBody>
          <a:bodyPr anchor="t" rtlCol="false" tIns="0" lIns="0" bIns="0" rIns="0">
            <a:spAutoFit/>
          </a:bodyPr>
          <a:lstStyle/>
          <a:p>
            <a:pPr algn="l">
              <a:lnSpc>
                <a:spcPts val="2462"/>
              </a:lnSpc>
            </a:pPr>
            <a:r>
              <a:rPr lang="en-US" sz="1800">
                <a:solidFill>
                  <a:srgbClr val="FFFFFF"/>
                </a:solidFill>
                <a:latin typeface="Work Sans"/>
                <a:ea typeface="Work Sans"/>
                <a:cs typeface="Work Sans"/>
                <a:sym typeface="Work Sans"/>
              </a:rPr>
              <a:t>CAN Communication Error Handling and Retry Mechanism </a:t>
            </a:r>
          </a:p>
          <a:p>
            <a:pPr algn="l">
              <a:lnSpc>
                <a:spcPts val="2462"/>
              </a:lnSpc>
            </a:pPr>
          </a:p>
          <a:p>
            <a:pPr algn="l">
              <a:lnSpc>
                <a:spcPts val="2462"/>
              </a:lnSpc>
            </a:pPr>
            <a:r>
              <a:rPr lang="en-US" sz="1800">
                <a:solidFill>
                  <a:srgbClr val="FFFFFF"/>
                </a:solidFill>
                <a:latin typeface="Work Sans"/>
                <a:ea typeface="Work Sans"/>
                <a:cs typeface="Work Sans"/>
                <a:sym typeface="Work Sans"/>
              </a:rPr>
              <a:t>Bus-off detection &amp; automatic recovery within 5s</a:t>
            </a:r>
          </a:p>
          <a:p>
            <a:pPr algn="l">
              <a:lnSpc>
                <a:spcPts val="2462"/>
              </a:lnSpc>
            </a:pPr>
          </a:p>
          <a:p>
            <a:pPr algn="l">
              <a:lnSpc>
                <a:spcPts val="2462"/>
              </a:lnSpc>
            </a:pPr>
            <a:r>
              <a:rPr lang="en-US" sz="1800">
                <a:solidFill>
                  <a:srgbClr val="FFFFFF"/>
                </a:solidFill>
                <a:latin typeface="Work Sans"/>
                <a:ea typeface="Work Sans"/>
                <a:cs typeface="Work Sans"/>
                <a:sym typeface="Work Sans"/>
              </a:rPr>
              <a:t>UDS (ISO 14229) over ISO-TP (ISO 15765-2)</a:t>
            </a:r>
          </a:p>
        </p:txBody>
      </p:sp>
      <p:grpSp>
        <p:nvGrpSpPr>
          <p:cNvPr name="Group 18" id="18"/>
          <p:cNvGrpSpPr/>
          <p:nvPr/>
        </p:nvGrpSpPr>
        <p:grpSpPr>
          <a:xfrm rot="0">
            <a:off x="6086475" y="3299631"/>
            <a:ext cx="108004" cy="108004"/>
            <a:chOff x="0" y="0"/>
            <a:chExt cx="144005" cy="144005"/>
          </a:xfrm>
        </p:grpSpPr>
        <p:sp>
          <p:nvSpPr>
            <p:cNvPr name="Freeform 19" id="19"/>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20" id="20"/>
          <p:cNvGrpSpPr/>
          <p:nvPr/>
        </p:nvGrpSpPr>
        <p:grpSpPr>
          <a:xfrm rot="0">
            <a:off x="6086475" y="4171702"/>
            <a:ext cx="108004" cy="108004"/>
            <a:chOff x="0" y="0"/>
            <a:chExt cx="144005" cy="144005"/>
          </a:xfrm>
        </p:grpSpPr>
        <p:sp>
          <p:nvSpPr>
            <p:cNvPr name="Freeform 21" id="21"/>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22" id="22"/>
          <p:cNvGrpSpPr/>
          <p:nvPr/>
        </p:nvGrpSpPr>
        <p:grpSpPr>
          <a:xfrm rot="0">
            <a:off x="6086475" y="5043783"/>
            <a:ext cx="108004" cy="108004"/>
            <a:chOff x="0" y="0"/>
            <a:chExt cx="144005" cy="144005"/>
          </a:xfrm>
        </p:grpSpPr>
        <p:sp>
          <p:nvSpPr>
            <p:cNvPr name="Freeform 23" id="23"/>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24" id="24"/>
          <p:cNvGrpSpPr/>
          <p:nvPr/>
        </p:nvGrpSpPr>
        <p:grpSpPr>
          <a:xfrm rot="0">
            <a:off x="6086475" y="5872629"/>
            <a:ext cx="108004" cy="108004"/>
            <a:chOff x="0" y="0"/>
            <a:chExt cx="144005" cy="144005"/>
          </a:xfrm>
        </p:grpSpPr>
        <p:sp>
          <p:nvSpPr>
            <p:cNvPr name="Freeform 25" id="25"/>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26" id="26"/>
          <p:cNvGrpSpPr/>
          <p:nvPr/>
        </p:nvGrpSpPr>
        <p:grpSpPr>
          <a:xfrm rot="0">
            <a:off x="6086475" y="6744700"/>
            <a:ext cx="108004" cy="108004"/>
            <a:chOff x="0" y="0"/>
            <a:chExt cx="144005" cy="144005"/>
          </a:xfrm>
        </p:grpSpPr>
        <p:sp>
          <p:nvSpPr>
            <p:cNvPr name="Freeform 27" id="27"/>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28" id="28"/>
          <p:cNvGrpSpPr/>
          <p:nvPr/>
        </p:nvGrpSpPr>
        <p:grpSpPr>
          <a:xfrm rot="0">
            <a:off x="6086475" y="7616771"/>
            <a:ext cx="108004" cy="108004"/>
            <a:chOff x="0" y="0"/>
            <a:chExt cx="144005" cy="144005"/>
          </a:xfrm>
        </p:grpSpPr>
        <p:sp>
          <p:nvSpPr>
            <p:cNvPr name="Freeform 29" id="29"/>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30" id="30"/>
          <p:cNvGrpSpPr/>
          <p:nvPr/>
        </p:nvGrpSpPr>
        <p:grpSpPr>
          <a:xfrm rot="0">
            <a:off x="12047353" y="3299631"/>
            <a:ext cx="108004" cy="108004"/>
            <a:chOff x="0" y="0"/>
            <a:chExt cx="144005" cy="144005"/>
          </a:xfrm>
        </p:grpSpPr>
        <p:sp>
          <p:nvSpPr>
            <p:cNvPr name="Freeform 31" id="31"/>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32" id="32"/>
          <p:cNvGrpSpPr/>
          <p:nvPr/>
        </p:nvGrpSpPr>
        <p:grpSpPr>
          <a:xfrm rot="0">
            <a:off x="12047353" y="4171702"/>
            <a:ext cx="108004" cy="108004"/>
            <a:chOff x="0" y="0"/>
            <a:chExt cx="144005" cy="144005"/>
          </a:xfrm>
        </p:grpSpPr>
        <p:sp>
          <p:nvSpPr>
            <p:cNvPr name="Freeform 33" id="33"/>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34" id="34"/>
          <p:cNvGrpSpPr/>
          <p:nvPr/>
        </p:nvGrpSpPr>
        <p:grpSpPr>
          <a:xfrm rot="0">
            <a:off x="12047353" y="5043783"/>
            <a:ext cx="108004" cy="108004"/>
            <a:chOff x="0" y="0"/>
            <a:chExt cx="144005" cy="144005"/>
          </a:xfrm>
        </p:grpSpPr>
        <p:sp>
          <p:nvSpPr>
            <p:cNvPr name="Freeform 35" id="35"/>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36" id="36"/>
          <p:cNvGrpSpPr/>
          <p:nvPr/>
        </p:nvGrpSpPr>
        <p:grpSpPr>
          <a:xfrm rot="0">
            <a:off x="12047353" y="5872629"/>
            <a:ext cx="108004" cy="108004"/>
            <a:chOff x="0" y="0"/>
            <a:chExt cx="144005" cy="144005"/>
          </a:xfrm>
        </p:grpSpPr>
        <p:sp>
          <p:nvSpPr>
            <p:cNvPr name="Freeform 37" id="37"/>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38" id="38"/>
          <p:cNvGrpSpPr/>
          <p:nvPr/>
        </p:nvGrpSpPr>
        <p:grpSpPr>
          <a:xfrm rot="0">
            <a:off x="12047353" y="6744700"/>
            <a:ext cx="108004" cy="108004"/>
            <a:chOff x="0" y="0"/>
            <a:chExt cx="144005" cy="144005"/>
          </a:xfrm>
        </p:grpSpPr>
        <p:sp>
          <p:nvSpPr>
            <p:cNvPr name="Freeform 39" id="39"/>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grpSp>
        <p:nvGrpSpPr>
          <p:cNvPr name="Group 40" id="40"/>
          <p:cNvGrpSpPr/>
          <p:nvPr/>
        </p:nvGrpSpPr>
        <p:grpSpPr>
          <a:xfrm rot="0">
            <a:off x="12047353" y="7616771"/>
            <a:ext cx="108004" cy="108004"/>
            <a:chOff x="0" y="0"/>
            <a:chExt cx="144005" cy="144005"/>
          </a:xfrm>
        </p:grpSpPr>
        <p:sp>
          <p:nvSpPr>
            <p:cNvPr name="Freeform 41" id="41"/>
            <p:cNvSpPr/>
            <p:nvPr/>
          </p:nvSpPr>
          <p:spPr>
            <a:xfrm flipH="false" flipV="false" rot="0">
              <a:off x="0" y="0"/>
              <a:ext cx="144018" cy="144018"/>
            </a:xfrm>
            <a:custGeom>
              <a:avLst/>
              <a:gdLst/>
              <a:ahLst/>
              <a:cxnLst/>
              <a:rect r="r" b="b" t="t" l="l"/>
              <a:pathLst>
                <a:path h="144018" w="144018">
                  <a:moveTo>
                    <a:pt x="0" y="72009"/>
                  </a:moveTo>
                  <a:cubicBezTo>
                    <a:pt x="0" y="32258"/>
                    <a:pt x="32258" y="0"/>
                    <a:pt x="72009" y="0"/>
                  </a:cubicBezTo>
                  <a:cubicBezTo>
                    <a:pt x="111760" y="0"/>
                    <a:pt x="144018" y="32258"/>
                    <a:pt x="144018" y="72009"/>
                  </a:cubicBezTo>
                  <a:cubicBezTo>
                    <a:pt x="144018" y="111760"/>
                    <a:pt x="111760" y="144018"/>
                    <a:pt x="72009" y="144018"/>
                  </a:cubicBezTo>
                  <a:cubicBezTo>
                    <a:pt x="32258" y="144018"/>
                    <a:pt x="0" y="111760"/>
                    <a:pt x="0" y="72009"/>
                  </a:cubicBezTo>
                  <a:close/>
                </a:path>
              </a:pathLst>
            </a:custGeom>
            <a:solidFill>
              <a:srgbClr val="622AD8"/>
            </a:solidFill>
          </p:spPr>
        </p:sp>
      </p:grpSp>
      <p:sp>
        <p:nvSpPr>
          <p:cNvPr name="TextBox 42" id="42"/>
          <p:cNvSpPr txBox="true"/>
          <p:nvPr/>
        </p:nvSpPr>
        <p:spPr>
          <a:xfrm rot="0">
            <a:off x="360606" y="3139802"/>
            <a:ext cx="5587471" cy="2438095"/>
          </a:xfrm>
          <a:prstGeom prst="rect">
            <a:avLst/>
          </a:prstGeom>
        </p:spPr>
        <p:txBody>
          <a:bodyPr anchor="t" rtlCol="false" tIns="0" lIns="0" bIns="0" rIns="0">
            <a:spAutoFit/>
          </a:bodyPr>
          <a:lstStyle/>
          <a:p>
            <a:pPr algn="r">
              <a:lnSpc>
                <a:spcPts val="2462"/>
              </a:lnSpc>
            </a:pPr>
            <a:r>
              <a:rPr lang="en-US" sz="1800">
                <a:solidFill>
                  <a:srgbClr val="FFFFFF"/>
                </a:solidFill>
                <a:latin typeface="Work Sans"/>
                <a:ea typeface="Work Sans"/>
                <a:cs typeface="Work Sans"/>
                <a:sym typeface="Work Sans"/>
              </a:rPr>
              <a:t>RPM, Vehicle Speed &amp; Coolant Temp ECU signal generation</a:t>
            </a:r>
          </a:p>
          <a:p>
            <a:pPr algn="r">
              <a:lnSpc>
                <a:spcPts val="2462"/>
              </a:lnSpc>
            </a:pPr>
          </a:p>
          <a:p>
            <a:pPr algn="r">
              <a:lnSpc>
                <a:spcPts val="2462"/>
              </a:lnSpc>
            </a:pPr>
            <a:r>
              <a:rPr lang="en-US" sz="1800">
                <a:solidFill>
                  <a:srgbClr val="FFFFFF"/>
                </a:solidFill>
                <a:latin typeface="Work Sans"/>
                <a:ea typeface="Work Sans"/>
                <a:cs typeface="Work Sans"/>
                <a:sym typeface="Work Sans"/>
              </a:rPr>
              <a:t>Static / Ramp / Sine / Random waveform profiles</a:t>
            </a:r>
          </a:p>
          <a:p>
            <a:pPr algn="r">
              <a:lnSpc>
                <a:spcPts val="2462"/>
              </a:lnSpc>
            </a:pPr>
          </a:p>
          <a:p>
            <a:pPr algn="r">
              <a:lnSpc>
                <a:spcPts val="2462"/>
              </a:lnSpc>
            </a:pPr>
            <a:r>
              <a:rPr lang="en-US" sz="1800">
                <a:solidFill>
                  <a:srgbClr val="FFFFFF"/>
                </a:solidFill>
                <a:latin typeface="Work Sans"/>
                <a:ea typeface="Work Sans"/>
                <a:cs typeface="Work Sans"/>
                <a:sym typeface="Work Sans"/>
              </a:rPr>
              <a:t>Real-time dashboard — 10 Hz refresh, &lt;100ms UI latency</a:t>
            </a:r>
          </a:p>
          <a:p>
            <a:pPr algn="r">
              <a:lnSpc>
                <a:spcPts val="2462"/>
              </a:lnSpc>
            </a:pPr>
            <a:r>
              <a:rPr lang="en-US" sz="1800">
                <a:solidFill>
                  <a:srgbClr val="FFFFFF"/>
                </a:solidFill>
                <a:latin typeface="Work Sans"/>
                <a:ea typeface="Work Sans"/>
                <a:cs typeface="Work Sans"/>
                <a:sym typeface="Work Sans"/>
              </a:rPr>
              <a:t> </a:t>
            </a:r>
          </a:p>
        </p:txBody>
      </p:sp>
      <p:sp>
        <p:nvSpPr>
          <p:cNvPr name="TextBox 43" id="43"/>
          <p:cNvSpPr txBox="true"/>
          <p:nvPr/>
        </p:nvSpPr>
        <p:spPr>
          <a:xfrm rot="0">
            <a:off x="888149" y="5788276"/>
            <a:ext cx="5059928" cy="1828495"/>
          </a:xfrm>
          <a:prstGeom prst="rect">
            <a:avLst/>
          </a:prstGeom>
        </p:spPr>
        <p:txBody>
          <a:bodyPr anchor="t" rtlCol="false" tIns="0" lIns="0" bIns="0" rIns="0">
            <a:spAutoFit/>
          </a:bodyPr>
          <a:lstStyle/>
          <a:p>
            <a:pPr algn="r">
              <a:lnSpc>
                <a:spcPts val="2462"/>
              </a:lnSpc>
            </a:pPr>
            <a:r>
              <a:rPr lang="en-US" sz="1800">
                <a:solidFill>
                  <a:srgbClr val="FFFFFF"/>
                </a:solidFill>
                <a:latin typeface="Work Sans"/>
                <a:ea typeface="Work Sans"/>
                <a:cs typeface="Work Sans"/>
                <a:sym typeface="Work Sans"/>
              </a:rPr>
              <a:t>Persistent CAN traffic logging to disk</a:t>
            </a:r>
          </a:p>
          <a:p>
            <a:pPr algn="r">
              <a:lnSpc>
                <a:spcPts val="2462"/>
              </a:lnSpc>
            </a:pPr>
          </a:p>
          <a:p>
            <a:pPr algn="r">
              <a:lnSpc>
                <a:spcPts val="2462"/>
              </a:lnSpc>
            </a:pPr>
            <a:r>
              <a:rPr lang="en-US" sz="1800">
                <a:solidFill>
                  <a:srgbClr val="FFFFFF"/>
                </a:solidFill>
                <a:latin typeface="Work Sans"/>
                <a:ea typeface="Work Sans"/>
                <a:cs typeface="Work Sans"/>
                <a:sym typeface="Work Sans"/>
              </a:rPr>
              <a:t>100-frame ring buffer, flushed every 500 ms</a:t>
            </a:r>
          </a:p>
          <a:p>
            <a:pPr algn="r">
              <a:lnSpc>
                <a:spcPts val="2462"/>
              </a:lnSpc>
            </a:pPr>
          </a:p>
          <a:p>
            <a:pPr algn="r">
              <a:lnSpc>
                <a:spcPts val="2462"/>
              </a:lnSpc>
            </a:pPr>
            <a:r>
              <a:rPr lang="en-US" sz="1800">
                <a:solidFill>
                  <a:srgbClr val="FFFFFF"/>
                </a:solidFill>
                <a:latin typeface="Work Sans"/>
                <a:ea typeface="Work Sans"/>
                <a:cs typeface="Work Sans"/>
                <a:sym typeface="Work Sans"/>
              </a:rPr>
              <a:t>Automatic log rotation if disk is full</a:t>
            </a:r>
          </a:p>
          <a:p>
            <a:pPr algn="r">
              <a:lnSpc>
                <a:spcPts val="2462"/>
              </a:lnSpc>
            </a:pPr>
          </a:p>
        </p:txBody>
      </p:sp>
      <p:grpSp>
        <p:nvGrpSpPr>
          <p:cNvPr name="Group 44" id="44"/>
          <p:cNvGrpSpPr/>
          <p:nvPr/>
        </p:nvGrpSpPr>
        <p:grpSpPr>
          <a:xfrm rot="0">
            <a:off x="16761860" y="9479775"/>
            <a:ext cx="719953" cy="368675"/>
            <a:chOff x="0" y="0"/>
            <a:chExt cx="929780" cy="476123"/>
          </a:xfrm>
        </p:grpSpPr>
        <p:sp>
          <p:nvSpPr>
            <p:cNvPr name="Freeform 45" id="45"/>
            <p:cNvSpPr/>
            <p:nvPr/>
          </p:nvSpPr>
          <p:spPr>
            <a:xfrm flipH="false" flipV="false" rot="0">
              <a:off x="0" y="0"/>
              <a:ext cx="929776" cy="476118"/>
            </a:xfrm>
            <a:custGeom>
              <a:avLst/>
              <a:gdLst/>
              <a:ahLst/>
              <a:cxnLst/>
              <a:rect r="r" b="b" t="t" l="l"/>
              <a:pathLst>
                <a:path h="476118" w="929776">
                  <a:moveTo>
                    <a:pt x="0" y="0"/>
                  </a:moveTo>
                  <a:lnTo>
                    <a:pt x="929776" y="0"/>
                  </a:lnTo>
                  <a:lnTo>
                    <a:pt x="929776" y="476118"/>
                  </a:lnTo>
                  <a:lnTo>
                    <a:pt x="0" y="476118"/>
                  </a:lnTo>
                  <a:close/>
                </a:path>
              </a:pathLst>
            </a:custGeom>
            <a:blipFill>
              <a:blip r:embed="rId3">
                <a:alphaModFix amt="0"/>
              </a:blip>
              <a:stretch>
                <a:fillRect l="-15701" t="0" r="-15702" b="-1"/>
              </a:stretch>
            </a:blipFill>
          </p:spPr>
        </p:sp>
        <p:sp>
          <p:nvSpPr>
            <p:cNvPr name="TextBox 46" id="46"/>
            <p:cNvSpPr txBox="true"/>
            <p:nvPr/>
          </p:nvSpPr>
          <p:spPr>
            <a:xfrm>
              <a:off x="0" y="-19050"/>
              <a:ext cx="929780" cy="495173"/>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a:t>
              </a:r>
            </a:p>
          </p:txBody>
        </p:sp>
      </p:grpSp>
      <p:sp>
        <p:nvSpPr>
          <p:cNvPr name="AutoShape 47" id="47"/>
          <p:cNvSpPr/>
          <p:nvPr/>
        </p:nvSpPr>
        <p:spPr>
          <a:xfrm flipV="true">
            <a:off x="926309" y="1619964"/>
            <a:ext cx="5429263" cy="0"/>
          </a:xfrm>
          <a:prstGeom prst="line">
            <a:avLst/>
          </a:prstGeom>
          <a:ln cap="flat" w="38100">
            <a:solidFill>
              <a:srgbClr val="B0FF45"/>
            </a:solidFill>
            <a:prstDash val="solid"/>
            <a:headEnd type="none" len="sm" w="sm"/>
            <a:tailEnd type="oval" len="lg" w="lg"/>
          </a:ln>
        </p:spPr>
      </p:sp>
      <p:grpSp>
        <p:nvGrpSpPr>
          <p:cNvPr name="Group 48" id="48"/>
          <p:cNvGrpSpPr/>
          <p:nvPr/>
        </p:nvGrpSpPr>
        <p:grpSpPr>
          <a:xfrm rot="0">
            <a:off x="15325725" y="9491367"/>
            <a:ext cx="1299210" cy="357077"/>
            <a:chOff x="0" y="0"/>
            <a:chExt cx="1732280" cy="476102"/>
          </a:xfrm>
        </p:grpSpPr>
        <p:sp>
          <p:nvSpPr>
            <p:cNvPr name="Freeform 49" id="49"/>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50" id="50"/>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51" id="51"/>
          <p:cNvGrpSpPr/>
          <p:nvPr/>
        </p:nvGrpSpPr>
        <p:grpSpPr>
          <a:xfrm rot="0">
            <a:off x="926309" y="9491358"/>
            <a:ext cx="2807304" cy="493053"/>
            <a:chOff x="0" y="0"/>
            <a:chExt cx="3743072" cy="657404"/>
          </a:xfrm>
        </p:grpSpPr>
        <p:sp>
          <p:nvSpPr>
            <p:cNvPr name="Freeform 52" id="52"/>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3" id="53"/>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54" id="54"/>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0" y="0"/>
            <a:ext cx="18288000" cy="6377940"/>
            <a:chOff x="0" y="0"/>
            <a:chExt cx="24384000" cy="8503920"/>
          </a:xfrm>
        </p:grpSpPr>
        <p:sp>
          <p:nvSpPr>
            <p:cNvPr name="Freeform 4" id="4"/>
            <p:cNvSpPr/>
            <p:nvPr/>
          </p:nvSpPr>
          <p:spPr>
            <a:xfrm flipH="false" flipV="false" rot="0">
              <a:off x="0" y="0"/>
              <a:ext cx="24384000" cy="8503920"/>
            </a:xfrm>
            <a:custGeom>
              <a:avLst/>
              <a:gdLst/>
              <a:ahLst/>
              <a:cxnLst/>
              <a:rect r="r" b="b" t="t" l="l"/>
              <a:pathLst>
                <a:path h="8503920" w="24384000">
                  <a:moveTo>
                    <a:pt x="0" y="0"/>
                  </a:moveTo>
                  <a:lnTo>
                    <a:pt x="24384000" y="0"/>
                  </a:lnTo>
                  <a:lnTo>
                    <a:pt x="24384000" y="8503920"/>
                  </a:lnTo>
                  <a:lnTo>
                    <a:pt x="0" y="8503920"/>
                  </a:lnTo>
                  <a:close/>
                </a:path>
              </a:pathLst>
            </a:custGeom>
            <a:solidFill>
              <a:srgbClr val="4D5154"/>
            </a:solidFill>
          </p:spPr>
        </p:sp>
      </p:grpSp>
      <p:sp>
        <p:nvSpPr>
          <p:cNvPr name="TextBox 5" id="5"/>
          <p:cNvSpPr txBox="true"/>
          <p:nvPr/>
        </p:nvSpPr>
        <p:spPr>
          <a:xfrm rot="0">
            <a:off x="762371" y="7098944"/>
            <a:ext cx="5150472" cy="1914525"/>
          </a:xfrm>
          <a:prstGeom prst="rect">
            <a:avLst/>
          </a:prstGeom>
        </p:spPr>
        <p:txBody>
          <a:bodyPr anchor="t" rtlCol="false" tIns="0" lIns="0" bIns="0" rIns="0">
            <a:spAutoFit/>
          </a:bodyPr>
          <a:lstStyle/>
          <a:p>
            <a:pPr algn="r">
              <a:lnSpc>
                <a:spcPts val="5040"/>
              </a:lnSpc>
            </a:pPr>
            <a:r>
              <a:rPr lang="en-US" sz="4200" spc="-29">
                <a:solidFill>
                  <a:srgbClr val="E6E7E8"/>
                </a:solidFill>
                <a:latin typeface="Work Sans"/>
                <a:ea typeface="Work Sans"/>
                <a:cs typeface="Work Sans"/>
                <a:sym typeface="Work Sans"/>
              </a:rPr>
              <a:t>NON</a:t>
            </a:r>
          </a:p>
          <a:p>
            <a:pPr algn="r">
              <a:lnSpc>
                <a:spcPts val="5040"/>
              </a:lnSpc>
            </a:pPr>
            <a:r>
              <a:rPr lang="en-US" sz="4200" spc="-29">
                <a:solidFill>
                  <a:srgbClr val="E6E7E8"/>
                </a:solidFill>
                <a:latin typeface="Work Sans"/>
                <a:ea typeface="Work Sans"/>
                <a:cs typeface="Work Sans"/>
                <a:sym typeface="Work Sans"/>
              </a:rPr>
              <a:t>FUNCTIONAL</a:t>
            </a:r>
          </a:p>
          <a:p>
            <a:pPr algn="r">
              <a:lnSpc>
                <a:spcPts val="5040"/>
              </a:lnSpc>
            </a:pPr>
            <a:r>
              <a:rPr lang="en-US" sz="4200" spc="-30">
                <a:solidFill>
                  <a:srgbClr val="E6E7E8"/>
                </a:solidFill>
                <a:latin typeface="Work Sans"/>
                <a:ea typeface="Work Sans"/>
                <a:cs typeface="Work Sans"/>
                <a:sym typeface="Work Sans"/>
              </a:rPr>
              <a:t>REQUIREMENT</a:t>
            </a:r>
          </a:p>
        </p:txBody>
      </p:sp>
      <p:sp>
        <p:nvSpPr>
          <p:cNvPr name="TextBox 6" id="6"/>
          <p:cNvSpPr txBox="true"/>
          <p:nvPr/>
        </p:nvSpPr>
        <p:spPr>
          <a:xfrm rot="0">
            <a:off x="6622913" y="7187584"/>
            <a:ext cx="10002022" cy="1561719"/>
          </a:xfrm>
          <a:prstGeom prst="rect">
            <a:avLst/>
          </a:prstGeom>
        </p:spPr>
        <p:txBody>
          <a:bodyPr anchor="t" rtlCol="false" tIns="0" lIns="0" bIns="0" rIns="0">
            <a:spAutoFit/>
          </a:bodyPr>
          <a:lstStyle/>
          <a:p>
            <a:pPr algn="l">
              <a:lnSpc>
                <a:spcPts val="3078"/>
              </a:lnSpc>
            </a:pPr>
            <a:r>
              <a:rPr lang="en-US" sz="2250">
                <a:solidFill>
                  <a:srgbClr val="FFFFFF"/>
                </a:solidFill>
                <a:latin typeface="Work Sans"/>
                <a:ea typeface="Work Sans"/>
                <a:cs typeface="Work Sans"/>
                <a:sym typeface="Work Sans"/>
              </a:rPr>
              <a:t>th</a:t>
            </a:r>
            <a:r>
              <a:rPr lang="en-US" sz="2250">
                <a:solidFill>
                  <a:srgbClr val="FFFFFF"/>
                </a:solidFill>
                <a:latin typeface="Work Sans"/>
                <a:ea typeface="Work Sans"/>
                <a:cs typeface="Work Sans"/>
                <a:sym typeface="Work Sans"/>
              </a:rPr>
              <a:t>e quality attributes and operational constraints of the system. They specify how the system should perform, ensuring reliability, efficiency, scalability, security, and maintainability while meeting user and business expectations.</a:t>
            </a:r>
          </a:p>
        </p:txBody>
      </p:sp>
      <p:sp>
        <p:nvSpPr>
          <p:cNvPr name="TextBox 7" id="7"/>
          <p:cNvSpPr txBox="true"/>
          <p:nvPr/>
        </p:nvSpPr>
        <p:spPr>
          <a:xfrm rot="0">
            <a:off x="3021435" y="1065438"/>
            <a:ext cx="1507969" cy="409575"/>
          </a:xfrm>
          <a:prstGeom prst="rect">
            <a:avLst/>
          </a:prstGeom>
        </p:spPr>
        <p:txBody>
          <a:bodyPr anchor="t" rtlCol="false" tIns="0" lIns="0" bIns="0" rIns="0">
            <a:spAutoFit/>
          </a:bodyPr>
          <a:lstStyle/>
          <a:p>
            <a:pPr algn="r">
              <a:lnSpc>
                <a:spcPts val="3150"/>
              </a:lnSpc>
            </a:pPr>
            <a:r>
              <a:rPr lang="en-US" sz="2625">
                <a:solidFill>
                  <a:srgbClr val="FFFFFF"/>
                </a:solidFill>
                <a:latin typeface="Work Sans"/>
                <a:ea typeface="Work Sans"/>
                <a:cs typeface="Work Sans"/>
                <a:sym typeface="Work Sans"/>
              </a:rPr>
              <a:t>&lt;100ms</a:t>
            </a:r>
          </a:p>
        </p:txBody>
      </p:sp>
      <p:sp>
        <p:nvSpPr>
          <p:cNvPr name="TextBox 8" id="8"/>
          <p:cNvSpPr txBox="true"/>
          <p:nvPr/>
        </p:nvSpPr>
        <p:spPr>
          <a:xfrm rot="0">
            <a:off x="521141" y="1579312"/>
            <a:ext cx="4008263" cy="609295"/>
          </a:xfrm>
          <a:prstGeom prst="rect">
            <a:avLst/>
          </a:prstGeom>
        </p:spPr>
        <p:txBody>
          <a:bodyPr anchor="t" rtlCol="false" tIns="0" lIns="0" bIns="0" rIns="0">
            <a:spAutoFit/>
          </a:bodyPr>
          <a:lstStyle/>
          <a:p>
            <a:pPr algn="r">
              <a:lnSpc>
                <a:spcPts val="2462"/>
              </a:lnSpc>
            </a:pPr>
            <a:r>
              <a:rPr lang="en-US" sz="1800">
                <a:solidFill>
                  <a:srgbClr val="FFFFFF"/>
                </a:solidFill>
                <a:latin typeface="Work Sans"/>
                <a:ea typeface="Work Sans"/>
                <a:cs typeface="Work Sans"/>
                <a:sym typeface="Work Sans"/>
              </a:rPr>
              <a:t>End-to-end latency </a:t>
            </a:r>
          </a:p>
          <a:p>
            <a:pPr algn="r">
              <a:lnSpc>
                <a:spcPts val="2462"/>
              </a:lnSpc>
            </a:pPr>
          </a:p>
        </p:txBody>
      </p:sp>
      <p:sp>
        <p:nvSpPr>
          <p:cNvPr name="TextBox 9" id="9"/>
          <p:cNvSpPr txBox="true"/>
          <p:nvPr/>
        </p:nvSpPr>
        <p:spPr>
          <a:xfrm rot="0">
            <a:off x="1028700" y="3695338"/>
            <a:ext cx="3496247" cy="409575"/>
          </a:xfrm>
          <a:prstGeom prst="rect">
            <a:avLst/>
          </a:prstGeom>
        </p:spPr>
        <p:txBody>
          <a:bodyPr anchor="t" rtlCol="false" tIns="0" lIns="0" bIns="0" rIns="0">
            <a:spAutoFit/>
          </a:bodyPr>
          <a:lstStyle/>
          <a:p>
            <a:pPr algn="r">
              <a:lnSpc>
                <a:spcPts val="3150"/>
              </a:lnSpc>
            </a:pPr>
            <a:r>
              <a:rPr lang="en-US" sz="2625">
                <a:solidFill>
                  <a:srgbClr val="FFFFFF"/>
                </a:solidFill>
                <a:latin typeface="Work Sans"/>
                <a:ea typeface="Work Sans"/>
                <a:cs typeface="Work Sans"/>
                <a:sym typeface="Work Sans"/>
              </a:rPr>
              <a:t>DEPLOYABLE ON RPI </a:t>
            </a:r>
          </a:p>
        </p:txBody>
      </p:sp>
      <p:sp>
        <p:nvSpPr>
          <p:cNvPr name="TextBox 10" id="10"/>
          <p:cNvSpPr txBox="true"/>
          <p:nvPr/>
        </p:nvSpPr>
        <p:spPr>
          <a:xfrm rot="0">
            <a:off x="516684" y="4209212"/>
            <a:ext cx="4008263" cy="609295"/>
          </a:xfrm>
          <a:prstGeom prst="rect">
            <a:avLst/>
          </a:prstGeom>
        </p:spPr>
        <p:txBody>
          <a:bodyPr anchor="t" rtlCol="false" tIns="0" lIns="0" bIns="0" rIns="0">
            <a:spAutoFit/>
          </a:bodyPr>
          <a:lstStyle/>
          <a:p>
            <a:pPr algn="r">
              <a:lnSpc>
                <a:spcPts val="2462"/>
              </a:lnSpc>
            </a:pPr>
            <a:r>
              <a:rPr lang="en-US" sz="1800">
                <a:solidFill>
                  <a:srgbClr val="FFFFFF"/>
                </a:solidFill>
                <a:latin typeface="Work Sans"/>
                <a:ea typeface="Work Sans"/>
                <a:cs typeface="Work Sans"/>
                <a:sym typeface="Work Sans"/>
              </a:rPr>
              <a:t>Systems and library supporting Arm </a:t>
            </a:r>
          </a:p>
        </p:txBody>
      </p:sp>
      <p:sp>
        <p:nvSpPr>
          <p:cNvPr name="TextBox 11" id="11"/>
          <p:cNvSpPr txBox="true"/>
          <p:nvPr/>
        </p:nvSpPr>
        <p:spPr>
          <a:xfrm rot="0">
            <a:off x="13773960" y="3695338"/>
            <a:ext cx="1875301" cy="409575"/>
          </a:xfrm>
          <a:prstGeom prst="rect">
            <a:avLst/>
          </a:prstGeom>
        </p:spPr>
        <p:txBody>
          <a:bodyPr anchor="t" rtlCol="false" tIns="0" lIns="0" bIns="0" rIns="0">
            <a:spAutoFit/>
          </a:bodyPr>
          <a:lstStyle/>
          <a:p>
            <a:pPr algn="l">
              <a:lnSpc>
                <a:spcPts val="3150"/>
              </a:lnSpc>
            </a:pPr>
            <a:r>
              <a:rPr lang="en-US" sz="2625">
                <a:solidFill>
                  <a:srgbClr val="FFFFFF"/>
                </a:solidFill>
                <a:latin typeface="Work Sans"/>
                <a:ea typeface="Work Sans"/>
                <a:cs typeface="Work Sans"/>
                <a:sym typeface="Work Sans"/>
              </a:rPr>
              <a:t>THREADS</a:t>
            </a:r>
          </a:p>
        </p:txBody>
      </p:sp>
      <p:sp>
        <p:nvSpPr>
          <p:cNvPr name="TextBox 12" id="12"/>
          <p:cNvSpPr txBox="true"/>
          <p:nvPr/>
        </p:nvSpPr>
        <p:spPr>
          <a:xfrm rot="0">
            <a:off x="13773960" y="4209212"/>
            <a:ext cx="4008263" cy="304495"/>
          </a:xfrm>
          <a:prstGeom prst="rect">
            <a:avLst/>
          </a:prstGeom>
        </p:spPr>
        <p:txBody>
          <a:bodyPr anchor="t" rtlCol="false" tIns="0" lIns="0" bIns="0" rIns="0">
            <a:spAutoFit/>
          </a:bodyPr>
          <a:lstStyle/>
          <a:p>
            <a:pPr algn="l">
              <a:lnSpc>
                <a:spcPts val="2462"/>
              </a:lnSpc>
            </a:pPr>
            <a:r>
              <a:rPr lang="en-US" sz="1800">
                <a:solidFill>
                  <a:srgbClr val="FFFFFF"/>
                </a:solidFill>
                <a:latin typeface="Work Sans"/>
                <a:ea typeface="Work Sans"/>
                <a:cs typeface="Work Sans"/>
                <a:sym typeface="Work Sans"/>
              </a:rPr>
              <a:t>T</a:t>
            </a:r>
            <a:r>
              <a:rPr lang="en-US" sz="1800">
                <a:solidFill>
                  <a:srgbClr val="FFFFFF"/>
                </a:solidFill>
                <a:latin typeface="Work Sans"/>
                <a:ea typeface="Work Sans"/>
                <a:cs typeface="Work Sans"/>
                <a:sym typeface="Work Sans"/>
              </a:rPr>
              <a:t>o run Modules Independently</a:t>
            </a:r>
          </a:p>
        </p:txBody>
      </p:sp>
      <p:sp>
        <p:nvSpPr>
          <p:cNvPr name="TextBox 13" id="13"/>
          <p:cNvSpPr txBox="true"/>
          <p:nvPr/>
        </p:nvSpPr>
        <p:spPr>
          <a:xfrm rot="0">
            <a:off x="13773960" y="1065438"/>
            <a:ext cx="4514040" cy="809625"/>
          </a:xfrm>
          <a:prstGeom prst="rect">
            <a:avLst/>
          </a:prstGeom>
        </p:spPr>
        <p:txBody>
          <a:bodyPr anchor="t" rtlCol="false" tIns="0" lIns="0" bIns="0" rIns="0">
            <a:spAutoFit/>
          </a:bodyPr>
          <a:lstStyle/>
          <a:p>
            <a:pPr algn="l">
              <a:lnSpc>
                <a:spcPts val="3150"/>
              </a:lnSpc>
            </a:pPr>
            <a:r>
              <a:rPr lang="en-US" sz="2625">
                <a:solidFill>
                  <a:srgbClr val="FFFFFF"/>
                </a:solidFill>
                <a:latin typeface="Work Sans"/>
                <a:ea typeface="Work Sans"/>
                <a:cs typeface="Work Sans"/>
                <a:sym typeface="Work Sans"/>
              </a:rPr>
              <a:t>MODULAR </a:t>
            </a:r>
            <a:r>
              <a:rPr lang="en-US" sz="2625">
                <a:solidFill>
                  <a:srgbClr val="FFFFFF"/>
                </a:solidFill>
                <a:latin typeface="Work Sans"/>
                <a:ea typeface="Work Sans"/>
                <a:cs typeface="Work Sans"/>
                <a:sym typeface="Work Sans"/>
              </a:rPr>
              <a:t>PY ARCHITECTURE </a:t>
            </a:r>
          </a:p>
        </p:txBody>
      </p:sp>
      <p:sp>
        <p:nvSpPr>
          <p:cNvPr name="TextBox 14" id="14"/>
          <p:cNvSpPr txBox="true"/>
          <p:nvPr/>
        </p:nvSpPr>
        <p:spPr>
          <a:xfrm rot="0">
            <a:off x="13773960" y="1836963"/>
            <a:ext cx="4008263" cy="609295"/>
          </a:xfrm>
          <a:prstGeom prst="rect">
            <a:avLst/>
          </a:prstGeom>
        </p:spPr>
        <p:txBody>
          <a:bodyPr anchor="t" rtlCol="false" tIns="0" lIns="0" bIns="0" rIns="0">
            <a:spAutoFit/>
          </a:bodyPr>
          <a:lstStyle/>
          <a:p>
            <a:pPr algn="l">
              <a:lnSpc>
                <a:spcPts val="2462"/>
              </a:lnSpc>
            </a:pPr>
            <a:r>
              <a:rPr lang="en-US" sz="1800">
                <a:solidFill>
                  <a:srgbClr val="FFFFFF"/>
                </a:solidFill>
                <a:latin typeface="Work Sans"/>
                <a:ea typeface="Work Sans"/>
                <a:cs typeface="Work Sans"/>
                <a:sym typeface="Work Sans"/>
              </a:rPr>
              <a:t>T</a:t>
            </a:r>
            <a:r>
              <a:rPr lang="en-US" sz="1800">
                <a:solidFill>
                  <a:srgbClr val="FFFFFF"/>
                </a:solidFill>
                <a:latin typeface="Work Sans"/>
                <a:ea typeface="Work Sans"/>
                <a:cs typeface="Work Sans"/>
                <a:sym typeface="Work Sans"/>
              </a:rPr>
              <a:t>esting for one component don’t need whole code to run</a:t>
            </a:r>
          </a:p>
        </p:txBody>
      </p:sp>
      <p:grpSp>
        <p:nvGrpSpPr>
          <p:cNvPr name="Group 15" id="15"/>
          <p:cNvGrpSpPr/>
          <p:nvPr/>
        </p:nvGrpSpPr>
        <p:grpSpPr>
          <a:xfrm rot="0">
            <a:off x="16784479" y="9491358"/>
            <a:ext cx="697335" cy="357088"/>
            <a:chOff x="0" y="0"/>
            <a:chExt cx="929780" cy="476118"/>
          </a:xfrm>
        </p:grpSpPr>
        <p:sp>
          <p:nvSpPr>
            <p:cNvPr name="Freeform 16" id="16"/>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7" id="17"/>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8</a:t>
              </a:r>
            </a:p>
          </p:txBody>
        </p:sp>
      </p:grpSp>
      <p:sp>
        <p:nvSpPr>
          <p:cNvPr name="Freeform 18" id="18"/>
          <p:cNvSpPr/>
          <p:nvPr/>
        </p:nvSpPr>
        <p:spPr>
          <a:xfrm flipH="false" flipV="false" rot="0">
            <a:off x="5233454" y="3565808"/>
            <a:ext cx="3536156" cy="1840706"/>
          </a:xfrm>
          <a:custGeom>
            <a:avLst/>
            <a:gdLst/>
            <a:ahLst/>
            <a:cxnLst/>
            <a:rect r="r" b="b" t="t" l="l"/>
            <a:pathLst>
              <a:path h="1840706" w="3536156">
                <a:moveTo>
                  <a:pt x="0" y="0"/>
                </a:moveTo>
                <a:lnTo>
                  <a:pt x="3536156" y="0"/>
                </a:lnTo>
                <a:lnTo>
                  <a:pt x="3536156" y="1840706"/>
                </a:lnTo>
                <a:lnTo>
                  <a:pt x="0" y="1840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9535316" y="959644"/>
            <a:ext cx="3536156" cy="1840706"/>
          </a:xfrm>
          <a:custGeom>
            <a:avLst/>
            <a:gdLst/>
            <a:ahLst/>
            <a:cxnLst/>
            <a:rect r="r" b="b" t="t" l="l"/>
            <a:pathLst>
              <a:path h="1840706" w="3536156">
                <a:moveTo>
                  <a:pt x="0" y="0"/>
                </a:moveTo>
                <a:lnTo>
                  <a:pt x="3536156" y="0"/>
                </a:lnTo>
                <a:lnTo>
                  <a:pt x="3536156" y="1840706"/>
                </a:lnTo>
                <a:lnTo>
                  <a:pt x="0" y="18407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9535316" y="3573942"/>
            <a:ext cx="3536156" cy="1840706"/>
          </a:xfrm>
          <a:custGeom>
            <a:avLst/>
            <a:gdLst/>
            <a:ahLst/>
            <a:cxnLst/>
            <a:rect r="r" b="b" t="t" l="l"/>
            <a:pathLst>
              <a:path h="1840706" w="3536156">
                <a:moveTo>
                  <a:pt x="0" y="0"/>
                </a:moveTo>
                <a:lnTo>
                  <a:pt x="3536156" y="0"/>
                </a:lnTo>
                <a:lnTo>
                  <a:pt x="3536156" y="1840706"/>
                </a:lnTo>
                <a:lnTo>
                  <a:pt x="0" y="18407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5233454" y="959644"/>
            <a:ext cx="3536156" cy="1840706"/>
          </a:xfrm>
          <a:custGeom>
            <a:avLst/>
            <a:gdLst/>
            <a:ahLst/>
            <a:cxnLst/>
            <a:rect r="r" b="b" t="t" l="l"/>
            <a:pathLst>
              <a:path h="1840706" w="3536156">
                <a:moveTo>
                  <a:pt x="0" y="0"/>
                </a:moveTo>
                <a:lnTo>
                  <a:pt x="3536156" y="0"/>
                </a:lnTo>
                <a:lnTo>
                  <a:pt x="3536156" y="1840706"/>
                </a:lnTo>
                <a:lnTo>
                  <a:pt x="0" y="18407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1816013" y="2141611"/>
            <a:ext cx="2708934" cy="247650"/>
          </a:xfrm>
          <a:prstGeom prst="rect">
            <a:avLst/>
          </a:prstGeom>
        </p:spPr>
        <p:txBody>
          <a:bodyPr anchor="t" rtlCol="false" tIns="0" lIns="0" bIns="0" rIns="0">
            <a:spAutoFit/>
          </a:bodyPr>
          <a:lstStyle/>
          <a:p>
            <a:pPr algn="r">
              <a:lnSpc>
                <a:spcPts val="1800"/>
              </a:lnSpc>
            </a:pPr>
            <a:r>
              <a:rPr lang="en-US" sz="1500">
                <a:solidFill>
                  <a:srgbClr val="8FDB00"/>
                </a:solidFill>
                <a:latin typeface="Work Sans"/>
                <a:ea typeface="Work Sans"/>
                <a:cs typeface="Work Sans"/>
                <a:sym typeface="Work Sans"/>
              </a:rPr>
              <a:t>capture → decode → render</a:t>
            </a:r>
          </a:p>
        </p:txBody>
      </p:sp>
      <p:sp>
        <p:nvSpPr>
          <p:cNvPr name="TextBox 23" id="23"/>
          <p:cNvSpPr txBox="true"/>
          <p:nvPr/>
        </p:nvSpPr>
        <p:spPr>
          <a:xfrm rot="0">
            <a:off x="13773960" y="2542313"/>
            <a:ext cx="4007502" cy="247650"/>
          </a:xfrm>
          <a:prstGeom prst="rect">
            <a:avLst/>
          </a:prstGeom>
        </p:spPr>
        <p:txBody>
          <a:bodyPr anchor="t" rtlCol="false" tIns="0" lIns="0" bIns="0" rIns="0">
            <a:spAutoFit/>
          </a:bodyPr>
          <a:lstStyle/>
          <a:p>
            <a:pPr algn="just">
              <a:lnSpc>
                <a:spcPts val="1800"/>
              </a:lnSpc>
            </a:pPr>
            <a:r>
              <a:rPr lang="en-US" sz="1500">
                <a:solidFill>
                  <a:srgbClr val="8FDB00"/>
                </a:solidFill>
                <a:latin typeface="Work Sans"/>
                <a:ea typeface="Work Sans"/>
                <a:cs typeface="Work Sans"/>
                <a:sym typeface="Work Sans"/>
              </a:rPr>
              <a:t>E</a:t>
            </a:r>
            <a:r>
              <a:rPr lang="en-US" sz="1500">
                <a:solidFill>
                  <a:srgbClr val="8FDB00"/>
                </a:solidFill>
                <a:latin typeface="Work Sans"/>
                <a:ea typeface="Work Sans"/>
                <a:cs typeface="Work Sans"/>
                <a:sym typeface="Work Sans"/>
              </a:rPr>
              <a:t>asy error Identification &amp; Scalability</a:t>
            </a:r>
          </a:p>
        </p:txBody>
      </p:sp>
      <p:sp>
        <p:nvSpPr>
          <p:cNvPr name="TextBox 24" id="24"/>
          <p:cNvSpPr txBox="true"/>
          <p:nvPr/>
        </p:nvSpPr>
        <p:spPr>
          <a:xfrm rot="0">
            <a:off x="788594" y="5010150"/>
            <a:ext cx="3682860" cy="247650"/>
          </a:xfrm>
          <a:prstGeom prst="rect">
            <a:avLst/>
          </a:prstGeom>
        </p:spPr>
        <p:txBody>
          <a:bodyPr anchor="t" rtlCol="false" tIns="0" lIns="0" bIns="0" rIns="0">
            <a:spAutoFit/>
          </a:bodyPr>
          <a:lstStyle/>
          <a:p>
            <a:pPr algn="r">
              <a:lnSpc>
                <a:spcPts val="1800"/>
              </a:lnSpc>
            </a:pPr>
            <a:r>
              <a:rPr lang="en-US" sz="1500">
                <a:solidFill>
                  <a:srgbClr val="8FDB00"/>
                </a:solidFill>
                <a:latin typeface="Work Sans"/>
                <a:ea typeface="Work Sans"/>
                <a:cs typeface="Work Sans"/>
                <a:sym typeface="Work Sans"/>
              </a:rPr>
              <a:t>Sho</a:t>
            </a:r>
            <a:r>
              <a:rPr lang="en-US" sz="1500">
                <a:solidFill>
                  <a:srgbClr val="8FDB00"/>
                </a:solidFill>
                <a:latin typeface="Work Sans"/>
                <a:ea typeface="Work Sans"/>
                <a:cs typeface="Work Sans"/>
                <a:sym typeface="Work Sans"/>
              </a:rPr>
              <a:t>uld to work on limited resoruces</a:t>
            </a:r>
          </a:p>
        </p:txBody>
      </p:sp>
      <p:sp>
        <p:nvSpPr>
          <p:cNvPr name="TextBox 25" id="25"/>
          <p:cNvSpPr txBox="true"/>
          <p:nvPr/>
        </p:nvSpPr>
        <p:spPr>
          <a:xfrm rot="0">
            <a:off x="13773960" y="4707384"/>
            <a:ext cx="4007502" cy="247650"/>
          </a:xfrm>
          <a:prstGeom prst="rect">
            <a:avLst/>
          </a:prstGeom>
        </p:spPr>
        <p:txBody>
          <a:bodyPr anchor="t" rtlCol="false" tIns="0" lIns="0" bIns="0" rIns="0">
            <a:spAutoFit/>
          </a:bodyPr>
          <a:lstStyle/>
          <a:p>
            <a:pPr algn="just">
              <a:lnSpc>
                <a:spcPts val="1800"/>
              </a:lnSpc>
            </a:pPr>
            <a:r>
              <a:rPr lang="en-US" sz="1500">
                <a:solidFill>
                  <a:srgbClr val="8FDB00"/>
                </a:solidFill>
                <a:latin typeface="Work Sans"/>
                <a:ea typeface="Work Sans"/>
                <a:cs typeface="Work Sans"/>
                <a:sym typeface="Work Sans"/>
              </a:rPr>
              <a:t>R</a:t>
            </a:r>
            <a:r>
              <a:rPr lang="en-US" sz="1500">
                <a:solidFill>
                  <a:srgbClr val="8FDB00"/>
                </a:solidFill>
                <a:latin typeface="Work Sans"/>
                <a:ea typeface="Work Sans"/>
                <a:cs typeface="Work Sans"/>
                <a:sym typeface="Work Sans"/>
              </a:rPr>
              <a:t>educe lagging in system</a:t>
            </a:r>
          </a:p>
        </p:txBody>
      </p:sp>
      <p:grpSp>
        <p:nvGrpSpPr>
          <p:cNvPr name="Group 26" id="26"/>
          <p:cNvGrpSpPr/>
          <p:nvPr/>
        </p:nvGrpSpPr>
        <p:grpSpPr>
          <a:xfrm rot="0">
            <a:off x="15325725" y="9491367"/>
            <a:ext cx="1299210" cy="357077"/>
            <a:chOff x="0" y="0"/>
            <a:chExt cx="1732280" cy="476102"/>
          </a:xfrm>
        </p:grpSpPr>
        <p:sp>
          <p:nvSpPr>
            <p:cNvPr name="Freeform 27" id="27"/>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8" id="28"/>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9" id="29"/>
          <p:cNvGrpSpPr/>
          <p:nvPr/>
        </p:nvGrpSpPr>
        <p:grpSpPr>
          <a:xfrm rot="0">
            <a:off x="926309" y="9491358"/>
            <a:ext cx="2807304" cy="493053"/>
            <a:chOff x="0" y="0"/>
            <a:chExt cx="3743072" cy="657404"/>
          </a:xfrm>
        </p:grpSpPr>
        <p:sp>
          <p:nvSpPr>
            <p:cNvPr name="Freeform 30" id="30"/>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1" id="31"/>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32" id="32"/>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16784479" y="9491358"/>
            <a:ext cx="697335" cy="313944"/>
            <a:chOff x="0" y="0"/>
            <a:chExt cx="929780" cy="418592"/>
          </a:xfrm>
        </p:grpSpPr>
        <p:sp>
          <p:nvSpPr>
            <p:cNvPr name="Freeform 4" id="4"/>
            <p:cNvSpPr/>
            <p:nvPr/>
          </p:nvSpPr>
          <p:spPr>
            <a:xfrm flipH="false" flipV="false" rot="0">
              <a:off x="0" y="0"/>
              <a:ext cx="929776" cy="418588"/>
            </a:xfrm>
            <a:custGeom>
              <a:avLst/>
              <a:gdLst/>
              <a:ahLst/>
              <a:cxnLst/>
              <a:rect r="r" b="b" t="t" l="l"/>
              <a:pathLst>
                <a:path h="418588" w="929776">
                  <a:moveTo>
                    <a:pt x="0" y="0"/>
                  </a:moveTo>
                  <a:lnTo>
                    <a:pt x="929776" y="0"/>
                  </a:lnTo>
                  <a:lnTo>
                    <a:pt x="929776" y="418588"/>
                  </a:lnTo>
                  <a:lnTo>
                    <a:pt x="0" y="418588"/>
                  </a:lnTo>
                  <a:close/>
                </a:path>
              </a:pathLst>
            </a:custGeom>
            <a:blipFill>
              <a:blip r:embed="rId3">
                <a:alphaModFix amt="0"/>
              </a:blip>
              <a:stretch>
                <a:fillRect l="-15701" t="0" r="-15702" b="-13745"/>
              </a:stretch>
            </a:blipFill>
          </p:spPr>
        </p:sp>
        <p:sp>
          <p:nvSpPr>
            <p:cNvPr name="TextBox 5" id="5"/>
            <p:cNvSpPr txBox="true"/>
            <p:nvPr/>
          </p:nvSpPr>
          <p:spPr>
            <a:xfrm>
              <a:off x="0" y="-19050"/>
              <a:ext cx="929780" cy="43764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9</a:t>
              </a:r>
            </a:p>
          </p:txBody>
        </p:sp>
      </p:grpSp>
      <p:grpSp>
        <p:nvGrpSpPr>
          <p:cNvPr name="Group 6" id="6"/>
          <p:cNvGrpSpPr/>
          <p:nvPr/>
        </p:nvGrpSpPr>
        <p:grpSpPr>
          <a:xfrm rot="0">
            <a:off x="425768" y="1712402"/>
            <a:ext cx="16912119" cy="7321686"/>
            <a:chOff x="0" y="0"/>
            <a:chExt cx="22549493" cy="9762249"/>
          </a:xfrm>
        </p:grpSpPr>
        <p:grpSp>
          <p:nvGrpSpPr>
            <p:cNvPr name="Group 7" id="7"/>
            <p:cNvGrpSpPr/>
            <p:nvPr/>
          </p:nvGrpSpPr>
          <p:grpSpPr>
            <a:xfrm rot="0">
              <a:off x="6280858" y="529165"/>
              <a:ext cx="1252538" cy="1252538"/>
              <a:chOff x="0" y="0"/>
              <a:chExt cx="1252538" cy="1252538"/>
            </a:xfrm>
          </p:grpSpPr>
          <p:sp>
            <p:nvSpPr>
              <p:cNvPr name="Freeform 8" id="8"/>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622AD8"/>
              </a:solidFill>
            </p:spPr>
          </p:sp>
        </p:grpSp>
        <p:grpSp>
          <p:nvGrpSpPr>
            <p:cNvPr name="Group 9" id="9"/>
            <p:cNvGrpSpPr/>
            <p:nvPr/>
          </p:nvGrpSpPr>
          <p:grpSpPr>
            <a:xfrm rot="0">
              <a:off x="6420558" y="668865"/>
              <a:ext cx="973138" cy="973138"/>
              <a:chOff x="0" y="0"/>
              <a:chExt cx="973138" cy="973138"/>
            </a:xfrm>
          </p:grpSpPr>
          <p:sp>
            <p:nvSpPr>
              <p:cNvPr name="Freeform 10" id="10"/>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11" id="11"/>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FFFFFF"/>
                    </a:solidFill>
                    <a:latin typeface="Work Sans"/>
                    <a:ea typeface="Work Sans"/>
                    <a:cs typeface="Work Sans"/>
                    <a:sym typeface="Work Sans"/>
                  </a:rPr>
                  <a:t>6</a:t>
                </a:r>
              </a:p>
            </p:txBody>
          </p:sp>
        </p:grpSp>
        <p:grpSp>
          <p:nvGrpSpPr>
            <p:cNvPr name="Group 12" id="12"/>
            <p:cNvGrpSpPr/>
            <p:nvPr/>
          </p:nvGrpSpPr>
          <p:grpSpPr>
            <a:xfrm rot="0">
              <a:off x="5063398" y="4262888"/>
              <a:ext cx="1252538" cy="1252538"/>
              <a:chOff x="0" y="0"/>
              <a:chExt cx="1252538" cy="1252538"/>
            </a:xfrm>
          </p:grpSpPr>
          <p:sp>
            <p:nvSpPr>
              <p:cNvPr name="Freeform 13" id="13"/>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622AD8"/>
              </a:solidFill>
            </p:spPr>
          </p:sp>
        </p:grpSp>
        <p:grpSp>
          <p:nvGrpSpPr>
            <p:cNvPr name="Group 14" id="14"/>
            <p:cNvGrpSpPr/>
            <p:nvPr/>
          </p:nvGrpSpPr>
          <p:grpSpPr>
            <a:xfrm rot="0">
              <a:off x="5203098" y="4402588"/>
              <a:ext cx="973138" cy="973138"/>
              <a:chOff x="0" y="0"/>
              <a:chExt cx="973138" cy="973138"/>
            </a:xfrm>
          </p:grpSpPr>
          <p:sp>
            <p:nvSpPr>
              <p:cNvPr name="Freeform 15" id="15"/>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16" id="16"/>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FFFFFF"/>
                    </a:solidFill>
                    <a:latin typeface="Work Sans"/>
                    <a:ea typeface="Work Sans"/>
                    <a:cs typeface="Work Sans"/>
                    <a:sym typeface="Work Sans"/>
                  </a:rPr>
                  <a:t>5</a:t>
                </a:r>
              </a:p>
            </p:txBody>
          </p:sp>
        </p:grpSp>
        <p:grpSp>
          <p:nvGrpSpPr>
            <p:cNvPr name="Group 17" id="17"/>
            <p:cNvGrpSpPr/>
            <p:nvPr/>
          </p:nvGrpSpPr>
          <p:grpSpPr>
            <a:xfrm rot="0">
              <a:off x="6280858" y="7897057"/>
              <a:ext cx="1252538" cy="1252538"/>
              <a:chOff x="0" y="0"/>
              <a:chExt cx="1252538" cy="1252538"/>
            </a:xfrm>
          </p:grpSpPr>
          <p:sp>
            <p:nvSpPr>
              <p:cNvPr name="Freeform 18" id="18"/>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753DFF"/>
              </a:solidFill>
            </p:spPr>
          </p:sp>
        </p:grpSp>
        <p:grpSp>
          <p:nvGrpSpPr>
            <p:cNvPr name="Group 19" id="19"/>
            <p:cNvGrpSpPr/>
            <p:nvPr/>
          </p:nvGrpSpPr>
          <p:grpSpPr>
            <a:xfrm rot="0">
              <a:off x="6420558" y="8036757"/>
              <a:ext cx="973138" cy="973138"/>
              <a:chOff x="0" y="0"/>
              <a:chExt cx="973138" cy="973138"/>
            </a:xfrm>
          </p:grpSpPr>
          <p:sp>
            <p:nvSpPr>
              <p:cNvPr name="Freeform 20" id="20"/>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21" id="21"/>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000000"/>
                    </a:solidFill>
                    <a:latin typeface="Work Sans"/>
                    <a:ea typeface="Work Sans"/>
                    <a:cs typeface="Work Sans"/>
                    <a:sym typeface="Work Sans"/>
                  </a:rPr>
                  <a:t>4</a:t>
                </a:r>
              </a:p>
            </p:txBody>
          </p:sp>
        </p:grpSp>
        <p:grpSp>
          <p:nvGrpSpPr>
            <p:cNvPr name="Group 22" id="22"/>
            <p:cNvGrpSpPr/>
            <p:nvPr/>
          </p:nvGrpSpPr>
          <p:grpSpPr>
            <a:xfrm rot="0">
              <a:off x="15409465" y="529165"/>
              <a:ext cx="1252538" cy="1252538"/>
              <a:chOff x="0" y="0"/>
              <a:chExt cx="1252538" cy="1252538"/>
            </a:xfrm>
          </p:grpSpPr>
          <p:sp>
            <p:nvSpPr>
              <p:cNvPr name="Freeform 23" id="23"/>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B0FF45"/>
              </a:solidFill>
            </p:spPr>
          </p:sp>
        </p:grpSp>
        <p:grpSp>
          <p:nvGrpSpPr>
            <p:cNvPr name="Group 24" id="24"/>
            <p:cNvGrpSpPr/>
            <p:nvPr/>
          </p:nvGrpSpPr>
          <p:grpSpPr>
            <a:xfrm rot="0">
              <a:off x="15549165" y="668865"/>
              <a:ext cx="973138" cy="973138"/>
              <a:chOff x="0" y="0"/>
              <a:chExt cx="973138" cy="973138"/>
            </a:xfrm>
          </p:grpSpPr>
          <p:sp>
            <p:nvSpPr>
              <p:cNvPr name="Freeform 25" id="25"/>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26" id="26"/>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000000"/>
                    </a:solidFill>
                    <a:latin typeface="Work Sans"/>
                    <a:ea typeface="Work Sans"/>
                    <a:cs typeface="Work Sans"/>
                    <a:sym typeface="Work Sans"/>
                  </a:rPr>
                  <a:t>1</a:t>
                </a:r>
              </a:p>
            </p:txBody>
          </p:sp>
        </p:grpSp>
        <p:grpSp>
          <p:nvGrpSpPr>
            <p:cNvPr name="Group 27" id="27"/>
            <p:cNvGrpSpPr/>
            <p:nvPr/>
          </p:nvGrpSpPr>
          <p:grpSpPr>
            <a:xfrm rot="0">
              <a:off x="16679872" y="4262888"/>
              <a:ext cx="1252538" cy="1252538"/>
              <a:chOff x="0" y="0"/>
              <a:chExt cx="1252538" cy="1252538"/>
            </a:xfrm>
          </p:grpSpPr>
          <p:sp>
            <p:nvSpPr>
              <p:cNvPr name="Freeform 28" id="28"/>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8FDB00"/>
              </a:solidFill>
            </p:spPr>
          </p:sp>
        </p:grpSp>
        <p:grpSp>
          <p:nvGrpSpPr>
            <p:cNvPr name="Group 29" id="29"/>
            <p:cNvGrpSpPr/>
            <p:nvPr/>
          </p:nvGrpSpPr>
          <p:grpSpPr>
            <a:xfrm rot="0">
              <a:off x="16819572" y="4402588"/>
              <a:ext cx="973138" cy="973138"/>
              <a:chOff x="0" y="0"/>
              <a:chExt cx="973138" cy="973138"/>
            </a:xfrm>
          </p:grpSpPr>
          <p:sp>
            <p:nvSpPr>
              <p:cNvPr name="Freeform 30" id="30"/>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31" id="31"/>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FFFFFF"/>
                    </a:solidFill>
                    <a:latin typeface="Work Sans"/>
                    <a:ea typeface="Work Sans"/>
                    <a:cs typeface="Work Sans"/>
                    <a:sym typeface="Work Sans"/>
                  </a:rPr>
                  <a:t>2</a:t>
                </a:r>
              </a:p>
            </p:txBody>
          </p:sp>
        </p:grpSp>
        <p:grpSp>
          <p:nvGrpSpPr>
            <p:cNvPr name="Group 32" id="32"/>
            <p:cNvGrpSpPr/>
            <p:nvPr/>
          </p:nvGrpSpPr>
          <p:grpSpPr>
            <a:xfrm rot="0">
              <a:off x="15409465" y="7897057"/>
              <a:ext cx="1252538" cy="1252538"/>
              <a:chOff x="0" y="0"/>
              <a:chExt cx="1252538" cy="1252538"/>
            </a:xfrm>
          </p:grpSpPr>
          <p:sp>
            <p:nvSpPr>
              <p:cNvPr name="Freeform 33" id="33"/>
              <p:cNvSpPr/>
              <p:nvPr/>
            </p:nvSpPr>
            <p:spPr>
              <a:xfrm flipH="false" flipV="false" rot="0">
                <a:off x="0" y="0"/>
                <a:ext cx="1252474" cy="1252474"/>
              </a:xfrm>
              <a:custGeom>
                <a:avLst/>
                <a:gdLst/>
                <a:ahLst/>
                <a:cxnLst/>
                <a:rect r="r" b="b" t="t" l="l"/>
                <a:pathLst>
                  <a:path h="1252474" w="1252474">
                    <a:moveTo>
                      <a:pt x="0" y="0"/>
                    </a:moveTo>
                    <a:lnTo>
                      <a:pt x="1252474" y="0"/>
                    </a:lnTo>
                    <a:lnTo>
                      <a:pt x="1252474" y="1252474"/>
                    </a:lnTo>
                    <a:lnTo>
                      <a:pt x="0" y="1252474"/>
                    </a:lnTo>
                    <a:close/>
                  </a:path>
                </a:pathLst>
              </a:custGeom>
              <a:solidFill>
                <a:srgbClr val="428003"/>
              </a:solidFill>
            </p:spPr>
          </p:sp>
        </p:grpSp>
        <p:grpSp>
          <p:nvGrpSpPr>
            <p:cNvPr name="Group 34" id="34"/>
            <p:cNvGrpSpPr/>
            <p:nvPr/>
          </p:nvGrpSpPr>
          <p:grpSpPr>
            <a:xfrm rot="0">
              <a:off x="15549165" y="8036757"/>
              <a:ext cx="973138" cy="973138"/>
              <a:chOff x="0" y="0"/>
              <a:chExt cx="973138" cy="973138"/>
            </a:xfrm>
          </p:grpSpPr>
          <p:sp>
            <p:nvSpPr>
              <p:cNvPr name="Freeform 35" id="35"/>
              <p:cNvSpPr/>
              <p:nvPr/>
            </p:nvSpPr>
            <p:spPr>
              <a:xfrm flipH="false" flipV="false" rot="0">
                <a:off x="0" y="0"/>
                <a:ext cx="973074" cy="973074"/>
              </a:xfrm>
              <a:custGeom>
                <a:avLst/>
                <a:gdLst/>
                <a:ahLst/>
                <a:cxnLst/>
                <a:rect r="r" b="b" t="t" l="l"/>
                <a:pathLst>
                  <a:path h="973074" w="973074">
                    <a:moveTo>
                      <a:pt x="0" y="486537"/>
                    </a:moveTo>
                    <a:cubicBezTo>
                      <a:pt x="0" y="217805"/>
                      <a:pt x="217805" y="0"/>
                      <a:pt x="486537" y="0"/>
                    </a:cubicBezTo>
                    <a:cubicBezTo>
                      <a:pt x="755269" y="0"/>
                      <a:pt x="973074" y="217805"/>
                      <a:pt x="973074" y="486537"/>
                    </a:cubicBezTo>
                    <a:cubicBezTo>
                      <a:pt x="973074" y="755269"/>
                      <a:pt x="755269" y="973074"/>
                      <a:pt x="486537" y="973074"/>
                    </a:cubicBezTo>
                    <a:cubicBezTo>
                      <a:pt x="217805" y="973074"/>
                      <a:pt x="0" y="755269"/>
                      <a:pt x="0" y="486537"/>
                    </a:cubicBezTo>
                    <a:close/>
                  </a:path>
                </a:pathLst>
              </a:custGeom>
              <a:blipFill>
                <a:blip r:embed="rId3">
                  <a:alphaModFix amt="0"/>
                </a:blip>
                <a:stretch>
                  <a:fillRect l="-78308" t="0" r="-78315" b="-6"/>
                </a:stretch>
              </a:blipFill>
              <a:ln w="19050" cap="sq">
                <a:solidFill>
                  <a:srgbClr val="FFFFFF"/>
                </a:solidFill>
                <a:prstDash val="solid"/>
                <a:miter/>
              </a:ln>
            </p:spPr>
          </p:sp>
          <p:sp>
            <p:nvSpPr>
              <p:cNvPr name="TextBox 36" id="36"/>
              <p:cNvSpPr txBox="true"/>
              <p:nvPr/>
            </p:nvSpPr>
            <p:spPr>
              <a:xfrm>
                <a:off x="0" y="-9525"/>
                <a:ext cx="973138" cy="982663"/>
              </a:xfrm>
              <a:prstGeom prst="rect">
                <a:avLst/>
              </a:prstGeom>
            </p:spPr>
            <p:txBody>
              <a:bodyPr anchor="ctr" rtlCol="false" tIns="50800" lIns="50800" bIns="50800" rIns="50800"/>
              <a:lstStyle/>
              <a:p>
                <a:pPr algn="ctr">
                  <a:lnSpc>
                    <a:spcPts val="4050"/>
                  </a:lnSpc>
                </a:pPr>
                <a:r>
                  <a:rPr lang="en-US" sz="3375">
                    <a:solidFill>
                      <a:srgbClr val="FFFFFF"/>
                    </a:solidFill>
                    <a:latin typeface="Work Sans"/>
                    <a:ea typeface="Work Sans"/>
                    <a:cs typeface="Work Sans"/>
                    <a:sym typeface="Work Sans"/>
                  </a:rPr>
                  <a:t>3</a:t>
                </a:r>
              </a:p>
            </p:txBody>
          </p:sp>
        </p:grpSp>
        <p:grpSp>
          <p:nvGrpSpPr>
            <p:cNvPr name="Group 37" id="37"/>
            <p:cNvGrpSpPr/>
            <p:nvPr/>
          </p:nvGrpSpPr>
          <p:grpSpPr>
            <a:xfrm rot="0">
              <a:off x="18226563" y="0"/>
              <a:ext cx="2690743" cy="1155433"/>
              <a:chOff x="0" y="0"/>
              <a:chExt cx="2690743" cy="1155433"/>
            </a:xfrm>
          </p:grpSpPr>
          <p:sp>
            <p:nvSpPr>
              <p:cNvPr name="Freeform 38" id="38"/>
              <p:cNvSpPr/>
              <p:nvPr/>
            </p:nvSpPr>
            <p:spPr>
              <a:xfrm flipH="false" flipV="false" rot="0">
                <a:off x="0" y="0"/>
                <a:ext cx="2690745" cy="1155431"/>
              </a:xfrm>
              <a:custGeom>
                <a:avLst/>
                <a:gdLst/>
                <a:ahLst/>
                <a:cxnLst/>
                <a:rect r="r" b="b" t="t" l="l"/>
                <a:pathLst>
                  <a:path h="1155431" w="2690745">
                    <a:moveTo>
                      <a:pt x="0" y="0"/>
                    </a:moveTo>
                    <a:lnTo>
                      <a:pt x="2690745" y="0"/>
                    </a:lnTo>
                    <a:lnTo>
                      <a:pt x="2690745" y="1155431"/>
                    </a:lnTo>
                    <a:lnTo>
                      <a:pt x="0" y="1155431"/>
                    </a:lnTo>
                    <a:close/>
                  </a:path>
                </a:pathLst>
              </a:custGeom>
              <a:blipFill>
                <a:blip r:embed="rId3">
                  <a:alphaModFix amt="0"/>
                </a:blip>
                <a:stretch>
                  <a:fillRect l="-18847" t="0" r="4277" b="-3974"/>
                </a:stretch>
              </a:blipFill>
            </p:spPr>
          </p:sp>
          <p:sp>
            <p:nvSpPr>
              <p:cNvPr name="TextBox 39" id="39"/>
              <p:cNvSpPr txBox="true"/>
              <p:nvPr/>
            </p:nvSpPr>
            <p:spPr>
              <a:xfrm>
                <a:off x="0" y="-47625"/>
                <a:ext cx="2690743" cy="1203058"/>
              </a:xfrm>
              <a:prstGeom prst="rect">
                <a:avLst/>
              </a:prstGeom>
            </p:spPr>
            <p:txBody>
              <a:bodyPr anchor="ctr" rtlCol="false" tIns="0" lIns="0" bIns="0" rIns="0"/>
              <a:lstStyle/>
              <a:p>
                <a:pPr algn="l">
                  <a:lnSpc>
                    <a:spcPts val="3078"/>
                  </a:lnSpc>
                </a:pPr>
                <a:r>
                  <a:rPr lang="en-US" sz="2250">
                    <a:solidFill>
                      <a:srgbClr val="8FDB00"/>
                    </a:solidFill>
                    <a:latin typeface="Work Sans"/>
                    <a:ea typeface="Work Sans"/>
                    <a:cs typeface="Work Sans"/>
                    <a:sym typeface="Work Sans"/>
                  </a:rPr>
                  <a:t>Raspberry Pi 5</a:t>
                </a:r>
              </a:p>
            </p:txBody>
          </p:sp>
        </p:grpSp>
        <p:sp>
          <p:nvSpPr>
            <p:cNvPr name="Freeform 40" id="40"/>
            <p:cNvSpPr/>
            <p:nvPr/>
          </p:nvSpPr>
          <p:spPr>
            <a:xfrm flipH="false" flipV="false" rot="0">
              <a:off x="7932353" y="1362031"/>
              <a:ext cx="7054266" cy="7054266"/>
            </a:xfrm>
            <a:custGeom>
              <a:avLst/>
              <a:gdLst/>
              <a:ahLst/>
              <a:cxnLst/>
              <a:rect r="r" b="b" t="t" l="l"/>
              <a:pathLst>
                <a:path h="7054266" w="7054266">
                  <a:moveTo>
                    <a:pt x="0" y="0"/>
                  </a:moveTo>
                  <a:lnTo>
                    <a:pt x="7054266" y="0"/>
                  </a:lnTo>
                  <a:lnTo>
                    <a:pt x="7054266" y="7054265"/>
                  </a:lnTo>
                  <a:lnTo>
                    <a:pt x="0" y="70542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1" id="41"/>
            <p:cNvSpPr txBox="true"/>
            <p:nvPr/>
          </p:nvSpPr>
          <p:spPr>
            <a:xfrm rot="0">
              <a:off x="10946292" y="1710468"/>
              <a:ext cx="1026376" cy="441604"/>
            </a:xfrm>
            <a:prstGeom prst="rect">
              <a:avLst/>
            </a:prstGeom>
          </p:spPr>
          <p:txBody>
            <a:bodyPr anchor="t" rtlCol="false" tIns="0" lIns="0" bIns="0" rIns="0">
              <a:spAutoFit/>
            </a:bodyPr>
            <a:lstStyle/>
            <a:p>
              <a:pPr algn="ctr">
                <a:lnSpc>
                  <a:spcPts val="2160"/>
                </a:lnSpc>
              </a:pPr>
              <a:r>
                <a:rPr lang="en-US" sz="1800">
                  <a:solidFill>
                    <a:srgbClr val="4D5154"/>
                  </a:solidFill>
                  <a:latin typeface="Work Sans"/>
                  <a:ea typeface="Work Sans"/>
                  <a:cs typeface="Work Sans"/>
                  <a:sym typeface="Work Sans"/>
                </a:rPr>
                <a:t>Vision</a:t>
              </a:r>
            </a:p>
          </p:txBody>
        </p:sp>
        <p:sp>
          <p:nvSpPr>
            <p:cNvPr name="TextBox 42" id="42"/>
            <p:cNvSpPr txBox="true"/>
            <p:nvPr/>
          </p:nvSpPr>
          <p:spPr>
            <a:xfrm rot="0">
              <a:off x="10824473" y="2978017"/>
              <a:ext cx="1270038" cy="441604"/>
            </a:xfrm>
            <a:prstGeom prst="rect">
              <a:avLst/>
            </a:prstGeom>
          </p:spPr>
          <p:txBody>
            <a:bodyPr anchor="t" rtlCol="false" tIns="0" lIns="0" bIns="0" rIns="0">
              <a:spAutoFit/>
            </a:bodyPr>
            <a:lstStyle/>
            <a:p>
              <a:pPr algn="ctr">
                <a:lnSpc>
                  <a:spcPts val="2160"/>
                </a:lnSpc>
              </a:pPr>
              <a:r>
                <a:rPr lang="en-US" sz="1800">
                  <a:solidFill>
                    <a:srgbClr val="4D5154"/>
                  </a:solidFill>
                  <a:latin typeface="Work Sans"/>
                  <a:ea typeface="Work Sans"/>
                  <a:cs typeface="Work Sans"/>
                  <a:sym typeface="Work Sans"/>
                </a:rPr>
                <a:t>Mission</a:t>
              </a:r>
            </a:p>
          </p:txBody>
        </p:sp>
        <p:sp>
          <p:nvSpPr>
            <p:cNvPr name="TextBox 43" id="43"/>
            <p:cNvSpPr txBox="true"/>
            <p:nvPr/>
          </p:nvSpPr>
          <p:spPr>
            <a:xfrm rot="0">
              <a:off x="10893396" y="4445984"/>
              <a:ext cx="1132180" cy="810933"/>
            </a:xfrm>
            <a:prstGeom prst="rect">
              <a:avLst/>
            </a:prstGeom>
          </p:spPr>
          <p:txBody>
            <a:bodyPr anchor="t" rtlCol="false" tIns="0" lIns="0" bIns="0" rIns="0">
              <a:spAutoFit/>
            </a:bodyPr>
            <a:lstStyle/>
            <a:p>
              <a:pPr algn="ctr">
                <a:lnSpc>
                  <a:spcPts val="2160"/>
                </a:lnSpc>
              </a:pPr>
              <a:r>
                <a:rPr lang="en-US" sz="1800">
                  <a:solidFill>
                    <a:srgbClr val="4D5154"/>
                  </a:solidFill>
                  <a:latin typeface="Work Sans"/>
                  <a:ea typeface="Work Sans"/>
                  <a:cs typeface="Work Sans"/>
                  <a:sym typeface="Work Sans"/>
                </a:rPr>
                <a:t>Core</a:t>
              </a:r>
            </a:p>
            <a:p>
              <a:pPr algn="ctr">
                <a:lnSpc>
                  <a:spcPts val="2160"/>
                </a:lnSpc>
              </a:pPr>
              <a:r>
                <a:rPr lang="en-US" sz="1800">
                  <a:solidFill>
                    <a:srgbClr val="4D5154"/>
                  </a:solidFill>
                  <a:latin typeface="Work Sans"/>
                  <a:ea typeface="Work Sans"/>
                  <a:cs typeface="Work Sans"/>
                  <a:sym typeface="Work Sans"/>
                </a:rPr>
                <a:t>Values</a:t>
              </a:r>
            </a:p>
          </p:txBody>
        </p:sp>
        <p:sp>
          <p:nvSpPr>
            <p:cNvPr name="Freeform 44" id="44"/>
            <p:cNvSpPr/>
            <p:nvPr/>
          </p:nvSpPr>
          <p:spPr>
            <a:xfrm flipH="false" flipV="false" rot="0">
              <a:off x="7516390" y="912628"/>
              <a:ext cx="7892415" cy="7892415"/>
            </a:xfrm>
            <a:custGeom>
              <a:avLst/>
              <a:gdLst/>
              <a:ahLst/>
              <a:cxnLst/>
              <a:rect r="r" b="b" t="t" l="l"/>
              <a:pathLst>
                <a:path h="7892415" w="7892415">
                  <a:moveTo>
                    <a:pt x="0" y="0"/>
                  </a:moveTo>
                  <a:lnTo>
                    <a:pt x="7892415" y="0"/>
                  </a:lnTo>
                  <a:lnTo>
                    <a:pt x="7892415" y="7892415"/>
                  </a:lnTo>
                  <a:lnTo>
                    <a:pt x="0" y="78924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5" id="45"/>
            <p:cNvSpPr/>
            <p:nvPr/>
          </p:nvSpPr>
          <p:spPr>
            <a:xfrm flipH="false" flipV="false" rot="0">
              <a:off x="7520695" y="1167022"/>
              <a:ext cx="1998866" cy="341617"/>
            </a:xfrm>
            <a:custGeom>
              <a:avLst/>
              <a:gdLst/>
              <a:ahLst/>
              <a:cxnLst/>
              <a:rect r="r" b="b" t="t" l="l"/>
              <a:pathLst>
                <a:path h="341617" w="1998866">
                  <a:moveTo>
                    <a:pt x="0" y="0"/>
                  </a:moveTo>
                  <a:lnTo>
                    <a:pt x="1998866" y="0"/>
                  </a:lnTo>
                  <a:lnTo>
                    <a:pt x="1998866" y="341617"/>
                  </a:lnTo>
                  <a:lnTo>
                    <a:pt x="0" y="3416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46" id="46"/>
            <p:cNvSpPr/>
            <p:nvPr/>
          </p:nvSpPr>
          <p:spPr>
            <a:xfrm>
              <a:off x="6292949" y="4843523"/>
              <a:ext cx="1275942" cy="25546"/>
            </a:xfrm>
            <a:prstGeom prst="line">
              <a:avLst/>
            </a:prstGeom>
            <a:ln cap="rnd" w="12700">
              <a:solidFill>
                <a:srgbClr val="FFFFFF"/>
              </a:solidFill>
              <a:prstDash val="solid"/>
              <a:headEnd type="diamond" len="lg" w="lg"/>
              <a:tailEnd type="diamond" len="lg" w="lg"/>
            </a:ln>
          </p:spPr>
        </p:sp>
        <p:sp>
          <p:nvSpPr>
            <p:cNvPr name="Freeform 47" id="47"/>
            <p:cNvSpPr/>
            <p:nvPr/>
          </p:nvSpPr>
          <p:spPr>
            <a:xfrm flipH="false" flipV="false" rot="0">
              <a:off x="7520695" y="8215979"/>
              <a:ext cx="1998866" cy="341617"/>
            </a:xfrm>
            <a:custGeom>
              <a:avLst/>
              <a:gdLst/>
              <a:ahLst/>
              <a:cxnLst/>
              <a:rect r="r" b="b" t="t" l="l"/>
              <a:pathLst>
                <a:path h="341617" w="1998866">
                  <a:moveTo>
                    <a:pt x="0" y="0"/>
                  </a:moveTo>
                  <a:lnTo>
                    <a:pt x="1998866" y="0"/>
                  </a:lnTo>
                  <a:lnTo>
                    <a:pt x="1998866" y="341618"/>
                  </a:lnTo>
                  <a:lnTo>
                    <a:pt x="0" y="3416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AutoShape 48" id="48"/>
            <p:cNvSpPr/>
            <p:nvPr/>
          </p:nvSpPr>
          <p:spPr>
            <a:xfrm flipH="true" flipV="true">
              <a:off x="15358647" y="4845893"/>
              <a:ext cx="1333931" cy="25403"/>
            </a:xfrm>
            <a:prstGeom prst="line">
              <a:avLst/>
            </a:prstGeom>
            <a:ln cap="rnd" w="12700">
              <a:solidFill>
                <a:srgbClr val="FFFFFF"/>
              </a:solidFill>
              <a:prstDash val="solid"/>
              <a:headEnd type="diamond" len="lg" w="lg"/>
              <a:tailEnd type="diamond" len="lg" w="lg"/>
            </a:ln>
          </p:spPr>
        </p:sp>
        <p:sp>
          <p:nvSpPr>
            <p:cNvPr name="Freeform 49" id="49"/>
            <p:cNvSpPr/>
            <p:nvPr/>
          </p:nvSpPr>
          <p:spPr>
            <a:xfrm flipH="false" flipV="false" rot="-10800000">
              <a:off x="13359781" y="1191222"/>
              <a:ext cx="1998866" cy="341617"/>
            </a:xfrm>
            <a:custGeom>
              <a:avLst/>
              <a:gdLst/>
              <a:ahLst/>
              <a:cxnLst/>
              <a:rect r="r" b="b" t="t" l="l"/>
              <a:pathLst>
                <a:path h="341617" w="1998866">
                  <a:moveTo>
                    <a:pt x="0" y="0"/>
                  </a:moveTo>
                  <a:lnTo>
                    <a:pt x="1998866" y="0"/>
                  </a:lnTo>
                  <a:lnTo>
                    <a:pt x="1998866" y="341617"/>
                  </a:lnTo>
                  <a:lnTo>
                    <a:pt x="0" y="3416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0" id="50"/>
            <p:cNvSpPr/>
            <p:nvPr/>
          </p:nvSpPr>
          <p:spPr>
            <a:xfrm flipH="false" flipV="false" rot="-10800000">
              <a:off x="13410600" y="8245488"/>
              <a:ext cx="1998866" cy="341617"/>
            </a:xfrm>
            <a:custGeom>
              <a:avLst/>
              <a:gdLst/>
              <a:ahLst/>
              <a:cxnLst/>
              <a:rect r="r" b="b" t="t" l="l"/>
              <a:pathLst>
                <a:path h="341617" w="1998866">
                  <a:moveTo>
                    <a:pt x="0" y="0"/>
                  </a:moveTo>
                  <a:lnTo>
                    <a:pt x="1998865" y="0"/>
                  </a:lnTo>
                  <a:lnTo>
                    <a:pt x="1998865" y="341617"/>
                  </a:lnTo>
                  <a:lnTo>
                    <a:pt x="0" y="3416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1" id="51"/>
            <p:cNvSpPr/>
            <p:nvPr/>
          </p:nvSpPr>
          <p:spPr>
            <a:xfrm flipH="false" flipV="false" rot="0">
              <a:off x="16789003" y="509051"/>
              <a:ext cx="1247060" cy="1247060"/>
            </a:xfrm>
            <a:custGeom>
              <a:avLst/>
              <a:gdLst/>
              <a:ahLst/>
              <a:cxnLst/>
              <a:rect r="r" b="b" t="t" l="l"/>
              <a:pathLst>
                <a:path h="1247060" w="1247060">
                  <a:moveTo>
                    <a:pt x="0" y="0"/>
                  </a:moveTo>
                  <a:lnTo>
                    <a:pt x="1247060" y="0"/>
                  </a:lnTo>
                  <a:lnTo>
                    <a:pt x="1247060" y="1247061"/>
                  </a:lnTo>
                  <a:lnTo>
                    <a:pt x="0" y="1247061"/>
                  </a:lnTo>
                  <a:lnTo>
                    <a:pt x="0" y="0"/>
                  </a:lnTo>
                  <a:close/>
                </a:path>
              </a:pathLst>
            </a:custGeom>
            <a:blipFill>
              <a:blip r:embed="rId12"/>
              <a:stretch>
                <a:fillRect l="0" t="0" r="0" b="0"/>
              </a:stretch>
            </a:blipFill>
          </p:spPr>
        </p:sp>
        <p:grpSp>
          <p:nvGrpSpPr>
            <p:cNvPr name="Group 52" id="52"/>
            <p:cNvGrpSpPr/>
            <p:nvPr/>
          </p:nvGrpSpPr>
          <p:grpSpPr>
            <a:xfrm rot="0">
              <a:off x="19285121" y="3871246"/>
              <a:ext cx="2690743" cy="1155433"/>
              <a:chOff x="0" y="0"/>
              <a:chExt cx="2690743" cy="1155433"/>
            </a:xfrm>
          </p:grpSpPr>
          <p:sp>
            <p:nvSpPr>
              <p:cNvPr name="Freeform 53" id="53"/>
              <p:cNvSpPr/>
              <p:nvPr/>
            </p:nvSpPr>
            <p:spPr>
              <a:xfrm flipH="false" flipV="false" rot="0">
                <a:off x="0" y="0"/>
                <a:ext cx="2690745" cy="1155431"/>
              </a:xfrm>
              <a:custGeom>
                <a:avLst/>
                <a:gdLst/>
                <a:ahLst/>
                <a:cxnLst/>
                <a:rect r="r" b="b" t="t" l="l"/>
                <a:pathLst>
                  <a:path h="1155431" w="2690745">
                    <a:moveTo>
                      <a:pt x="0" y="0"/>
                    </a:moveTo>
                    <a:lnTo>
                      <a:pt x="2690745" y="0"/>
                    </a:lnTo>
                    <a:lnTo>
                      <a:pt x="2690745" y="1155431"/>
                    </a:lnTo>
                    <a:lnTo>
                      <a:pt x="0" y="1155431"/>
                    </a:lnTo>
                    <a:close/>
                  </a:path>
                </a:pathLst>
              </a:custGeom>
              <a:blipFill>
                <a:blip r:embed="rId3">
                  <a:alphaModFix amt="0"/>
                </a:blip>
                <a:stretch>
                  <a:fillRect l="-18847" t="0" r="4277" b="-3974"/>
                </a:stretch>
              </a:blipFill>
            </p:spPr>
          </p:sp>
          <p:sp>
            <p:nvSpPr>
              <p:cNvPr name="TextBox 54" id="54"/>
              <p:cNvSpPr txBox="true"/>
              <p:nvPr/>
            </p:nvSpPr>
            <p:spPr>
              <a:xfrm>
                <a:off x="0" y="-47625"/>
                <a:ext cx="2690743" cy="1203058"/>
              </a:xfrm>
              <a:prstGeom prst="rect">
                <a:avLst/>
              </a:prstGeom>
            </p:spPr>
            <p:txBody>
              <a:bodyPr anchor="ctr" rtlCol="false" tIns="0" lIns="0" bIns="0" rIns="0"/>
              <a:lstStyle/>
              <a:p>
                <a:pPr algn="l">
                  <a:lnSpc>
                    <a:spcPts val="3078"/>
                  </a:lnSpc>
                </a:pPr>
                <a:r>
                  <a:rPr lang="en-US" sz="2250">
                    <a:solidFill>
                      <a:srgbClr val="8FDB00"/>
                    </a:solidFill>
                    <a:latin typeface="Work Sans"/>
                    <a:ea typeface="Work Sans"/>
                    <a:cs typeface="Work Sans"/>
                    <a:sym typeface="Work Sans"/>
                  </a:rPr>
                  <a:t>MCP2515</a:t>
                </a:r>
                <a:r>
                  <a:rPr lang="en-US" sz="2250">
                    <a:solidFill>
                      <a:srgbClr val="8FDB00"/>
                    </a:solidFill>
                    <a:latin typeface="Work Sans"/>
                    <a:ea typeface="Work Sans"/>
                    <a:cs typeface="Work Sans"/>
                    <a:sym typeface="Work Sans"/>
                  </a:rPr>
                  <a:t> (SPI)</a:t>
                </a:r>
              </a:p>
            </p:txBody>
          </p:sp>
        </p:grpSp>
        <p:sp>
          <p:nvSpPr>
            <p:cNvPr name="TextBox 55" id="55"/>
            <p:cNvSpPr txBox="true"/>
            <p:nvPr/>
          </p:nvSpPr>
          <p:spPr>
            <a:xfrm rot="0">
              <a:off x="19285121" y="4826363"/>
              <a:ext cx="3264372" cy="1755773"/>
            </a:xfrm>
            <a:prstGeom prst="rect">
              <a:avLst/>
            </a:prstGeom>
          </p:spPr>
          <p:txBody>
            <a:bodyPr anchor="t" rtlCol="false" tIns="0" lIns="0" bIns="0" rIns="0">
              <a:spAutoFit/>
            </a:bodyPr>
            <a:lstStyle/>
            <a:p>
              <a:pPr algn="l">
                <a:lnSpc>
                  <a:spcPts val="2100"/>
                </a:lnSpc>
              </a:pPr>
              <a:r>
                <a:rPr lang="en-US" sz="1500">
                  <a:solidFill>
                    <a:srgbClr val="FFFFFF"/>
                  </a:solidFill>
                  <a:latin typeface="Canva Sans"/>
                  <a:ea typeface="Canva Sans"/>
                  <a:cs typeface="Canva Sans"/>
                  <a:sym typeface="Canva Sans"/>
                </a:rPr>
                <a:t>Singl</a:t>
              </a:r>
              <a:r>
                <a:rPr lang="en-US" sz="1500">
                  <a:solidFill>
                    <a:srgbClr val="FFFFFF"/>
                  </a:solidFill>
                  <a:latin typeface="Canva Sans"/>
                  <a:ea typeface="Canva Sans"/>
                  <a:cs typeface="Canva Sans"/>
                  <a:sym typeface="Canva Sans"/>
                </a:rPr>
                <a:t>e C</a:t>
              </a:r>
              <a:r>
                <a:rPr lang="en-US" sz="1500">
                  <a:solidFill>
                    <a:srgbClr val="FFFFFF"/>
                  </a:solidFill>
                  <a:latin typeface="Canva Sans"/>
                  <a:ea typeface="Canva Sans"/>
                  <a:cs typeface="Canva Sans"/>
                  <a:sym typeface="Canva Sans"/>
                </a:rPr>
                <a:t>AN channel with SPI communication overhead; throughput bottlenecks may occur above ~1000 frames/sec.</a:t>
              </a:r>
            </a:p>
          </p:txBody>
        </p:sp>
        <p:sp>
          <p:nvSpPr>
            <p:cNvPr name="Freeform 56" id="56"/>
            <p:cNvSpPr/>
            <p:nvPr/>
          </p:nvSpPr>
          <p:spPr>
            <a:xfrm flipH="false" flipV="false" rot="0">
              <a:off x="17907009" y="4262888"/>
              <a:ext cx="1179941" cy="1252538"/>
            </a:xfrm>
            <a:custGeom>
              <a:avLst/>
              <a:gdLst/>
              <a:ahLst/>
              <a:cxnLst/>
              <a:rect r="r" b="b" t="t" l="l"/>
              <a:pathLst>
                <a:path h="1252538" w="1179941">
                  <a:moveTo>
                    <a:pt x="0" y="0"/>
                  </a:moveTo>
                  <a:lnTo>
                    <a:pt x="1179941" y="0"/>
                  </a:lnTo>
                  <a:lnTo>
                    <a:pt x="1179941" y="1252538"/>
                  </a:lnTo>
                  <a:lnTo>
                    <a:pt x="0" y="1252538"/>
                  </a:lnTo>
                  <a:lnTo>
                    <a:pt x="0" y="0"/>
                  </a:lnTo>
                  <a:close/>
                </a:path>
              </a:pathLst>
            </a:custGeom>
            <a:blipFill>
              <a:blip r:embed="rId13"/>
              <a:stretch>
                <a:fillRect l="-2292" t="-9316" r="-5844" b="-8779"/>
              </a:stretch>
            </a:blipFill>
          </p:spPr>
        </p:sp>
        <p:sp>
          <p:nvSpPr>
            <p:cNvPr name="Freeform 57" id="57"/>
            <p:cNvSpPr/>
            <p:nvPr/>
          </p:nvSpPr>
          <p:spPr>
            <a:xfrm flipH="false" flipV="false" rot="0">
              <a:off x="16874361" y="7894777"/>
              <a:ext cx="1225407" cy="1254817"/>
            </a:xfrm>
            <a:custGeom>
              <a:avLst/>
              <a:gdLst/>
              <a:ahLst/>
              <a:cxnLst/>
              <a:rect r="r" b="b" t="t" l="l"/>
              <a:pathLst>
                <a:path h="1254817" w="1225407">
                  <a:moveTo>
                    <a:pt x="0" y="0"/>
                  </a:moveTo>
                  <a:lnTo>
                    <a:pt x="1225407" y="0"/>
                  </a:lnTo>
                  <a:lnTo>
                    <a:pt x="1225407" y="1254817"/>
                  </a:lnTo>
                  <a:lnTo>
                    <a:pt x="0" y="1254817"/>
                  </a:lnTo>
                  <a:lnTo>
                    <a:pt x="0" y="0"/>
                  </a:lnTo>
                  <a:close/>
                </a:path>
              </a:pathLst>
            </a:custGeom>
            <a:blipFill>
              <a:blip r:embed="rId14"/>
              <a:stretch>
                <a:fillRect l="0" t="0" r="0" b="0"/>
              </a:stretch>
            </a:blipFill>
          </p:spPr>
        </p:sp>
        <p:grpSp>
          <p:nvGrpSpPr>
            <p:cNvPr name="Group 58" id="58"/>
            <p:cNvGrpSpPr/>
            <p:nvPr/>
          </p:nvGrpSpPr>
          <p:grpSpPr>
            <a:xfrm rot="0">
              <a:off x="18267647" y="7620842"/>
              <a:ext cx="3170607" cy="1155433"/>
              <a:chOff x="0" y="0"/>
              <a:chExt cx="3170607" cy="1155433"/>
            </a:xfrm>
          </p:grpSpPr>
          <p:sp>
            <p:nvSpPr>
              <p:cNvPr name="Freeform 59" id="59"/>
              <p:cNvSpPr/>
              <p:nvPr/>
            </p:nvSpPr>
            <p:spPr>
              <a:xfrm flipH="false" flipV="false" rot="0">
                <a:off x="0" y="0"/>
                <a:ext cx="3170608" cy="1155431"/>
              </a:xfrm>
              <a:custGeom>
                <a:avLst/>
                <a:gdLst/>
                <a:ahLst/>
                <a:cxnLst/>
                <a:rect r="r" b="b" t="t" l="l"/>
                <a:pathLst>
                  <a:path h="1155431" w="3170608">
                    <a:moveTo>
                      <a:pt x="0" y="0"/>
                    </a:moveTo>
                    <a:lnTo>
                      <a:pt x="3170608" y="0"/>
                    </a:lnTo>
                    <a:lnTo>
                      <a:pt x="3170608" y="1155431"/>
                    </a:lnTo>
                    <a:lnTo>
                      <a:pt x="0" y="1155431"/>
                    </a:lnTo>
                    <a:close/>
                  </a:path>
                </a:pathLst>
              </a:custGeom>
              <a:blipFill>
                <a:blip r:embed="rId3">
                  <a:alphaModFix amt="0"/>
                </a:blip>
                <a:stretch>
                  <a:fillRect l="-15994" t="0" r="18765" b="-3974"/>
                </a:stretch>
              </a:blipFill>
            </p:spPr>
          </p:sp>
          <p:sp>
            <p:nvSpPr>
              <p:cNvPr name="TextBox 60" id="60"/>
              <p:cNvSpPr txBox="true"/>
              <p:nvPr/>
            </p:nvSpPr>
            <p:spPr>
              <a:xfrm>
                <a:off x="0" y="-47625"/>
                <a:ext cx="3170607" cy="1203058"/>
              </a:xfrm>
              <a:prstGeom prst="rect">
                <a:avLst/>
              </a:prstGeom>
            </p:spPr>
            <p:txBody>
              <a:bodyPr anchor="ctr" rtlCol="false" tIns="0" lIns="0" bIns="0" rIns="0"/>
              <a:lstStyle/>
              <a:p>
                <a:pPr algn="l">
                  <a:lnSpc>
                    <a:spcPts val="3078"/>
                  </a:lnSpc>
                </a:pPr>
                <a:r>
                  <a:rPr lang="en-US" sz="2250">
                    <a:solidFill>
                      <a:srgbClr val="8FDB00"/>
                    </a:solidFill>
                    <a:latin typeface="Work Sans"/>
                    <a:ea typeface="Work Sans"/>
                    <a:cs typeface="Work Sans"/>
                    <a:sym typeface="Work Sans"/>
                  </a:rPr>
                  <a:t>PCAN-USB</a:t>
                </a:r>
              </a:p>
            </p:txBody>
          </p:sp>
        </p:grpSp>
        <p:sp>
          <p:nvSpPr>
            <p:cNvPr name="TextBox 61" id="61"/>
            <p:cNvSpPr txBox="true"/>
            <p:nvPr/>
          </p:nvSpPr>
          <p:spPr>
            <a:xfrm rot="0">
              <a:off x="18267647" y="8575959"/>
              <a:ext cx="3846536" cy="1044573"/>
            </a:xfrm>
            <a:prstGeom prst="rect">
              <a:avLst/>
            </a:prstGeom>
          </p:spPr>
          <p:txBody>
            <a:bodyPr anchor="t" rtlCol="false" tIns="0" lIns="0" bIns="0" rIns="0">
              <a:spAutoFit/>
            </a:bodyPr>
            <a:lstStyle/>
            <a:p>
              <a:pPr algn="l">
                <a:lnSpc>
                  <a:spcPts val="2100"/>
                </a:lnSpc>
              </a:pPr>
              <a:r>
                <a:rPr lang="en-US" sz="1500">
                  <a:solidFill>
                    <a:srgbClr val="FFFFFF"/>
                  </a:solidFill>
                  <a:latin typeface="Canva Sans"/>
                  <a:ea typeface="Canva Sans"/>
                  <a:cs typeface="Canva Sans"/>
                  <a:sym typeface="Canva Sans"/>
                </a:rPr>
                <a:t>USB 2.0 interf</a:t>
              </a:r>
              <a:r>
                <a:rPr lang="en-US" sz="1500">
                  <a:solidFill>
                    <a:srgbClr val="FFFFFF"/>
                  </a:solidFill>
                  <a:latin typeface="Canva Sans"/>
                  <a:ea typeface="Canva Sans"/>
                  <a:cs typeface="Canva Sans"/>
                  <a:sym typeface="Canva Sans"/>
                </a:rPr>
                <a:t>ace with</a:t>
              </a:r>
              <a:r>
                <a:rPr lang="en-US" sz="1500">
                  <a:solidFill>
                    <a:srgbClr val="FFFFFF"/>
                  </a:solidFill>
                  <a:latin typeface="Canva Sans"/>
                  <a:ea typeface="Canva Sans"/>
                  <a:cs typeface="Canva Sans"/>
                  <a:sym typeface="Canva Sans"/>
                </a:rPr>
                <a:t> ~1 ms polling latency; requires Linux PCAN kernel driver support.</a:t>
              </a:r>
            </a:p>
          </p:txBody>
        </p:sp>
        <p:grpSp>
          <p:nvGrpSpPr>
            <p:cNvPr name="Group 62" id="62"/>
            <p:cNvGrpSpPr/>
            <p:nvPr/>
          </p:nvGrpSpPr>
          <p:grpSpPr>
            <a:xfrm rot="0">
              <a:off x="1897085" y="179896"/>
              <a:ext cx="2690743" cy="1155433"/>
              <a:chOff x="0" y="0"/>
              <a:chExt cx="2690743" cy="1155433"/>
            </a:xfrm>
          </p:grpSpPr>
          <p:sp>
            <p:nvSpPr>
              <p:cNvPr name="Freeform 63" id="63"/>
              <p:cNvSpPr/>
              <p:nvPr/>
            </p:nvSpPr>
            <p:spPr>
              <a:xfrm flipH="false" flipV="false" rot="0">
                <a:off x="0" y="0"/>
                <a:ext cx="2690745" cy="1155431"/>
              </a:xfrm>
              <a:custGeom>
                <a:avLst/>
                <a:gdLst/>
                <a:ahLst/>
                <a:cxnLst/>
                <a:rect r="r" b="b" t="t" l="l"/>
                <a:pathLst>
                  <a:path h="1155431" w="2690745">
                    <a:moveTo>
                      <a:pt x="0" y="0"/>
                    </a:moveTo>
                    <a:lnTo>
                      <a:pt x="2690745" y="0"/>
                    </a:lnTo>
                    <a:lnTo>
                      <a:pt x="2690745" y="1155431"/>
                    </a:lnTo>
                    <a:lnTo>
                      <a:pt x="0" y="1155431"/>
                    </a:lnTo>
                    <a:close/>
                  </a:path>
                </a:pathLst>
              </a:custGeom>
              <a:blipFill>
                <a:blip r:embed="rId3">
                  <a:alphaModFix amt="0"/>
                </a:blip>
                <a:stretch>
                  <a:fillRect l="-18847" t="0" r="4277" b="-3974"/>
                </a:stretch>
              </a:blipFill>
            </p:spPr>
          </p:sp>
          <p:sp>
            <p:nvSpPr>
              <p:cNvPr name="TextBox 64" id="64"/>
              <p:cNvSpPr txBox="true"/>
              <p:nvPr/>
            </p:nvSpPr>
            <p:spPr>
              <a:xfrm>
                <a:off x="0" y="-47625"/>
                <a:ext cx="2690743" cy="1203058"/>
              </a:xfrm>
              <a:prstGeom prst="rect">
                <a:avLst/>
              </a:prstGeom>
            </p:spPr>
            <p:txBody>
              <a:bodyPr anchor="ctr" rtlCol="false" tIns="0" lIns="0" bIns="0" rIns="0"/>
              <a:lstStyle/>
              <a:p>
                <a:pPr algn="ctr">
                  <a:lnSpc>
                    <a:spcPts val="3078"/>
                  </a:lnSpc>
                </a:pPr>
                <a:r>
                  <a:rPr lang="en-US" sz="2250">
                    <a:solidFill>
                      <a:srgbClr val="753DFF"/>
                    </a:solidFill>
                    <a:latin typeface="Work Sans"/>
                    <a:ea typeface="Work Sans"/>
                    <a:cs typeface="Work Sans"/>
                    <a:sym typeface="Work Sans"/>
                  </a:rPr>
                  <a:t>Networking</a:t>
                </a:r>
              </a:p>
            </p:txBody>
          </p:sp>
        </p:grpSp>
        <p:sp>
          <p:nvSpPr>
            <p:cNvPr name="TextBox 65" id="65"/>
            <p:cNvSpPr txBox="true"/>
            <p:nvPr/>
          </p:nvSpPr>
          <p:spPr>
            <a:xfrm rot="0">
              <a:off x="1323456" y="1130009"/>
              <a:ext cx="3264372" cy="1755773"/>
            </a:xfrm>
            <a:prstGeom prst="rect">
              <a:avLst/>
            </a:prstGeom>
          </p:spPr>
          <p:txBody>
            <a:bodyPr anchor="t" rtlCol="false" tIns="0" lIns="0" bIns="0" rIns="0">
              <a:spAutoFit/>
            </a:bodyPr>
            <a:lstStyle/>
            <a:p>
              <a:pPr algn="r">
                <a:lnSpc>
                  <a:spcPts val="2100"/>
                </a:lnSpc>
              </a:pPr>
              <a:r>
                <a:rPr lang="en-US" sz="1500">
                  <a:solidFill>
                    <a:srgbClr val="FFFFFF"/>
                  </a:solidFill>
                  <a:latin typeface="Canva Sans"/>
                  <a:ea typeface="Canva Sans"/>
                  <a:cs typeface="Canva Sans"/>
                  <a:sym typeface="Canva Sans"/>
                </a:rPr>
                <a:t>Wi-Fi l</a:t>
              </a:r>
              <a:r>
                <a:rPr lang="en-US" sz="1500">
                  <a:solidFill>
                    <a:srgbClr val="FFFFFF"/>
                  </a:solidFill>
                  <a:latin typeface="Canva Sans"/>
                  <a:ea typeface="Canva Sans"/>
                  <a:cs typeface="Canva Sans"/>
                  <a:sym typeface="Canva Sans"/>
                </a:rPr>
                <a:t>atency (10–100 ms) introduces jitter</a:t>
              </a:r>
              <a:r>
                <a:rPr lang="en-US" sz="1500">
                  <a:solidFill>
                    <a:srgbClr val="FFFFFF"/>
                  </a:solidFill>
                  <a:latin typeface="Canva Sans"/>
                  <a:ea typeface="Canva Sans"/>
                  <a:cs typeface="Canva Sans"/>
                  <a:sym typeface="Canva Sans"/>
                </a:rPr>
                <a:t>, making it difficult to satisfy the &lt;100 ms real-time requirement.</a:t>
              </a:r>
            </a:p>
          </p:txBody>
        </p:sp>
        <p:grpSp>
          <p:nvGrpSpPr>
            <p:cNvPr name="Group 66" id="66"/>
            <p:cNvGrpSpPr/>
            <p:nvPr/>
          </p:nvGrpSpPr>
          <p:grpSpPr>
            <a:xfrm rot="0">
              <a:off x="276040" y="3710524"/>
              <a:ext cx="2988332" cy="1155433"/>
              <a:chOff x="0" y="0"/>
              <a:chExt cx="2988332" cy="1155433"/>
            </a:xfrm>
          </p:grpSpPr>
          <p:sp>
            <p:nvSpPr>
              <p:cNvPr name="Freeform 67" id="67"/>
              <p:cNvSpPr/>
              <p:nvPr/>
            </p:nvSpPr>
            <p:spPr>
              <a:xfrm flipH="false" flipV="false" rot="0">
                <a:off x="0" y="0"/>
                <a:ext cx="2988333" cy="1155431"/>
              </a:xfrm>
              <a:custGeom>
                <a:avLst/>
                <a:gdLst/>
                <a:ahLst/>
                <a:cxnLst/>
                <a:rect r="r" b="b" t="t" l="l"/>
                <a:pathLst>
                  <a:path h="1155431" w="2988333">
                    <a:moveTo>
                      <a:pt x="0" y="0"/>
                    </a:moveTo>
                    <a:lnTo>
                      <a:pt x="2988333" y="0"/>
                    </a:lnTo>
                    <a:lnTo>
                      <a:pt x="2988333" y="1155431"/>
                    </a:lnTo>
                    <a:lnTo>
                      <a:pt x="0" y="1155431"/>
                    </a:lnTo>
                    <a:close/>
                  </a:path>
                </a:pathLst>
              </a:custGeom>
              <a:blipFill>
                <a:blip r:embed="rId3">
                  <a:alphaModFix amt="0"/>
                </a:blip>
                <a:stretch>
                  <a:fillRect l="-16970" t="0" r="13810" b="-3974"/>
                </a:stretch>
              </a:blipFill>
            </p:spPr>
          </p:sp>
          <p:sp>
            <p:nvSpPr>
              <p:cNvPr name="TextBox 68" id="68"/>
              <p:cNvSpPr txBox="true"/>
              <p:nvPr/>
            </p:nvSpPr>
            <p:spPr>
              <a:xfrm>
                <a:off x="0" y="-47625"/>
                <a:ext cx="2988332" cy="1203058"/>
              </a:xfrm>
              <a:prstGeom prst="rect">
                <a:avLst/>
              </a:prstGeom>
            </p:spPr>
            <p:txBody>
              <a:bodyPr anchor="ctr" rtlCol="false" tIns="0" lIns="0" bIns="0" rIns="0"/>
              <a:lstStyle/>
              <a:p>
                <a:pPr algn="ctr">
                  <a:lnSpc>
                    <a:spcPts val="3078"/>
                  </a:lnSpc>
                </a:pPr>
                <a:r>
                  <a:rPr lang="en-US" sz="2250">
                    <a:solidFill>
                      <a:srgbClr val="753DFF"/>
                    </a:solidFill>
                    <a:latin typeface="Work Sans"/>
                    <a:ea typeface="Work Sans"/>
                    <a:cs typeface="Work Sans"/>
                    <a:sym typeface="Work Sans"/>
                  </a:rPr>
                  <a:t>SocketCAN/OS</a:t>
                </a:r>
              </a:p>
            </p:txBody>
          </p:sp>
        </p:grpSp>
        <p:sp>
          <p:nvSpPr>
            <p:cNvPr name="TextBox 69" id="69"/>
            <p:cNvSpPr txBox="true"/>
            <p:nvPr/>
          </p:nvSpPr>
          <p:spPr>
            <a:xfrm rot="0">
              <a:off x="0" y="4660638"/>
              <a:ext cx="3264372" cy="1755773"/>
            </a:xfrm>
            <a:prstGeom prst="rect">
              <a:avLst/>
            </a:prstGeom>
          </p:spPr>
          <p:txBody>
            <a:bodyPr anchor="t" rtlCol="false" tIns="0" lIns="0" bIns="0" rIns="0">
              <a:spAutoFit/>
            </a:bodyPr>
            <a:lstStyle/>
            <a:p>
              <a:pPr algn="r">
                <a:lnSpc>
                  <a:spcPts val="2100"/>
                </a:lnSpc>
              </a:pPr>
              <a:r>
                <a:rPr lang="en-US" sz="1500">
                  <a:solidFill>
                    <a:srgbClr val="FFFFFF"/>
                  </a:solidFill>
                  <a:latin typeface="Canva Sans"/>
                  <a:ea typeface="Canva Sans"/>
                  <a:cs typeface="Canva Sans"/>
                  <a:sym typeface="Canva Sans"/>
                </a:rPr>
                <a:t>Pyth</a:t>
              </a:r>
              <a:r>
                <a:rPr lang="en-US" sz="1500">
                  <a:solidFill>
                    <a:srgbClr val="FFFFFF"/>
                  </a:solidFill>
                  <a:latin typeface="Canva Sans"/>
                  <a:ea typeface="Canva Sans"/>
                  <a:cs typeface="Canva Sans"/>
                  <a:sym typeface="Canva Sans"/>
                </a:rPr>
                <a:t>on</a:t>
              </a:r>
              <a:r>
                <a:rPr lang="en-US" sz="1500">
                  <a:solidFill>
                    <a:srgbClr val="FFFFFF"/>
                  </a:solidFill>
                  <a:latin typeface="Canva Sans"/>
                  <a:ea typeface="Canva Sans"/>
                  <a:cs typeface="Canva Sans"/>
                  <a:sym typeface="Canva Sans"/>
                </a:rPr>
                <a:t> GIL limits parallel execution; Flask development server is single-threaded, affecting responsiveness.</a:t>
              </a:r>
            </a:p>
          </p:txBody>
        </p:sp>
        <p:grpSp>
          <p:nvGrpSpPr>
            <p:cNvPr name="Group 70" id="70"/>
            <p:cNvGrpSpPr/>
            <p:nvPr/>
          </p:nvGrpSpPr>
          <p:grpSpPr>
            <a:xfrm rot="0">
              <a:off x="1410126" y="7411961"/>
              <a:ext cx="3270531" cy="1155433"/>
              <a:chOff x="0" y="0"/>
              <a:chExt cx="3270531" cy="1155433"/>
            </a:xfrm>
          </p:grpSpPr>
          <p:sp>
            <p:nvSpPr>
              <p:cNvPr name="Freeform 71" id="71"/>
              <p:cNvSpPr/>
              <p:nvPr/>
            </p:nvSpPr>
            <p:spPr>
              <a:xfrm flipH="false" flipV="false" rot="0">
                <a:off x="0" y="0"/>
                <a:ext cx="3270533" cy="1155431"/>
              </a:xfrm>
              <a:custGeom>
                <a:avLst/>
                <a:gdLst/>
                <a:ahLst/>
                <a:cxnLst/>
                <a:rect r="r" b="b" t="t" l="l"/>
                <a:pathLst>
                  <a:path h="1155431" w="3270533">
                    <a:moveTo>
                      <a:pt x="0" y="0"/>
                    </a:moveTo>
                    <a:lnTo>
                      <a:pt x="3270533" y="0"/>
                    </a:lnTo>
                    <a:lnTo>
                      <a:pt x="3270533" y="1155431"/>
                    </a:lnTo>
                    <a:lnTo>
                      <a:pt x="0" y="1155431"/>
                    </a:lnTo>
                    <a:close/>
                  </a:path>
                </a:pathLst>
              </a:custGeom>
              <a:blipFill>
                <a:blip r:embed="rId3">
                  <a:alphaModFix amt="0"/>
                </a:blip>
                <a:stretch>
                  <a:fillRect l="-15505" t="0" r="21247" b="-3974"/>
                </a:stretch>
              </a:blipFill>
            </p:spPr>
          </p:sp>
          <p:sp>
            <p:nvSpPr>
              <p:cNvPr name="TextBox 72" id="72"/>
              <p:cNvSpPr txBox="true"/>
              <p:nvPr/>
            </p:nvSpPr>
            <p:spPr>
              <a:xfrm>
                <a:off x="0" y="-47625"/>
                <a:ext cx="3270531" cy="1203058"/>
              </a:xfrm>
              <a:prstGeom prst="rect">
                <a:avLst/>
              </a:prstGeom>
            </p:spPr>
            <p:txBody>
              <a:bodyPr anchor="ctr" rtlCol="false" tIns="0" lIns="0" bIns="0" rIns="0"/>
              <a:lstStyle/>
              <a:p>
                <a:pPr algn="ctr">
                  <a:lnSpc>
                    <a:spcPts val="3078"/>
                  </a:lnSpc>
                </a:pPr>
                <a:r>
                  <a:rPr lang="en-US" sz="2250">
                    <a:solidFill>
                      <a:srgbClr val="753DFF"/>
                    </a:solidFill>
                    <a:latin typeface="Work Sans"/>
                    <a:ea typeface="Work Sans"/>
                    <a:cs typeface="Work Sans"/>
                    <a:sym typeface="Work Sans"/>
                  </a:rPr>
                  <a:t>Power &amp; Thermal</a:t>
                </a:r>
              </a:p>
            </p:txBody>
          </p:sp>
        </p:grpSp>
        <p:sp>
          <p:nvSpPr>
            <p:cNvPr name="TextBox 73" id="73"/>
            <p:cNvSpPr txBox="true"/>
            <p:nvPr/>
          </p:nvSpPr>
          <p:spPr>
            <a:xfrm rot="0">
              <a:off x="712895" y="8362075"/>
              <a:ext cx="3967763" cy="1400173"/>
            </a:xfrm>
            <a:prstGeom prst="rect">
              <a:avLst/>
            </a:prstGeom>
          </p:spPr>
          <p:txBody>
            <a:bodyPr anchor="t" rtlCol="false" tIns="0" lIns="0" bIns="0" rIns="0">
              <a:spAutoFit/>
            </a:bodyPr>
            <a:lstStyle/>
            <a:p>
              <a:pPr algn="r">
                <a:lnSpc>
                  <a:spcPts val="2100"/>
                </a:lnSpc>
              </a:pPr>
              <a:r>
                <a:rPr lang="en-US" sz="1500">
                  <a:solidFill>
                    <a:srgbClr val="FFFFFF"/>
                  </a:solidFill>
                  <a:latin typeface="Canva Sans"/>
                  <a:ea typeface="Canva Sans"/>
                  <a:cs typeface="Canva Sans"/>
                  <a:sym typeface="Canva Sans"/>
                </a:rPr>
                <a:t>Wi-Fi l</a:t>
              </a:r>
              <a:r>
                <a:rPr lang="en-US" sz="1500">
                  <a:solidFill>
                    <a:srgbClr val="FFFFFF"/>
                  </a:solidFill>
                  <a:latin typeface="Canva Sans"/>
                  <a:ea typeface="Canva Sans"/>
                  <a:cs typeface="Canva Sans"/>
                  <a:sym typeface="Canva Sans"/>
                </a:rPr>
                <a:t>atency (10–100 ms) introduces jitter</a:t>
              </a:r>
              <a:r>
                <a:rPr lang="en-US" sz="1500">
                  <a:solidFill>
                    <a:srgbClr val="FFFFFF"/>
                  </a:solidFill>
                  <a:latin typeface="Canva Sans"/>
                  <a:ea typeface="Canva Sans"/>
                  <a:cs typeface="Canva Sans"/>
                  <a:sym typeface="Canva Sans"/>
                </a:rPr>
                <a:t>, making it difficult to satisfy the &lt;100 ms real-time requirement.</a:t>
              </a:r>
            </a:p>
          </p:txBody>
        </p:sp>
        <p:sp>
          <p:nvSpPr>
            <p:cNvPr name="Freeform 74" id="74"/>
            <p:cNvSpPr/>
            <p:nvPr/>
          </p:nvSpPr>
          <p:spPr>
            <a:xfrm flipH="false" flipV="false" rot="0">
              <a:off x="4799891" y="7894777"/>
              <a:ext cx="1265067" cy="1275187"/>
            </a:xfrm>
            <a:custGeom>
              <a:avLst/>
              <a:gdLst/>
              <a:ahLst/>
              <a:cxnLst/>
              <a:rect r="r" b="b" t="t" l="l"/>
              <a:pathLst>
                <a:path h="1275187" w="1265067">
                  <a:moveTo>
                    <a:pt x="0" y="0"/>
                  </a:moveTo>
                  <a:lnTo>
                    <a:pt x="1265067" y="0"/>
                  </a:lnTo>
                  <a:lnTo>
                    <a:pt x="1265067" y="1275188"/>
                  </a:lnTo>
                  <a:lnTo>
                    <a:pt x="0" y="1275188"/>
                  </a:lnTo>
                  <a:lnTo>
                    <a:pt x="0" y="0"/>
                  </a:lnTo>
                  <a:close/>
                </a:path>
              </a:pathLst>
            </a:custGeom>
            <a:blipFill>
              <a:blip r:embed="rId15"/>
              <a:stretch>
                <a:fillRect l="0" t="0" r="0" b="0"/>
              </a:stretch>
            </a:blipFill>
          </p:spPr>
        </p:sp>
        <p:sp>
          <p:nvSpPr>
            <p:cNvPr name="Freeform 75" id="75"/>
            <p:cNvSpPr/>
            <p:nvPr/>
          </p:nvSpPr>
          <p:spPr>
            <a:xfrm flipH="false" flipV="false" rot="0">
              <a:off x="3430970" y="4211048"/>
              <a:ext cx="1368921" cy="1299004"/>
            </a:xfrm>
            <a:custGeom>
              <a:avLst/>
              <a:gdLst/>
              <a:ahLst/>
              <a:cxnLst/>
              <a:rect r="r" b="b" t="t" l="l"/>
              <a:pathLst>
                <a:path h="1299004" w="1368921">
                  <a:moveTo>
                    <a:pt x="0" y="0"/>
                  </a:moveTo>
                  <a:lnTo>
                    <a:pt x="1368921" y="0"/>
                  </a:lnTo>
                  <a:lnTo>
                    <a:pt x="1368921" y="1299004"/>
                  </a:lnTo>
                  <a:lnTo>
                    <a:pt x="0" y="1299004"/>
                  </a:lnTo>
                  <a:lnTo>
                    <a:pt x="0" y="0"/>
                  </a:lnTo>
                  <a:close/>
                </a:path>
              </a:pathLst>
            </a:custGeom>
            <a:blipFill>
              <a:blip r:embed="rId16"/>
              <a:stretch>
                <a:fillRect l="-8003" t="-20145" r="0" b="-12932"/>
              </a:stretch>
            </a:blipFill>
          </p:spPr>
        </p:sp>
        <p:sp>
          <p:nvSpPr>
            <p:cNvPr name="Freeform 76" id="76"/>
            <p:cNvSpPr/>
            <p:nvPr/>
          </p:nvSpPr>
          <p:spPr>
            <a:xfrm flipH="false" flipV="false" rot="0">
              <a:off x="4727528" y="509051"/>
              <a:ext cx="1337430" cy="1124866"/>
            </a:xfrm>
            <a:custGeom>
              <a:avLst/>
              <a:gdLst/>
              <a:ahLst/>
              <a:cxnLst/>
              <a:rect r="r" b="b" t="t" l="l"/>
              <a:pathLst>
                <a:path h="1124866" w="1337430">
                  <a:moveTo>
                    <a:pt x="0" y="0"/>
                  </a:moveTo>
                  <a:lnTo>
                    <a:pt x="1337430" y="0"/>
                  </a:lnTo>
                  <a:lnTo>
                    <a:pt x="1337430" y="1124866"/>
                  </a:lnTo>
                  <a:lnTo>
                    <a:pt x="0" y="1124866"/>
                  </a:lnTo>
                  <a:lnTo>
                    <a:pt x="0" y="0"/>
                  </a:lnTo>
                  <a:close/>
                </a:path>
              </a:pathLst>
            </a:custGeom>
            <a:blipFill>
              <a:blip r:embed="rId17"/>
              <a:stretch>
                <a:fillRect l="-17950" t="-9681" r="0" b="-6058"/>
              </a:stretch>
            </a:blipFill>
          </p:spPr>
        </p:sp>
        <p:grpSp>
          <p:nvGrpSpPr>
            <p:cNvPr name="Group 77" id="77"/>
            <p:cNvGrpSpPr/>
            <p:nvPr/>
          </p:nvGrpSpPr>
          <p:grpSpPr>
            <a:xfrm rot="0">
              <a:off x="7895611" y="1362031"/>
              <a:ext cx="7091008" cy="7091008"/>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8"/>
                <a:stretch>
                  <a:fillRect l="-23084" t="-23681" r="-20239" b="-9940"/>
                </a:stretch>
              </a:blipFill>
            </p:spPr>
          </p:sp>
        </p:grpSp>
        <p:sp>
          <p:nvSpPr>
            <p:cNvPr name="TextBox 79" id="79"/>
            <p:cNvSpPr txBox="true"/>
            <p:nvPr/>
          </p:nvSpPr>
          <p:spPr>
            <a:xfrm rot="0">
              <a:off x="18226563" y="955117"/>
              <a:ext cx="3264372" cy="1755773"/>
            </a:xfrm>
            <a:prstGeom prst="rect">
              <a:avLst/>
            </a:prstGeom>
          </p:spPr>
          <p:txBody>
            <a:bodyPr anchor="t" rtlCol="false" tIns="0" lIns="0" bIns="0" rIns="0">
              <a:spAutoFit/>
            </a:bodyPr>
            <a:lstStyle/>
            <a:p>
              <a:pPr algn="l">
                <a:lnSpc>
                  <a:spcPts val="2100"/>
                </a:lnSpc>
              </a:pPr>
              <a:r>
                <a:rPr lang="en-US" sz="1500">
                  <a:solidFill>
                    <a:srgbClr val="FFFFFF"/>
                  </a:solidFill>
                  <a:latin typeface="Canva Sans"/>
                  <a:ea typeface="Canva Sans"/>
                  <a:cs typeface="Canva Sans"/>
                  <a:sym typeface="Canva Sans"/>
                </a:rPr>
                <a:t>Quad-core Cortex-</a:t>
              </a:r>
              <a:r>
                <a:rPr lang="en-US" sz="1500">
                  <a:solidFill>
                    <a:srgbClr val="FFFFFF"/>
                  </a:solidFill>
                  <a:latin typeface="Canva Sans"/>
                  <a:ea typeface="Canva Sans"/>
                  <a:cs typeface="Canva Sans"/>
                  <a:sym typeface="Canva Sans"/>
                </a:rPr>
                <a:t>A76, 8 GB RAM, no native CAN support; relies on SPI/USB interfaces for CAN communication.</a:t>
              </a:r>
            </a:p>
          </p:txBody>
        </p:sp>
      </p:grpSp>
      <p:sp>
        <p:nvSpPr>
          <p:cNvPr name="AutoShape 80" id="80"/>
          <p:cNvSpPr/>
          <p:nvPr/>
        </p:nvSpPr>
        <p:spPr>
          <a:xfrm>
            <a:off x="766553" y="1407602"/>
            <a:ext cx="6553613" cy="0"/>
          </a:xfrm>
          <a:prstGeom prst="line">
            <a:avLst/>
          </a:prstGeom>
          <a:ln cap="flat" w="38100">
            <a:solidFill>
              <a:srgbClr val="B0FF45"/>
            </a:solidFill>
            <a:prstDash val="solid"/>
            <a:headEnd type="none" len="sm" w="sm"/>
            <a:tailEnd type="oval" len="lg" w="lg"/>
          </a:ln>
        </p:spPr>
      </p:sp>
      <p:sp>
        <p:nvSpPr>
          <p:cNvPr name="TextBox 81" id="81"/>
          <p:cNvSpPr txBox="true"/>
          <p:nvPr/>
        </p:nvSpPr>
        <p:spPr>
          <a:xfrm rot="0">
            <a:off x="766553" y="655127"/>
            <a:ext cx="10994122"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Non Functional Requirements</a:t>
            </a:r>
          </a:p>
        </p:txBody>
      </p:sp>
      <p:grpSp>
        <p:nvGrpSpPr>
          <p:cNvPr name="Group 82" id="82"/>
          <p:cNvGrpSpPr/>
          <p:nvPr/>
        </p:nvGrpSpPr>
        <p:grpSpPr>
          <a:xfrm rot="0">
            <a:off x="14432971" y="340693"/>
            <a:ext cx="3531112" cy="688007"/>
            <a:chOff x="0" y="0"/>
            <a:chExt cx="4708150" cy="917342"/>
          </a:xfrm>
        </p:grpSpPr>
        <p:sp>
          <p:nvSpPr>
            <p:cNvPr name="Freeform 83" id="83"/>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19"/>
              <a:stretch>
                <a:fillRect l="0" t="-1644" r="0" b="-1644"/>
              </a:stretch>
            </a:blipFill>
            <a:ln cap="sq">
              <a:noFill/>
              <a:prstDash val="solid"/>
              <a:miter/>
            </a:ln>
          </p:spPr>
        </p:sp>
        <p:sp>
          <p:nvSpPr>
            <p:cNvPr name="TextBox 84" id="84"/>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1/8</a:t>
              </a:r>
            </a:p>
          </p:txBody>
        </p:sp>
      </p:grpSp>
      <p:sp>
        <p:nvSpPr>
          <p:cNvPr name="TextBox 85" id="85"/>
          <p:cNvSpPr txBox="true"/>
          <p:nvPr/>
        </p:nvSpPr>
        <p:spPr>
          <a:xfrm rot="0">
            <a:off x="766553" y="1520504"/>
            <a:ext cx="9270587" cy="331611"/>
          </a:xfrm>
          <a:prstGeom prst="rect">
            <a:avLst/>
          </a:prstGeom>
        </p:spPr>
        <p:txBody>
          <a:bodyPr anchor="t" rtlCol="false" tIns="0" lIns="0" bIns="0" rIns="0">
            <a:spAutoFit/>
          </a:bodyPr>
          <a:lstStyle/>
          <a:p>
            <a:pPr algn="l">
              <a:lnSpc>
                <a:spcPts val="2676"/>
              </a:lnSpc>
            </a:pPr>
            <a:r>
              <a:rPr lang="en-US" sz="1906">
                <a:solidFill>
                  <a:srgbClr val="FFFFFF"/>
                </a:solidFill>
                <a:latin typeface="Work Sans Light"/>
                <a:ea typeface="Work Sans Light"/>
                <a:cs typeface="Work Sans Light"/>
                <a:sym typeface="Work Sans Light"/>
              </a:rPr>
              <a:t>HARDWARE CONSTRAINTS</a:t>
            </a:r>
            <a:r>
              <a:rPr lang="en-US" sz="1906">
                <a:solidFill>
                  <a:srgbClr val="FFFFFF"/>
                </a:solidFill>
                <a:latin typeface="Work Sans Light"/>
                <a:ea typeface="Work Sans Light"/>
                <a:cs typeface="Work Sans Light"/>
                <a:sym typeface="Work Sans Light"/>
              </a:rPr>
              <a:t> </a:t>
            </a:r>
          </a:p>
        </p:txBody>
      </p:sp>
      <p:grpSp>
        <p:nvGrpSpPr>
          <p:cNvPr name="Group 86" id="86"/>
          <p:cNvGrpSpPr/>
          <p:nvPr/>
        </p:nvGrpSpPr>
        <p:grpSpPr>
          <a:xfrm rot="0">
            <a:off x="15325725" y="9491367"/>
            <a:ext cx="1299210" cy="357077"/>
            <a:chOff x="0" y="0"/>
            <a:chExt cx="1732280" cy="476102"/>
          </a:xfrm>
        </p:grpSpPr>
        <p:sp>
          <p:nvSpPr>
            <p:cNvPr name="Freeform 87" id="87"/>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88" id="88"/>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89" id="89"/>
          <p:cNvGrpSpPr/>
          <p:nvPr/>
        </p:nvGrpSpPr>
        <p:grpSpPr>
          <a:xfrm rot="0">
            <a:off x="926309" y="9491358"/>
            <a:ext cx="2807304" cy="493053"/>
            <a:chOff x="0" y="0"/>
            <a:chExt cx="3743072" cy="657404"/>
          </a:xfrm>
        </p:grpSpPr>
        <p:sp>
          <p:nvSpPr>
            <p:cNvPr name="Freeform 90" id="90"/>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91" id="91"/>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92" id="92"/>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04624"/>
            <a:ext cx="10489591"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Hardwar</a:t>
            </a:r>
            <a:r>
              <a:rPr lang="en-US" b="true" sz="4200" spc="-30">
                <a:solidFill>
                  <a:srgbClr val="E6E7E8"/>
                </a:solidFill>
                <a:latin typeface="Work Sans Medium"/>
                <a:ea typeface="Work Sans Medium"/>
                <a:cs typeface="Work Sans Medium"/>
                <a:sym typeface="Work Sans Medium"/>
              </a:rPr>
              <a:t>e Stack &amp; Interface Protocols</a:t>
            </a:r>
          </a:p>
        </p:txBody>
      </p:sp>
      <p:sp>
        <p:nvSpPr>
          <p:cNvPr name="AutoShape 4" id="4"/>
          <p:cNvSpPr/>
          <p:nvPr/>
        </p:nvSpPr>
        <p:spPr>
          <a:xfrm rot="6000">
            <a:off x="929792" y="3063535"/>
            <a:ext cx="16398735" cy="0"/>
          </a:xfrm>
          <a:prstGeom prst="line">
            <a:avLst/>
          </a:prstGeom>
          <a:ln cap="rnd" w="19050">
            <a:solidFill>
              <a:srgbClr val="FFFFFF"/>
            </a:solidFill>
            <a:prstDash val="solid"/>
            <a:headEnd type="none" len="sm" w="sm"/>
            <a:tailEnd type="arrow" len="sm" w="med"/>
          </a:ln>
        </p:spPr>
      </p:sp>
      <p:sp>
        <p:nvSpPr>
          <p:cNvPr name="TextBox 5" id="5"/>
          <p:cNvSpPr txBox="true"/>
          <p:nvPr/>
        </p:nvSpPr>
        <p:spPr>
          <a:xfrm rot="0">
            <a:off x="1062304" y="3932530"/>
            <a:ext cx="3057868" cy="3209925"/>
          </a:xfrm>
          <a:prstGeom prst="rect">
            <a:avLst/>
          </a:prstGeom>
        </p:spPr>
        <p:txBody>
          <a:bodyPr anchor="t" rtlCol="false" tIns="0" lIns="0" bIns="0" rIns="0">
            <a:spAutoFit/>
          </a:bodyPr>
          <a:lstStyle/>
          <a:p>
            <a:pPr algn="ctr">
              <a:lnSpc>
                <a:spcPts val="2700"/>
              </a:lnSpc>
            </a:pPr>
            <a:r>
              <a:rPr lang="en-US" sz="2250">
                <a:solidFill>
                  <a:srgbClr val="FFFFFF"/>
                </a:solidFill>
                <a:latin typeface="Work Sans"/>
                <a:ea typeface="Work Sans"/>
                <a:cs typeface="Work Sans"/>
                <a:sym typeface="Work Sans"/>
              </a:rPr>
              <a:t>Raspberry Pi 5</a:t>
            </a:r>
          </a:p>
          <a:p>
            <a:pPr algn="ctr">
              <a:lnSpc>
                <a:spcPts val="1740"/>
              </a:lnSpc>
            </a:pPr>
            <a:r>
              <a:rPr lang="en-US" sz="1450">
                <a:solidFill>
                  <a:srgbClr val="B0FF45"/>
                </a:solidFill>
                <a:latin typeface="Work Sans"/>
                <a:ea typeface="Work Sans"/>
                <a:cs typeface="Work Sans"/>
                <a:sym typeface="Work Sans"/>
              </a:rPr>
              <a:t>Cortex-A76 host</a:t>
            </a:r>
          </a:p>
          <a:p>
            <a:pPr algn="ctr">
              <a:lnSpc>
                <a:spcPts val="2700"/>
              </a:lnSpc>
            </a:pP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CHosts the CAN monitoring application.</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Executes simulation, logging, and diagnostics.</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Interfaces with MCP2515 via SPI.</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Runs Linux with SocketCAN support.</a:t>
            </a:r>
          </a:p>
          <a:p>
            <a:pPr algn="l">
              <a:lnSpc>
                <a:spcPts val="1800"/>
              </a:lnSpc>
            </a:pPr>
          </a:p>
          <a:p>
            <a:pPr algn="l" marL="271462" indent="-135731" lvl="1">
              <a:lnSpc>
                <a:spcPts val="1800"/>
              </a:lnSpc>
            </a:pPr>
          </a:p>
        </p:txBody>
      </p:sp>
      <p:sp>
        <p:nvSpPr>
          <p:cNvPr name="AutoShape 6" id="6"/>
          <p:cNvSpPr/>
          <p:nvPr/>
        </p:nvSpPr>
        <p:spPr>
          <a:xfrm rot="-5394600">
            <a:off x="-2083403" y="6073035"/>
            <a:ext cx="6055871" cy="0"/>
          </a:xfrm>
          <a:prstGeom prst="line">
            <a:avLst/>
          </a:prstGeom>
          <a:ln cap="rnd" w="9525">
            <a:solidFill>
              <a:srgbClr val="FFFFFF"/>
            </a:solidFill>
            <a:prstDash val="solid"/>
            <a:headEnd type="none" len="sm" w="sm"/>
            <a:tailEnd type="none" len="sm" w="sm"/>
          </a:ln>
        </p:spPr>
      </p:sp>
      <p:sp>
        <p:nvSpPr>
          <p:cNvPr name="AutoShape 7" id="7"/>
          <p:cNvSpPr/>
          <p:nvPr/>
        </p:nvSpPr>
        <p:spPr>
          <a:xfrm rot="-5394600">
            <a:off x="1194987" y="6108002"/>
            <a:ext cx="6055871" cy="0"/>
          </a:xfrm>
          <a:prstGeom prst="line">
            <a:avLst/>
          </a:prstGeom>
          <a:ln cap="rnd" w="9525">
            <a:solidFill>
              <a:srgbClr val="FFFFFF"/>
            </a:solidFill>
            <a:prstDash val="solid"/>
            <a:headEnd type="none" len="sm" w="sm"/>
            <a:tailEnd type="none" len="sm" w="sm"/>
          </a:ln>
        </p:spPr>
      </p:sp>
      <p:sp>
        <p:nvSpPr>
          <p:cNvPr name="AutoShape 8" id="8"/>
          <p:cNvSpPr/>
          <p:nvPr/>
        </p:nvSpPr>
        <p:spPr>
          <a:xfrm rot="-5394600">
            <a:off x="4473388" y="6142958"/>
            <a:ext cx="6055871" cy="0"/>
          </a:xfrm>
          <a:prstGeom prst="line">
            <a:avLst/>
          </a:prstGeom>
          <a:ln cap="rnd" w="9525">
            <a:solidFill>
              <a:srgbClr val="FFFFFF"/>
            </a:solidFill>
            <a:prstDash val="solid"/>
            <a:headEnd type="none" len="sm" w="sm"/>
            <a:tailEnd type="none" len="sm" w="sm"/>
          </a:ln>
        </p:spPr>
      </p:sp>
      <p:sp>
        <p:nvSpPr>
          <p:cNvPr name="AutoShape 9" id="9"/>
          <p:cNvSpPr/>
          <p:nvPr/>
        </p:nvSpPr>
        <p:spPr>
          <a:xfrm rot="-5394600">
            <a:off x="7751778" y="6097238"/>
            <a:ext cx="6055871" cy="0"/>
          </a:xfrm>
          <a:prstGeom prst="line">
            <a:avLst/>
          </a:prstGeom>
          <a:ln cap="rnd" w="9525">
            <a:solidFill>
              <a:srgbClr val="FFFFFF"/>
            </a:solidFill>
            <a:prstDash val="solid"/>
            <a:headEnd type="none" len="sm" w="sm"/>
            <a:tailEnd type="none" len="sm" w="sm"/>
          </a:ln>
        </p:spPr>
      </p:sp>
      <p:sp>
        <p:nvSpPr>
          <p:cNvPr name="AutoShape 10" id="10"/>
          <p:cNvSpPr/>
          <p:nvPr/>
        </p:nvSpPr>
        <p:spPr>
          <a:xfrm rot="-5394600">
            <a:off x="11014034" y="6099934"/>
            <a:ext cx="6055871" cy="0"/>
          </a:xfrm>
          <a:prstGeom prst="line">
            <a:avLst/>
          </a:prstGeom>
          <a:ln cap="rnd" w="9525">
            <a:solidFill>
              <a:srgbClr val="FFFFFF"/>
            </a:solidFill>
            <a:prstDash val="solid"/>
            <a:headEnd type="none" len="sm" w="sm"/>
            <a:tailEnd type="none" len="sm" w="sm"/>
          </a:ln>
        </p:spPr>
      </p:sp>
      <p:sp>
        <p:nvSpPr>
          <p:cNvPr name="TextBox 11" id="11"/>
          <p:cNvSpPr txBox="true"/>
          <p:nvPr/>
        </p:nvSpPr>
        <p:spPr>
          <a:xfrm rot="0">
            <a:off x="4324560" y="3935216"/>
            <a:ext cx="3057868" cy="3209925"/>
          </a:xfrm>
          <a:prstGeom prst="rect">
            <a:avLst/>
          </a:prstGeom>
        </p:spPr>
        <p:txBody>
          <a:bodyPr anchor="t" rtlCol="false" tIns="0" lIns="0" bIns="0" rIns="0">
            <a:spAutoFit/>
          </a:bodyPr>
          <a:lstStyle/>
          <a:p>
            <a:pPr algn="ctr">
              <a:lnSpc>
                <a:spcPts val="2700"/>
              </a:lnSpc>
            </a:pPr>
            <a:r>
              <a:rPr lang="en-US" sz="2250">
                <a:solidFill>
                  <a:srgbClr val="FFFFFF"/>
                </a:solidFill>
                <a:latin typeface="Work Sans"/>
                <a:ea typeface="Work Sans"/>
                <a:cs typeface="Work Sans"/>
                <a:sym typeface="Work Sans"/>
              </a:rPr>
              <a:t>SPI Bus</a:t>
            </a:r>
          </a:p>
          <a:p>
            <a:pPr algn="ctr">
              <a:lnSpc>
                <a:spcPts val="1740"/>
              </a:lnSpc>
            </a:pPr>
            <a:r>
              <a:rPr lang="en-US" sz="1450">
                <a:solidFill>
                  <a:srgbClr val="B0FF45"/>
                </a:solidFill>
                <a:latin typeface="Work Sans"/>
                <a:ea typeface="Work Sans"/>
                <a:cs typeface="Work Sans"/>
                <a:sym typeface="Work Sans"/>
              </a:rPr>
              <a:t>MOSI / MISO / SCLK / CE</a:t>
            </a:r>
          </a:p>
          <a:p>
            <a:pPr algn="ctr">
              <a:lnSpc>
                <a:spcPts val="2700"/>
              </a:lnSpc>
            </a:pP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High-</a:t>
            </a:r>
            <a:r>
              <a:rPr lang="en-US" sz="1500">
                <a:solidFill>
                  <a:srgbClr val="FFFFFF"/>
                </a:solidFill>
                <a:latin typeface="Work Sans"/>
                <a:ea typeface="Work Sans"/>
                <a:cs typeface="Work Sans"/>
                <a:sym typeface="Work Sans"/>
              </a:rPr>
              <a:t>speed serial communication interface.</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Transfers commands and CAN frames.</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Full-duplex master-slave protocol.</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Connects Raspberry Pi and MCP2515.</a:t>
            </a:r>
          </a:p>
          <a:p>
            <a:pPr algn="l">
              <a:lnSpc>
                <a:spcPts val="1800"/>
              </a:lnSpc>
            </a:pPr>
          </a:p>
          <a:p>
            <a:pPr algn="l" marL="271462" indent="-135731" lvl="1">
              <a:lnSpc>
                <a:spcPts val="1800"/>
              </a:lnSpc>
            </a:pPr>
          </a:p>
        </p:txBody>
      </p:sp>
      <p:sp>
        <p:nvSpPr>
          <p:cNvPr name="TextBox 12" id="12"/>
          <p:cNvSpPr txBox="true"/>
          <p:nvPr/>
        </p:nvSpPr>
        <p:spPr>
          <a:xfrm rot="0">
            <a:off x="7602960" y="3937902"/>
            <a:ext cx="3057868" cy="3209925"/>
          </a:xfrm>
          <a:prstGeom prst="rect">
            <a:avLst/>
          </a:prstGeom>
        </p:spPr>
        <p:txBody>
          <a:bodyPr anchor="t" rtlCol="false" tIns="0" lIns="0" bIns="0" rIns="0">
            <a:spAutoFit/>
          </a:bodyPr>
          <a:lstStyle/>
          <a:p>
            <a:pPr algn="ctr">
              <a:lnSpc>
                <a:spcPts val="2700"/>
              </a:lnSpc>
            </a:pPr>
            <a:r>
              <a:rPr lang="en-US" sz="2250">
                <a:solidFill>
                  <a:srgbClr val="FFFFFF"/>
                </a:solidFill>
                <a:latin typeface="Work Sans"/>
                <a:ea typeface="Work Sans"/>
                <a:cs typeface="Work Sans"/>
                <a:sym typeface="Work Sans"/>
              </a:rPr>
              <a:t>MCP2515</a:t>
            </a:r>
          </a:p>
          <a:p>
            <a:pPr algn="ctr">
              <a:lnSpc>
                <a:spcPts val="1740"/>
              </a:lnSpc>
            </a:pPr>
            <a:r>
              <a:rPr lang="en-US" sz="1450">
                <a:solidFill>
                  <a:srgbClr val="B0FF45"/>
                </a:solidFill>
                <a:latin typeface="Work Sans"/>
                <a:ea typeface="Work Sans"/>
                <a:cs typeface="Work Sans"/>
                <a:sym typeface="Work Sans"/>
              </a:rPr>
              <a:t>CAN controller</a:t>
            </a:r>
          </a:p>
          <a:p>
            <a:pPr algn="ctr">
              <a:lnSpc>
                <a:spcPts val="2700"/>
              </a:lnSpc>
            </a:pPr>
          </a:p>
          <a:p>
            <a:pPr algn="l" marL="323850" indent="-161925" lvl="1">
              <a:lnSpc>
                <a:spcPts val="1800"/>
              </a:lnSpc>
              <a:buFont typeface="Arial"/>
              <a:buChar char="•"/>
            </a:pPr>
            <a:r>
              <a:rPr lang="en-US" sz="1500">
                <a:solidFill>
                  <a:srgbClr val="E6E7E8"/>
                </a:solidFill>
                <a:latin typeface="Work Sans"/>
                <a:ea typeface="Work Sans"/>
                <a:cs typeface="Work Sans"/>
                <a:sym typeface="Work Sans"/>
              </a:rPr>
              <a:t>Ex</a:t>
            </a:r>
            <a:r>
              <a:rPr lang="en-US" sz="1500">
                <a:solidFill>
                  <a:srgbClr val="E6E7E8"/>
                </a:solidFill>
                <a:latin typeface="Work Sans"/>
                <a:ea typeface="Work Sans"/>
                <a:cs typeface="Work Sans"/>
                <a:sym typeface="Work Sans"/>
              </a:rPr>
              <a:t>ternal SPI-based CAN controller.</a:t>
            </a:r>
          </a:p>
          <a:p>
            <a:pPr algn="l" marL="323850" indent="-161925" lvl="1">
              <a:lnSpc>
                <a:spcPts val="1800"/>
              </a:lnSpc>
              <a:buFont typeface="Arial"/>
              <a:buChar char="•"/>
            </a:pPr>
            <a:r>
              <a:rPr lang="en-US" sz="1500">
                <a:solidFill>
                  <a:srgbClr val="E6E7E8"/>
                </a:solidFill>
                <a:latin typeface="Work Sans"/>
                <a:ea typeface="Work Sans"/>
                <a:cs typeface="Work Sans"/>
                <a:sym typeface="Work Sans"/>
              </a:rPr>
              <a:t>Implements CAN protocol functions.</a:t>
            </a:r>
          </a:p>
          <a:p>
            <a:pPr algn="l" marL="323850" indent="-161925" lvl="1">
              <a:lnSpc>
                <a:spcPts val="1800"/>
              </a:lnSpc>
              <a:buFont typeface="Arial"/>
              <a:buChar char="•"/>
            </a:pPr>
            <a:r>
              <a:rPr lang="en-US" sz="1500">
                <a:solidFill>
                  <a:srgbClr val="E6E7E8"/>
                </a:solidFill>
                <a:latin typeface="Work Sans"/>
                <a:ea typeface="Work Sans"/>
                <a:cs typeface="Work Sans"/>
                <a:sym typeface="Work Sans"/>
              </a:rPr>
              <a:t>Handles frame transmission and reception.</a:t>
            </a:r>
          </a:p>
          <a:p>
            <a:pPr algn="l" marL="323850" indent="-161925" lvl="1">
              <a:lnSpc>
                <a:spcPts val="1800"/>
              </a:lnSpc>
              <a:buFont typeface="Arial"/>
              <a:buChar char="•"/>
            </a:pPr>
            <a:r>
              <a:rPr lang="en-US" sz="1500">
                <a:solidFill>
                  <a:srgbClr val="E6E7E8"/>
                </a:solidFill>
                <a:latin typeface="Work Sans"/>
                <a:ea typeface="Work Sans"/>
                <a:cs typeface="Work Sans"/>
                <a:sym typeface="Work Sans"/>
              </a:rPr>
              <a:t>Performs arbitration, CRC, and filtering.</a:t>
            </a:r>
          </a:p>
          <a:p>
            <a:pPr algn="l">
              <a:lnSpc>
                <a:spcPts val="1800"/>
              </a:lnSpc>
            </a:pPr>
          </a:p>
          <a:p>
            <a:pPr algn="l" marL="271462" indent="-135731" lvl="1">
              <a:lnSpc>
                <a:spcPts val="1800"/>
              </a:lnSpc>
            </a:pPr>
          </a:p>
        </p:txBody>
      </p:sp>
      <p:sp>
        <p:nvSpPr>
          <p:cNvPr name="TextBox 13" id="13"/>
          <p:cNvSpPr txBox="true"/>
          <p:nvPr/>
        </p:nvSpPr>
        <p:spPr>
          <a:xfrm rot="0">
            <a:off x="10897486" y="3924462"/>
            <a:ext cx="3057868" cy="2867025"/>
          </a:xfrm>
          <a:prstGeom prst="rect">
            <a:avLst/>
          </a:prstGeom>
        </p:spPr>
        <p:txBody>
          <a:bodyPr anchor="t" rtlCol="false" tIns="0" lIns="0" bIns="0" rIns="0">
            <a:spAutoFit/>
          </a:bodyPr>
          <a:lstStyle/>
          <a:p>
            <a:pPr algn="ctr">
              <a:lnSpc>
                <a:spcPts val="2700"/>
              </a:lnSpc>
            </a:pPr>
            <a:r>
              <a:rPr lang="en-US" sz="2250">
                <a:solidFill>
                  <a:srgbClr val="FFFFFF"/>
                </a:solidFill>
                <a:latin typeface="Work Sans"/>
                <a:ea typeface="Work Sans"/>
                <a:cs typeface="Work Sans"/>
                <a:sym typeface="Work Sans"/>
              </a:rPr>
              <a:t>Transceiver</a:t>
            </a:r>
          </a:p>
          <a:p>
            <a:pPr algn="ctr">
              <a:lnSpc>
                <a:spcPts val="1740"/>
              </a:lnSpc>
            </a:pPr>
            <a:r>
              <a:rPr lang="en-US" sz="1450">
                <a:solidFill>
                  <a:srgbClr val="B0FF45"/>
                </a:solidFill>
                <a:latin typeface="Work Sans"/>
                <a:ea typeface="Work Sans"/>
                <a:cs typeface="Work Sans"/>
                <a:sym typeface="Work Sans"/>
              </a:rPr>
              <a:t>drives CAN_H / CAN_L</a:t>
            </a:r>
          </a:p>
          <a:p>
            <a:pPr algn="l">
              <a:lnSpc>
                <a:spcPts val="1800"/>
              </a:lnSpc>
            </a:pP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Converts logic signals to differential CAN.</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Drives CAN_H and CAN_L lines.</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Provides electrical bus interface.</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Enables reliable communication on CAN.</a:t>
            </a:r>
          </a:p>
          <a:p>
            <a:pPr algn="l">
              <a:lnSpc>
                <a:spcPts val="1800"/>
              </a:lnSpc>
            </a:pPr>
          </a:p>
        </p:txBody>
      </p:sp>
      <p:sp>
        <p:nvSpPr>
          <p:cNvPr name="TextBox 14" id="14"/>
          <p:cNvSpPr txBox="true"/>
          <p:nvPr/>
        </p:nvSpPr>
        <p:spPr>
          <a:xfrm rot="0">
            <a:off x="14159741" y="3927148"/>
            <a:ext cx="3057868" cy="2981325"/>
          </a:xfrm>
          <a:prstGeom prst="rect">
            <a:avLst/>
          </a:prstGeom>
        </p:spPr>
        <p:txBody>
          <a:bodyPr anchor="t" rtlCol="false" tIns="0" lIns="0" bIns="0" rIns="0">
            <a:spAutoFit/>
          </a:bodyPr>
          <a:lstStyle/>
          <a:p>
            <a:pPr algn="ctr">
              <a:lnSpc>
                <a:spcPts val="2700"/>
              </a:lnSpc>
            </a:pPr>
            <a:r>
              <a:rPr lang="en-US" sz="2250">
                <a:solidFill>
                  <a:srgbClr val="FFFFFF"/>
                </a:solidFill>
                <a:latin typeface="Work Sans"/>
                <a:ea typeface="Work Sans"/>
                <a:cs typeface="Work Sans"/>
                <a:sym typeface="Work Sans"/>
              </a:rPr>
              <a:t>Vehicle CAN Bus</a:t>
            </a:r>
          </a:p>
          <a:p>
            <a:pPr algn="ctr">
              <a:lnSpc>
                <a:spcPts val="1740"/>
              </a:lnSpc>
            </a:pPr>
            <a:r>
              <a:rPr lang="en-US" sz="1450">
                <a:solidFill>
                  <a:srgbClr val="B0FF45"/>
                </a:solidFill>
                <a:latin typeface="Work Sans"/>
                <a:ea typeface="Work Sans"/>
                <a:cs typeface="Work Sans"/>
                <a:sym typeface="Work Sans"/>
              </a:rPr>
              <a:t>120Ω terminated</a:t>
            </a:r>
          </a:p>
          <a:p>
            <a:pPr algn="ctr">
              <a:lnSpc>
                <a:spcPts val="2700"/>
              </a:lnSpc>
            </a:pP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Sha</a:t>
            </a:r>
            <a:r>
              <a:rPr lang="en-US" sz="1500">
                <a:solidFill>
                  <a:srgbClr val="FFFFFF"/>
                </a:solidFill>
                <a:latin typeface="Work Sans"/>
                <a:ea typeface="Work Sans"/>
                <a:cs typeface="Work Sans"/>
                <a:sym typeface="Work Sans"/>
              </a:rPr>
              <a:t>red communication network for ECUs.</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Broadcasts CAN messages in real time.</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Supports Standard and Extended CAN IDs.</a:t>
            </a:r>
          </a:p>
          <a:p>
            <a:pPr algn="l" marL="271462" indent="-135731" lvl="1">
              <a:lnSpc>
                <a:spcPts val="1800"/>
              </a:lnSpc>
              <a:buFont typeface="Arial"/>
              <a:buChar char="•"/>
            </a:pPr>
            <a:r>
              <a:rPr lang="en-US" sz="1500">
                <a:solidFill>
                  <a:srgbClr val="FFFFFF"/>
                </a:solidFill>
                <a:latin typeface="Work Sans"/>
                <a:ea typeface="Work Sans"/>
                <a:cs typeface="Work Sans"/>
                <a:sym typeface="Work Sans"/>
              </a:rPr>
              <a:t>Carries vehicle sensor and diagnostic data.</a:t>
            </a:r>
          </a:p>
          <a:p>
            <a:pPr algn="l">
              <a:lnSpc>
                <a:spcPts val="1800"/>
              </a:lnSpc>
            </a:pPr>
          </a:p>
        </p:txBody>
      </p:sp>
      <p:grpSp>
        <p:nvGrpSpPr>
          <p:cNvPr name="Group 15" id="15"/>
          <p:cNvGrpSpPr/>
          <p:nvPr/>
        </p:nvGrpSpPr>
        <p:grpSpPr>
          <a:xfrm rot="0">
            <a:off x="16784479" y="9491358"/>
            <a:ext cx="697335" cy="313944"/>
            <a:chOff x="0" y="0"/>
            <a:chExt cx="929780" cy="418592"/>
          </a:xfrm>
        </p:grpSpPr>
        <p:sp>
          <p:nvSpPr>
            <p:cNvPr name="Freeform 16" id="16"/>
            <p:cNvSpPr/>
            <p:nvPr/>
          </p:nvSpPr>
          <p:spPr>
            <a:xfrm flipH="false" flipV="false" rot="0">
              <a:off x="0" y="0"/>
              <a:ext cx="929776" cy="418588"/>
            </a:xfrm>
            <a:custGeom>
              <a:avLst/>
              <a:gdLst/>
              <a:ahLst/>
              <a:cxnLst/>
              <a:rect r="r" b="b" t="t" l="l"/>
              <a:pathLst>
                <a:path h="418588" w="929776">
                  <a:moveTo>
                    <a:pt x="0" y="0"/>
                  </a:moveTo>
                  <a:lnTo>
                    <a:pt x="929776" y="0"/>
                  </a:lnTo>
                  <a:lnTo>
                    <a:pt x="929776" y="418588"/>
                  </a:lnTo>
                  <a:lnTo>
                    <a:pt x="0" y="418588"/>
                  </a:lnTo>
                  <a:close/>
                </a:path>
              </a:pathLst>
            </a:custGeom>
            <a:blipFill>
              <a:blip r:embed="rId3">
                <a:alphaModFix amt="0"/>
              </a:blip>
              <a:stretch>
                <a:fillRect l="-15701" t="0" r="-15702" b="-13745"/>
              </a:stretch>
            </a:blipFill>
          </p:spPr>
        </p:sp>
        <p:sp>
          <p:nvSpPr>
            <p:cNvPr name="TextBox 17" id="17"/>
            <p:cNvSpPr txBox="true"/>
            <p:nvPr/>
          </p:nvSpPr>
          <p:spPr>
            <a:xfrm>
              <a:off x="0" y="-19050"/>
              <a:ext cx="929780" cy="43764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10</a:t>
              </a:r>
            </a:p>
          </p:txBody>
        </p:sp>
      </p:grpSp>
      <p:grpSp>
        <p:nvGrpSpPr>
          <p:cNvPr name="Group 18" id="18"/>
          <p:cNvGrpSpPr/>
          <p:nvPr/>
        </p:nvGrpSpPr>
        <p:grpSpPr>
          <a:xfrm rot="0">
            <a:off x="2033744" y="2522401"/>
            <a:ext cx="1103335" cy="1103335"/>
            <a:chOff x="0" y="0"/>
            <a:chExt cx="2915996" cy="2915996"/>
          </a:xfrm>
        </p:grpSpPr>
        <p:sp>
          <p:nvSpPr>
            <p:cNvPr name="Freeform 19" id="19"/>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B0FF45"/>
            </a:solidFill>
          </p:spPr>
        </p:sp>
      </p:grpSp>
      <p:grpSp>
        <p:nvGrpSpPr>
          <p:cNvPr name="Group 20" id="20"/>
          <p:cNvGrpSpPr/>
          <p:nvPr/>
        </p:nvGrpSpPr>
        <p:grpSpPr>
          <a:xfrm rot="0">
            <a:off x="5308767" y="2510914"/>
            <a:ext cx="1103335" cy="1103335"/>
            <a:chOff x="0" y="0"/>
            <a:chExt cx="2915996" cy="2915996"/>
          </a:xfrm>
        </p:grpSpPr>
        <p:sp>
          <p:nvSpPr>
            <p:cNvPr name="Freeform 21" id="21"/>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8FDB00"/>
            </a:solidFill>
          </p:spPr>
        </p:sp>
      </p:grpSp>
      <p:grpSp>
        <p:nvGrpSpPr>
          <p:cNvPr name="Group 22" id="22"/>
          <p:cNvGrpSpPr/>
          <p:nvPr/>
        </p:nvGrpSpPr>
        <p:grpSpPr>
          <a:xfrm rot="0">
            <a:off x="8592332" y="2498198"/>
            <a:ext cx="1103335" cy="1103335"/>
            <a:chOff x="0" y="0"/>
            <a:chExt cx="2915996" cy="2915996"/>
          </a:xfrm>
        </p:grpSpPr>
        <p:sp>
          <p:nvSpPr>
            <p:cNvPr name="Freeform 23" id="23"/>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428003"/>
            </a:solidFill>
          </p:spPr>
        </p:sp>
      </p:grpSp>
      <p:grpSp>
        <p:nvGrpSpPr>
          <p:cNvPr name="Group 24" id="24"/>
          <p:cNvGrpSpPr/>
          <p:nvPr/>
        </p:nvGrpSpPr>
        <p:grpSpPr>
          <a:xfrm rot="0">
            <a:off x="11859174" y="2510914"/>
            <a:ext cx="1103335" cy="1103335"/>
            <a:chOff x="0" y="0"/>
            <a:chExt cx="2915996" cy="2915996"/>
          </a:xfrm>
        </p:grpSpPr>
        <p:sp>
          <p:nvSpPr>
            <p:cNvPr name="Freeform 25" id="25"/>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622AD8"/>
            </a:solidFill>
          </p:spPr>
        </p:sp>
      </p:grpSp>
      <p:grpSp>
        <p:nvGrpSpPr>
          <p:cNvPr name="Group 26" id="26"/>
          <p:cNvGrpSpPr/>
          <p:nvPr/>
        </p:nvGrpSpPr>
        <p:grpSpPr>
          <a:xfrm rot="0">
            <a:off x="15118288" y="2498198"/>
            <a:ext cx="1103335" cy="1103335"/>
            <a:chOff x="0" y="0"/>
            <a:chExt cx="2915996" cy="2915996"/>
          </a:xfrm>
        </p:grpSpPr>
        <p:sp>
          <p:nvSpPr>
            <p:cNvPr name="Freeform 27" id="27"/>
            <p:cNvSpPr/>
            <p:nvPr/>
          </p:nvSpPr>
          <p:spPr>
            <a:xfrm flipH="false" flipV="false" rot="0">
              <a:off x="0" y="0"/>
              <a:ext cx="2916047" cy="2916047"/>
            </a:xfrm>
            <a:custGeom>
              <a:avLst/>
              <a:gdLst/>
              <a:ahLst/>
              <a:cxnLst/>
              <a:rect r="r" b="b" t="t" l="l"/>
              <a:pathLst>
                <a:path h="2916047" w="2916047">
                  <a:moveTo>
                    <a:pt x="0" y="0"/>
                  </a:moveTo>
                  <a:lnTo>
                    <a:pt x="2916047" y="0"/>
                  </a:lnTo>
                  <a:lnTo>
                    <a:pt x="2916047" y="2916047"/>
                  </a:lnTo>
                  <a:lnTo>
                    <a:pt x="0" y="2916047"/>
                  </a:lnTo>
                  <a:close/>
                </a:path>
              </a:pathLst>
            </a:custGeom>
            <a:solidFill>
              <a:srgbClr val="428003"/>
            </a:solidFill>
          </p:spPr>
        </p:sp>
      </p:grpSp>
      <p:grpSp>
        <p:nvGrpSpPr>
          <p:cNvPr name="Group 28" id="28"/>
          <p:cNvGrpSpPr/>
          <p:nvPr/>
        </p:nvGrpSpPr>
        <p:grpSpPr>
          <a:xfrm rot="0">
            <a:off x="8784388" y="2706451"/>
            <a:ext cx="712260" cy="712260"/>
            <a:chOff x="0" y="0"/>
            <a:chExt cx="949681" cy="949681"/>
          </a:xfrm>
        </p:grpSpPr>
        <p:sp>
          <p:nvSpPr>
            <p:cNvPr name="Freeform 29" id="29"/>
            <p:cNvSpPr/>
            <p:nvPr/>
          </p:nvSpPr>
          <p:spPr>
            <a:xfrm flipH="false" flipV="false" rot="0">
              <a:off x="0" y="0"/>
              <a:ext cx="949706" cy="949706"/>
            </a:xfrm>
            <a:custGeom>
              <a:avLst/>
              <a:gdLst/>
              <a:ahLst/>
              <a:cxnLst/>
              <a:rect r="r" b="b" t="t" l="l"/>
              <a:pathLst>
                <a:path h="949706" w="949706">
                  <a:moveTo>
                    <a:pt x="0" y="474853"/>
                  </a:moveTo>
                  <a:cubicBezTo>
                    <a:pt x="0" y="212598"/>
                    <a:pt x="212598" y="0"/>
                    <a:pt x="474853" y="0"/>
                  </a:cubicBezTo>
                  <a:cubicBezTo>
                    <a:pt x="737108" y="0"/>
                    <a:pt x="949706" y="212598"/>
                    <a:pt x="949706" y="474853"/>
                  </a:cubicBezTo>
                  <a:cubicBezTo>
                    <a:pt x="949706" y="737108"/>
                    <a:pt x="737108" y="949706"/>
                    <a:pt x="474853" y="949706"/>
                  </a:cubicBezTo>
                  <a:cubicBezTo>
                    <a:pt x="212598" y="949706"/>
                    <a:pt x="0" y="737108"/>
                    <a:pt x="0" y="474853"/>
                  </a:cubicBezTo>
                  <a:close/>
                </a:path>
              </a:pathLst>
            </a:custGeom>
            <a:solidFill>
              <a:srgbClr val="13304D"/>
            </a:solidFill>
          </p:spPr>
        </p:sp>
      </p:grpSp>
      <p:grpSp>
        <p:nvGrpSpPr>
          <p:cNvPr name="Group 30" id="30"/>
          <p:cNvGrpSpPr/>
          <p:nvPr/>
        </p:nvGrpSpPr>
        <p:grpSpPr>
          <a:xfrm rot="0">
            <a:off x="8882442" y="2779327"/>
            <a:ext cx="541077" cy="541077"/>
            <a:chOff x="0" y="0"/>
            <a:chExt cx="721436" cy="721436"/>
          </a:xfrm>
        </p:grpSpPr>
        <p:sp>
          <p:nvSpPr>
            <p:cNvPr name="Freeform 31" id="31" descr="icons/filecode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4"/>
              <a:stretch>
                <a:fillRect l="0" t="0" r="7" b="7"/>
              </a:stretch>
            </a:blipFill>
          </p:spPr>
        </p:sp>
      </p:grpSp>
      <p:grpSp>
        <p:nvGrpSpPr>
          <p:cNvPr name="Group 32" id="32"/>
          <p:cNvGrpSpPr/>
          <p:nvPr/>
        </p:nvGrpSpPr>
        <p:grpSpPr>
          <a:xfrm rot="0">
            <a:off x="5515753" y="2702619"/>
            <a:ext cx="712260" cy="712260"/>
            <a:chOff x="0" y="0"/>
            <a:chExt cx="949681" cy="949681"/>
          </a:xfrm>
        </p:grpSpPr>
        <p:sp>
          <p:nvSpPr>
            <p:cNvPr name="Freeform 33" id="33"/>
            <p:cNvSpPr/>
            <p:nvPr/>
          </p:nvSpPr>
          <p:spPr>
            <a:xfrm flipH="false" flipV="false" rot="0">
              <a:off x="0" y="0"/>
              <a:ext cx="949706" cy="949706"/>
            </a:xfrm>
            <a:custGeom>
              <a:avLst/>
              <a:gdLst/>
              <a:ahLst/>
              <a:cxnLst/>
              <a:rect r="r" b="b" t="t" l="l"/>
              <a:pathLst>
                <a:path h="949706" w="949706">
                  <a:moveTo>
                    <a:pt x="0" y="474853"/>
                  </a:moveTo>
                  <a:cubicBezTo>
                    <a:pt x="0" y="212598"/>
                    <a:pt x="212598" y="0"/>
                    <a:pt x="474853" y="0"/>
                  </a:cubicBezTo>
                  <a:cubicBezTo>
                    <a:pt x="737108" y="0"/>
                    <a:pt x="949706" y="212598"/>
                    <a:pt x="949706" y="474853"/>
                  </a:cubicBezTo>
                  <a:cubicBezTo>
                    <a:pt x="949706" y="737108"/>
                    <a:pt x="737108" y="949706"/>
                    <a:pt x="474853" y="949706"/>
                  </a:cubicBezTo>
                  <a:cubicBezTo>
                    <a:pt x="212598" y="949706"/>
                    <a:pt x="0" y="737108"/>
                    <a:pt x="0" y="474853"/>
                  </a:cubicBezTo>
                  <a:close/>
                </a:path>
              </a:pathLst>
            </a:custGeom>
            <a:solidFill>
              <a:srgbClr val="13304D"/>
            </a:solidFill>
          </p:spPr>
        </p:sp>
      </p:grpSp>
      <p:grpSp>
        <p:nvGrpSpPr>
          <p:cNvPr name="Group 34" id="34"/>
          <p:cNvGrpSpPr/>
          <p:nvPr/>
        </p:nvGrpSpPr>
        <p:grpSpPr>
          <a:xfrm rot="0">
            <a:off x="5601345" y="2779327"/>
            <a:ext cx="541077" cy="541077"/>
            <a:chOff x="0" y="0"/>
            <a:chExt cx="721436" cy="721436"/>
          </a:xfrm>
        </p:grpSpPr>
        <p:sp>
          <p:nvSpPr>
            <p:cNvPr name="Freeform 35" id="35" descr="icons/codebranch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5"/>
              <a:stretch>
                <a:fillRect l="0" t="0" r="7" b="7"/>
              </a:stretch>
            </a:blipFill>
          </p:spPr>
        </p:sp>
      </p:grpSp>
      <p:grpSp>
        <p:nvGrpSpPr>
          <p:cNvPr name="Group 36" id="36"/>
          <p:cNvGrpSpPr/>
          <p:nvPr/>
        </p:nvGrpSpPr>
        <p:grpSpPr>
          <a:xfrm rot="0">
            <a:off x="2235108" y="2706451"/>
            <a:ext cx="712260" cy="712260"/>
            <a:chOff x="0" y="0"/>
            <a:chExt cx="949681" cy="949681"/>
          </a:xfrm>
        </p:grpSpPr>
        <p:sp>
          <p:nvSpPr>
            <p:cNvPr name="Freeform 37" id="37"/>
            <p:cNvSpPr/>
            <p:nvPr/>
          </p:nvSpPr>
          <p:spPr>
            <a:xfrm flipH="false" flipV="false" rot="0">
              <a:off x="0" y="0"/>
              <a:ext cx="949706" cy="949706"/>
            </a:xfrm>
            <a:custGeom>
              <a:avLst/>
              <a:gdLst/>
              <a:ahLst/>
              <a:cxnLst/>
              <a:rect r="r" b="b" t="t" l="l"/>
              <a:pathLst>
                <a:path h="949706" w="949706">
                  <a:moveTo>
                    <a:pt x="0" y="474853"/>
                  </a:moveTo>
                  <a:cubicBezTo>
                    <a:pt x="0" y="212598"/>
                    <a:pt x="212598" y="0"/>
                    <a:pt x="474853" y="0"/>
                  </a:cubicBezTo>
                  <a:cubicBezTo>
                    <a:pt x="737108" y="0"/>
                    <a:pt x="949706" y="212598"/>
                    <a:pt x="949706" y="474853"/>
                  </a:cubicBezTo>
                  <a:cubicBezTo>
                    <a:pt x="949706" y="737108"/>
                    <a:pt x="737108" y="949706"/>
                    <a:pt x="474853" y="949706"/>
                  </a:cubicBezTo>
                  <a:cubicBezTo>
                    <a:pt x="212598" y="949706"/>
                    <a:pt x="0" y="737108"/>
                    <a:pt x="0" y="474853"/>
                  </a:cubicBezTo>
                  <a:close/>
                </a:path>
              </a:pathLst>
            </a:custGeom>
            <a:solidFill>
              <a:srgbClr val="13304D"/>
            </a:solidFill>
          </p:spPr>
        </p:sp>
      </p:grpSp>
      <p:grpSp>
        <p:nvGrpSpPr>
          <p:cNvPr name="Group 38" id="38"/>
          <p:cNvGrpSpPr/>
          <p:nvPr/>
        </p:nvGrpSpPr>
        <p:grpSpPr>
          <a:xfrm rot="0">
            <a:off x="2313189" y="2803530"/>
            <a:ext cx="541077" cy="541077"/>
            <a:chOff x="0" y="0"/>
            <a:chExt cx="721436" cy="721436"/>
          </a:xfrm>
        </p:grpSpPr>
        <p:sp>
          <p:nvSpPr>
            <p:cNvPr name="Freeform 39" id="39" descr="icons/microchip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6"/>
              <a:stretch>
                <a:fillRect l="0" t="0" r="7" b="7"/>
              </a:stretch>
            </a:blipFill>
          </p:spPr>
        </p:sp>
      </p:grpSp>
      <p:grpSp>
        <p:nvGrpSpPr>
          <p:cNvPr name="Group 40" id="40"/>
          <p:cNvGrpSpPr/>
          <p:nvPr/>
        </p:nvGrpSpPr>
        <p:grpSpPr>
          <a:xfrm rot="0">
            <a:off x="12054711" y="2693736"/>
            <a:ext cx="712260" cy="712260"/>
            <a:chOff x="0" y="0"/>
            <a:chExt cx="949681" cy="949681"/>
          </a:xfrm>
        </p:grpSpPr>
        <p:sp>
          <p:nvSpPr>
            <p:cNvPr name="Freeform 41" id="41"/>
            <p:cNvSpPr/>
            <p:nvPr/>
          </p:nvSpPr>
          <p:spPr>
            <a:xfrm flipH="false" flipV="false" rot="0">
              <a:off x="0" y="0"/>
              <a:ext cx="949706" cy="949706"/>
            </a:xfrm>
            <a:custGeom>
              <a:avLst/>
              <a:gdLst/>
              <a:ahLst/>
              <a:cxnLst/>
              <a:rect r="r" b="b" t="t" l="l"/>
              <a:pathLst>
                <a:path h="949706" w="949706">
                  <a:moveTo>
                    <a:pt x="0" y="474853"/>
                  </a:moveTo>
                  <a:cubicBezTo>
                    <a:pt x="0" y="212598"/>
                    <a:pt x="212598" y="0"/>
                    <a:pt x="474853" y="0"/>
                  </a:cubicBezTo>
                  <a:cubicBezTo>
                    <a:pt x="737108" y="0"/>
                    <a:pt x="949706" y="212598"/>
                    <a:pt x="949706" y="474853"/>
                  </a:cubicBezTo>
                  <a:cubicBezTo>
                    <a:pt x="949706" y="737108"/>
                    <a:pt x="737108" y="949706"/>
                    <a:pt x="474853" y="949706"/>
                  </a:cubicBezTo>
                  <a:cubicBezTo>
                    <a:pt x="212598" y="949706"/>
                    <a:pt x="0" y="737108"/>
                    <a:pt x="0" y="474853"/>
                  </a:cubicBezTo>
                  <a:close/>
                </a:path>
              </a:pathLst>
            </a:custGeom>
            <a:solidFill>
              <a:srgbClr val="13304D"/>
            </a:solidFill>
          </p:spPr>
        </p:sp>
      </p:grpSp>
      <p:grpSp>
        <p:nvGrpSpPr>
          <p:cNvPr name="Group 42" id="42"/>
          <p:cNvGrpSpPr/>
          <p:nvPr/>
        </p:nvGrpSpPr>
        <p:grpSpPr>
          <a:xfrm rot="0">
            <a:off x="15313826" y="2693736"/>
            <a:ext cx="712260" cy="712260"/>
            <a:chOff x="0" y="0"/>
            <a:chExt cx="949681" cy="949681"/>
          </a:xfrm>
        </p:grpSpPr>
        <p:sp>
          <p:nvSpPr>
            <p:cNvPr name="Freeform 43" id="43"/>
            <p:cNvSpPr/>
            <p:nvPr/>
          </p:nvSpPr>
          <p:spPr>
            <a:xfrm flipH="false" flipV="false" rot="0">
              <a:off x="0" y="0"/>
              <a:ext cx="949706" cy="949706"/>
            </a:xfrm>
            <a:custGeom>
              <a:avLst/>
              <a:gdLst/>
              <a:ahLst/>
              <a:cxnLst/>
              <a:rect r="r" b="b" t="t" l="l"/>
              <a:pathLst>
                <a:path h="949706" w="949706">
                  <a:moveTo>
                    <a:pt x="0" y="474853"/>
                  </a:moveTo>
                  <a:cubicBezTo>
                    <a:pt x="0" y="212598"/>
                    <a:pt x="212598" y="0"/>
                    <a:pt x="474853" y="0"/>
                  </a:cubicBezTo>
                  <a:cubicBezTo>
                    <a:pt x="737108" y="0"/>
                    <a:pt x="949706" y="212598"/>
                    <a:pt x="949706" y="474853"/>
                  </a:cubicBezTo>
                  <a:cubicBezTo>
                    <a:pt x="949706" y="737108"/>
                    <a:pt x="737108" y="949706"/>
                    <a:pt x="474853" y="949706"/>
                  </a:cubicBezTo>
                  <a:cubicBezTo>
                    <a:pt x="212598" y="949706"/>
                    <a:pt x="0" y="737108"/>
                    <a:pt x="0" y="474853"/>
                  </a:cubicBezTo>
                  <a:close/>
                </a:path>
              </a:pathLst>
            </a:custGeom>
            <a:solidFill>
              <a:srgbClr val="13304D"/>
            </a:solidFill>
          </p:spPr>
        </p:sp>
      </p:grpSp>
      <p:grpSp>
        <p:nvGrpSpPr>
          <p:cNvPr name="Group 44" id="44"/>
          <p:cNvGrpSpPr/>
          <p:nvPr/>
        </p:nvGrpSpPr>
        <p:grpSpPr>
          <a:xfrm rot="0">
            <a:off x="12160833" y="2779327"/>
            <a:ext cx="541077" cy="541077"/>
            <a:chOff x="0" y="0"/>
            <a:chExt cx="721436" cy="721436"/>
          </a:xfrm>
        </p:grpSpPr>
        <p:sp>
          <p:nvSpPr>
            <p:cNvPr name="Freeform 45" id="45" descr="icons/network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7"/>
              <a:stretch>
                <a:fillRect l="0" t="0" r="7" b="7"/>
              </a:stretch>
            </a:blipFill>
          </p:spPr>
        </p:sp>
      </p:grpSp>
      <p:grpSp>
        <p:nvGrpSpPr>
          <p:cNvPr name="Group 46" id="46"/>
          <p:cNvGrpSpPr/>
          <p:nvPr/>
        </p:nvGrpSpPr>
        <p:grpSpPr>
          <a:xfrm rot="0">
            <a:off x="15413563" y="2788211"/>
            <a:ext cx="541077" cy="541077"/>
            <a:chOff x="0" y="0"/>
            <a:chExt cx="721436" cy="721436"/>
          </a:xfrm>
        </p:grpSpPr>
        <p:sp>
          <p:nvSpPr>
            <p:cNvPr name="Freeform 47" id="47" descr="icons/car_white.png"/>
            <p:cNvSpPr/>
            <p:nvPr/>
          </p:nvSpPr>
          <p:spPr>
            <a:xfrm flipH="false" flipV="false" rot="0">
              <a:off x="0" y="0"/>
              <a:ext cx="721487" cy="721487"/>
            </a:xfrm>
            <a:custGeom>
              <a:avLst/>
              <a:gdLst/>
              <a:ahLst/>
              <a:cxnLst/>
              <a:rect r="r" b="b" t="t" l="l"/>
              <a:pathLst>
                <a:path h="721487" w="721487">
                  <a:moveTo>
                    <a:pt x="0" y="0"/>
                  </a:moveTo>
                  <a:lnTo>
                    <a:pt x="721487" y="0"/>
                  </a:lnTo>
                  <a:lnTo>
                    <a:pt x="721487" y="721487"/>
                  </a:lnTo>
                  <a:lnTo>
                    <a:pt x="0" y="721487"/>
                  </a:lnTo>
                  <a:lnTo>
                    <a:pt x="0" y="0"/>
                  </a:lnTo>
                  <a:close/>
                </a:path>
              </a:pathLst>
            </a:custGeom>
            <a:blipFill>
              <a:blip r:embed="rId8"/>
              <a:stretch>
                <a:fillRect l="0" t="0" r="7" b="7"/>
              </a:stretch>
            </a:blipFill>
          </p:spPr>
        </p:sp>
      </p:grpSp>
      <p:grpSp>
        <p:nvGrpSpPr>
          <p:cNvPr name="Group 48" id="48"/>
          <p:cNvGrpSpPr/>
          <p:nvPr/>
        </p:nvGrpSpPr>
        <p:grpSpPr>
          <a:xfrm rot="0">
            <a:off x="14432971" y="340693"/>
            <a:ext cx="3531112" cy="688007"/>
            <a:chOff x="0" y="0"/>
            <a:chExt cx="4708150" cy="917342"/>
          </a:xfrm>
        </p:grpSpPr>
        <p:sp>
          <p:nvSpPr>
            <p:cNvPr name="Freeform 49" id="49"/>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9"/>
              <a:stretch>
                <a:fillRect l="0" t="-1644" r="0" b="-1644"/>
              </a:stretch>
            </a:blipFill>
            <a:ln cap="sq">
              <a:noFill/>
              <a:prstDash val="solid"/>
              <a:miter/>
            </a:ln>
          </p:spPr>
        </p:sp>
        <p:sp>
          <p:nvSpPr>
            <p:cNvPr name="TextBox 50" id="50"/>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2/8</a:t>
              </a:r>
            </a:p>
          </p:txBody>
        </p:sp>
      </p:grpSp>
      <p:sp>
        <p:nvSpPr>
          <p:cNvPr name="TextBox 51" id="51"/>
          <p:cNvSpPr txBox="true"/>
          <p:nvPr/>
        </p:nvSpPr>
        <p:spPr>
          <a:xfrm rot="0">
            <a:off x="1236590" y="7957452"/>
            <a:ext cx="9270587" cy="674106"/>
          </a:xfrm>
          <a:prstGeom prst="rect">
            <a:avLst/>
          </a:prstGeom>
        </p:spPr>
        <p:txBody>
          <a:bodyPr anchor="t" rtlCol="false" tIns="0" lIns="0" bIns="0" rIns="0">
            <a:spAutoFit/>
          </a:bodyPr>
          <a:lstStyle/>
          <a:p>
            <a:pPr algn="l">
              <a:lnSpc>
                <a:spcPts val="2676"/>
              </a:lnSpc>
            </a:pPr>
            <a:r>
              <a:rPr lang="en-US" sz="1906">
                <a:solidFill>
                  <a:srgbClr val="FFFFFF"/>
                </a:solidFill>
                <a:latin typeface="Work Sans Light"/>
                <a:ea typeface="Work Sans Light"/>
                <a:cs typeface="Work Sans Light"/>
                <a:sym typeface="Work Sans Light"/>
              </a:rPr>
              <a:t>Independent validat</a:t>
            </a:r>
            <a:r>
              <a:rPr lang="en-US" sz="1906">
                <a:solidFill>
                  <a:srgbClr val="FFFFFF"/>
                </a:solidFill>
                <a:latin typeface="Work Sans Light"/>
                <a:ea typeface="Work Sans Light"/>
                <a:cs typeface="Work Sans Light"/>
                <a:sym typeface="Work Sans Light"/>
              </a:rPr>
              <a:t>ion path: PCAN-USB (DB9) connects directly to the same differential bus for monitoring &amp; cross-checks.</a:t>
            </a:r>
          </a:p>
        </p:txBody>
      </p:sp>
      <p:sp>
        <p:nvSpPr>
          <p:cNvPr name="AutoShape 52" id="52"/>
          <p:cNvSpPr/>
          <p:nvPr/>
        </p:nvSpPr>
        <p:spPr>
          <a:xfrm flipV="true">
            <a:off x="926309" y="1619964"/>
            <a:ext cx="5429263" cy="0"/>
          </a:xfrm>
          <a:prstGeom prst="line">
            <a:avLst/>
          </a:prstGeom>
          <a:ln cap="flat" w="38100">
            <a:solidFill>
              <a:srgbClr val="B0FF45"/>
            </a:solidFill>
            <a:prstDash val="solid"/>
            <a:headEnd type="none" len="sm" w="sm"/>
            <a:tailEnd type="oval" len="lg" w="lg"/>
          </a:ln>
        </p:spPr>
      </p:sp>
      <p:grpSp>
        <p:nvGrpSpPr>
          <p:cNvPr name="Group 53" id="53"/>
          <p:cNvGrpSpPr/>
          <p:nvPr/>
        </p:nvGrpSpPr>
        <p:grpSpPr>
          <a:xfrm rot="0">
            <a:off x="15325725" y="9491367"/>
            <a:ext cx="1299210" cy="357077"/>
            <a:chOff x="0" y="0"/>
            <a:chExt cx="1732280" cy="476102"/>
          </a:xfrm>
        </p:grpSpPr>
        <p:sp>
          <p:nvSpPr>
            <p:cNvPr name="Freeform 54" id="54"/>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55" id="55"/>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56" id="56"/>
          <p:cNvGrpSpPr/>
          <p:nvPr/>
        </p:nvGrpSpPr>
        <p:grpSpPr>
          <a:xfrm rot="0">
            <a:off x="926309" y="9491358"/>
            <a:ext cx="2807304" cy="493053"/>
            <a:chOff x="0" y="0"/>
            <a:chExt cx="3743072" cy="657404"/>
          </a:xfrm>
        </p:grpSpPr>
        <p:sp>
          <p:nvSpPr>
            <p:cNvPr name="Freeform 57" id="57"/>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8" id="58"/>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59" id="59"/>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H</a:t>
            </a:r>
            <a:r>
              <a:rPr lang="en-US" b="true" sz="4200" spc="-30">
                <a:solidFill>
                  <a:srgbClr val="E6E7E8"/>
                </a:solidFill>
                <a:latin typeface="Work Sans Medium"/>
                <a:ea typeface="Work Sans Medium"/>
                <a:cs typeface="Work Sans Medium"/>
                <a:sym typeface="Work Sans Medium"/>
              </a:rPr>
              <a:t>ardware Stack &amp; Interface Protocols</a:t>
            </a:r>
          </a:p>
        </p:txBody>
      </p:sp>
      <p:sp>
        <p:nvSpPr>
          <p:cNvPr name="TextBox 4" id="4"/>
          <p:cNvSpPr txBox="true"/>
          <p:nvPr/>
        </p:nvSpPr>
        <p:spPr>
          <a:xfrm rot="0">
            <a:off x="897626" y="3613952"/>
            <a:ext cx="7983484" cy="141358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SPI (Se</a:t>
            </a:r>
            <a:r>
              <a:rPr lang="en-US" sz="2050">
                <a:solidFill>
                  <a:srgbClr val="FFFFFF"/>
                </a:solidFill>
                <a:latin typeface="Work Sans"/>
                <a:ea typeface="Work Sans"/>
                <a:cs typeface="Work Sans"/>
                <a:sym typeface="Work Sans"/>
              </a:rPr>
              <a:t>rial Peripheral Interface) enables high-speed full-duplex communication between the Raspberry Pi and the MCP2515 CAN controller, allowing efficient transmission of CAN commands and data.</a:t>
            </a:r>
          </a:p>
        </p:txBody>
      </p:sp>
      <p:sp>
        <p:nvSpPr>
          <p:cNvPr name="TextBox 5" id="5"/>
          <p:cNvSpPr txBox="true"/>
          <p:nvPr/>
        </p:nvSpPr>
        <p:spPr>
          <a:xfrm rot="0">
            <a:off x="753026" y="5284641"/>
            <a:ext cx="8006344" cy="2799207"/>
          </a:xfrm>
          <a:prstGeom prst="rect">
            <a:avLst/>
          </a:prstGeom>
        </p:spPr>
        <p:txBody>
          <a:bodyPr anchor="t" rtlCol="false" tIns="0" lIns="0" bIns="0" rIns="0">
            <a:spAutoFit/>
          </a:bodyPr>
          <a:lstStyle/>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F</a:t>
            </a:r>
            <a:r>
              <a:rPr lang="en-US" sz="2250">
                <a:solidFill>
                  <a:srgbClr val="FFFFFF"/>
                </a:solidFill>
                <a:latin typeface="Work Sans Light"/>
                <a:ea typeface="Work Sans Light"/>
                <a:cs typeface="Work Sans Light"/>
                <a:sym typeface="Work Sans Light"/>
              </a:rPr>
              <a:t>ull-duplex, MSB-first, 8-bit groups; CE LOW selects the slave</a:t>
            </a:r>
          </a:p>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4 SPI modes via CPOL/CPHA — MCP2515 uses Mode 0 (rising-edge sample)</a:t>
            </a:r>
          </a:p>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Burs</a:t>
            </a:r>
            <a:r>
              <a:rPr lang="en-US" sz="2250">
                <a:solidFill>
                  <a:srgbClr val="FFFFFF"/>
                </a:solidFill>
                <a:latin typeface="Work Sans Light"/>
                <a:ea typeface="Work Sans Light"/>
                <a:cs typeface="Work Sans Light"/>
                <a:sym typeface="Work Sans Light"/>
              </a:rPr>
              <a:t>t read/write auto-increments internal address while CE stays LOW</a:t>
            </a:r>
          </a:p>
          <a:p>
            <a:pPr algn="l">
              <a:lnSpc>
                <a:spcPts val="3158"/>
              </a:lnSpc>
            </a:pPr>
          </a:p>
        </p:txBody>
      </p:sp>
      <p:sp>
        <p:nvSpPr>
          <p:cNvPr name="TextBox 6" id="6"/>
          <p:cNvSpPr txBox="true"/>
          <p:nvPr/>
        </p:nvSpPr>
        <p:spPr>
          <a:xfrm rot="0">
            <a:off x="9483090" y="3613952"/>
            <a:ext cx="7983484" cy="1061161"/>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CAN us</a:t>
            </a:r>
            <a:r>
              <a:rPr lang="en-US" sz="2050">
                <a:solidFill>
                  <a:srgbClr val="FFFFFF"/>
                </a:solidFill>
                <a:latin typeface="Work Sans"/>
                <a:ea typeface="Work Sans"/>
                <a:cs typeface="Work Sans"/>
                <a:sym typeface="Work Sans"/>
              </a:rPr>
              <a:t>es differential signalling over CAN_H and CAN_L to provide reliable, noise-immune communication between multiple Electronic Control Units (ECUs).</a:t>
            </a:r>
          </a:p>
        </p:txBody>
      </p:sp>
      <p:sp>
        <p:nvSpPr>
          <p:cNvPr name="TextBox 7" id="7"/>
          <p:cNvSpPr txBox="true"/>
          <p:nvPr/>
        </p:nvSpPr>
        <p:spPr>
          <a:xfrm rot="0">
            <a:off x="9460230" y="5130860"/>
            <a:ext cx="8006344" cy="3999357"/>
          </a:xfrm>
          <a:prstGeom prst="rect">
            <a:avLst/>
          </a:prstGeom>
        </p:spPr>
        <p:txBody>
          <a:bodyPr anchor="t" rtlCol="false" tIns="0" lIns="0" bIns="0" rIns="0">
            <a:spAutoFit/>
          </a:bodyPr>
          <a:lstStyle/>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Tw</a:t>
            </a:r>
            <a:r>
              <a:rPr lang="en-US" sz="2250">
                <a:solidFill>
                  <a:srgbClr val="FFFFFF"/>
                </a:solidFill>
                <a:latin typeface="Work Sans Light"/>
                <a:ea typeface="Work Sans Light"/>
                <a:cs typeface="Work Sans Light"/>
                <a:sym typeface="Work Sans Light"/>
              </a:rPr>
              <a:t>o wires, CAN_H / CAN_L — "0" is dominant, "1" is recessive</a:t>
            </a:r>
          </a:p>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120Ω termination at both bus ends matches characteristic impedance Z0, eliminating reflections (Γ = 0)</a:t>
            </a:r>
          </a:p>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Standard CAN: 11-bit ID, 0–8 bytes · Extended CAN: 29-bit ID, 0–8 bytes</a:t>
            </a:r>
          </a:p>
          <a:p>
            <a:pPr algn="l" marL="407194" indent="-203597" lvl="1">
              <a:lnSpc>
                <a:spcPts val="3158"/>
              </a:lnSpc>
              <a:buFont typeface="Arial"/>
              <a:buChar char="•"/>
            </a:pPr>
            <a:r>
              <a:rPr lang="en-US" sz="2250">
                <a:solidFill>
                  <a:srgbClr val="FFFFFF"/>
                </a:solidFill>
                <a:latin typeface="Work Sans Light"/>
                <a:ea typeface="Work Sans Light"/>
                <a:cs typeface="Work Sans Light"/>
                <a:sym typeface="Work Sans Light"/>
              </a:rPr>
              <a:t>CAN FD raises payload to 64 bytes and switches to a fas</a:t>
            </a:r>
            <a:r>
              <a:rPr lang="en-US" sz="2250">
                <a:solidFill>
                  <a:srgbClr val="FFFFFF"/>
                </a:solidFill>
                <a:latin typeface="Work Sans Light"/>
                <a:ea typeface="Work Sans Light"/>
                <a:cs typeface="Work Sans Light"/>
                <a:sym typeface="Work Sans Light"/>
              </a:rPr>
              <a:t>ter data-phase bit rate (BRS) after arbitration</a:t>
            </a:r>
          </a:p>
          <a:p>
            <a:pPr algn="l" marL="407194" indent="-203597" lvl="1">
              <a:lnSpc>
                <a:spcPts val="3158"/>
              </a:lnSpc>
            </a:pPr>
          </a:p>
        </p:txBody>
      </p:sp>
      <p:grpSp>
        <p:nvGrpSpPr>
          <p:cNvPr name="Group 8" id="8"/>
          <p:cNvGrpSpPr/>
          <p:nvPr/>
        </p:nvGrpSpPr>
        <p:grpSpPr>
          <a:xfrm rot="0">
            <a:off x="925116" y="2505313"/>
            <a:ext cx="5742384" cy="842010"/>
            <a:chOff x="0" y="0"/>
            <a:chExt cx="7656512" cy="1122680"/>
          </a:xfrm>
        </p:grpSpPr>
        <p:sp>
          <p:nvSpPr>
            <p:cNvPr name="Freeform 9" id="9"/>
            <p:cNvSpPr/>
            <p:nvPr/>
          </p:nvSpPr>
          <p:spPr>
            <a:xfrm flipH="false" flipV="false" rot="0">
              <a:off x="0" y="0"/>
              <a:ext cx="7656449" cy="1122680"/>
            </a:xfrm>
            <a:custGeom>
              <a:avLst/>
              <a:gdLst/>
              <a:ahLst/>
              <a:cxnLst/>
              <a:rect r="r" b="b" t="t" l="l"/>
              <a:pathLst>
                <a:path h="1122680" w="7656449">
                  <a:moveTo>
                    <a:pt x="0" y="0"/>
                  </a:moveTo>
                  <a:lnTo>
                    <a:pt x="7656449" y="0"/>
                  </a:lnTo>
                  <a:lnTo>
                    <a:pt x="7656449" y="1122680"/>
                  </a:lnTo>
                  <a:lnTo>
                    <a:pt x="0" y="1122680"/>
                  </a:lnTo>
                  <a:close/>
                </a:path>
              </a:pathLst>
            </a:custGeom>
            <a:solidFill>
              <a:srgbClr val="B0FF45"/>
            </a:solidFill>
          </p:spPr>
        </p:sp>
        <p:sp>
          <p:nvSpPr>
            <p:cNvPr name="TextBox 10" id="10"/>
            <p:cNvSpPr txBox="true"/>
            <p:nvPr/>
          </p:nvSpPr>
          <p:spPr>
            <a:xfrm>
              <a:off x="0" y="-9525"/>
              <a:ext cx="7656512" cy="1132205"/>
            </a:xfrm>
            <a:prstGeom prst="rect">
              <a:avLst/>
            </a:prstGeom>
          </p:spPr>
          <p:txBody>
            <a:bodyPr anchor="ctr" rtlCol="false" tIns="50800" lIns="50800" bIns="50800" rIns="50800"/>
            <a:lstStyle/>
            <a:p>
              <a:pPr algn="ctr">
                <a:lnSpc>
                  <a:spcPts val="3360"/>
                </a:lnSpc>
              </a:pPr>
              <a:r>
                <a:rPr lang="en-US" sz="2800" b="true">
                  <a:solidFill>
                    <a:srgbClr val="000000"/>
                  </a:solidFill>
                  <a:latin typeface="Work Sans Medium"/>
                  <a:ea typeface="Work Sans Medium"/>
                  <a:cs typeface="Work Sans Medium"/>
                  <a:sym typeface="Work Sans Medium"/>
                </a:rPr>
                <a:t>SPI — Raspberry Pi ↔ MCP2515</a:t>
              </a:r>
            </a:p>
          </p:txBody>
        </p:sp>
      </p:grpSp>
      <p:grpSp>
        <p:nvGrpSpPr>
          <p:cNvPr name="Group 11" id="11"/>
          <p:cNvGrpSpPr/>
          <p:nvPr/>
        </p:nvGrpSpPr>
        <p:grpSpPr>
          <a:xfrm rot="0">
            <a:off x="9535116" y="2505313"/>
            <a:ext cx="5742384" cy="842010"/>
            <a:chOff x="0" y="0"/>
            <a:chExt cx="7656512" cy="1122680"/>
          </a:xfrm>
        </p:grpSpPr>
        <p:sp>
          <p:nvSpPr>
            <p:cNvPr name="Freeform 12" id="12"/>
            <p:cNvSpPr/>
            <p:nvPr/>
          </p:nvSpPr>
          <p:spPr>
            <a:xfrm flipH="false" flipV="false" rot="0">
              <a:off x="0" y="0"/>
              <a:ext cx="7656449" cy="1122680"/>
            </a:xfrm>
            <a:custGeom>
              <a:avLst/>
              <a:gdLst/>
              <a:ahLst/>
              <a:cxnLst/>
              <a:rect r="r" b="b" t="t" l="l"/>
              <a:pathLst>
                <a:path h="1122680" w="7656449">
                  <a:moveTo>
                    <a:pt x="0" y="0"/>
                  </a:moveTo>
                  <a:lnTo>
                    <a:pt x="7656449" y="0"/>
                  </a:lnTo>
                  <a:lnTo>
                    <a:pt x="7656449" y="1122680"/>
                  </a:lnTo>
                  <a:lnTo>
                    <a:pt x="0" y="1122680"/>
                  </a:lnTo>
                  <a:close/>
                </a:path>
              </a:pathLst>
            </a:custGeom>
            <a:solidFill>
              <a:srgbClr val="8FDB00"/>
            </a:solidFill>
          </p:spPr>
        </p:sp>
        <p:sp>
          <p:nvSpPr>
            <p:cNvPr name="TextBox 13" id="13"/>
            <p:cNvSpPr txBox="true"/>
            <p:nvPr/>
          </p:nvSpPr>
          <p:spPr>
            <a:xfrm>
              <a:off x="0" y="-9525"/>
              <a:ext cx="7656512" cy="1132205"/>
            </a:xfrm>
            <a:prstGeom prst="rect">
              <a:avLst/>
            </a:prstGeom>
          </p:spPr>
          <p:txBody>
            <a:bodyPr anchor="ctr" rtlCol="false" tIns="50800" lIns="50800" bIns="50800" rIns="50800"/>
            <a:lstStyle/>
            <a:p>
              <a:pPr algn="ctr">
                <a:lnSpc>
                  <a:spcPts val="3360"/>
                </a:lnSpc>
              </a:pPr>
              <a:r>
                <a:rPr lang="en-US" sz="2800" b="true">
                  <a:solidFill>
                    <a:srgbClr val="000000"/>
                  </a:solidFill>
                  <a:latin typeface="Work Sans Medium"/>
                  <a:ea typeface="Work Sans Medium"/>
                  <a:cs typeface="Work Sans Medium"/>
                  <a:sym typeface="Work Sans Medium"/>
                </a:rPr>
                <a:t>CAN Differential Signalling</a:t>
              </a:r>
            </a:p>
          </p:txBody>
        </p:sp>
      </p:grpSp>
      <p:grpSp>
        <p:nvGrpSpPr>
          <p:cNvPr name="Group 14" id="14"/>
          <p:cNvGrpSpPr/>
          <p:nvPr/>
        </p:nvGrpSpPr>
        <p:grpSpPr>
          <a:xfrm rot="0">
            <a:off x="16784479" y="9491358"/>
            <a:ext cx="697335" cy="357088"/>
            <a:chOff x="0" y="0"/>
            <a:chExt cx="929780" cy="476118"/>
          </a:xfrm>
        </p:grpSpPr>
        <p:sp>
          <p:nvSpPr>
            <p:cNvPr name="Freeform 15" id="15"/>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6" id="16"/>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11</a:t>
              </a:r>
            </a:p>
          </p:txBody>
        </p:sp>
      </p:grpSp>
      <p:sp>
        <p:nvSpPr>
          <p:cNvPr name="AutoShape 17" id="17"/>
          <p:cNvSpPr/>
          <p:nvPr/>
        </p:nvSpPr>
        <p:spPr>
          <a:xfrm flipV="true">
            <a:off x="926309" y="1619964"/>
            <a:ext cx="5429263" cy="0"/>
          </a:xfrm>
          <a:prstGeom prst="line">
            <a:avLst/>
          </a:prstGeom>
          <a:ln cap="flat" w="38100">
            <a:solidFill>
              <a:srgbClr val="753DFF"/>
            </a:solidFill>
            <a:prstDash val="solid"/>
            <a:headEnd type="none" len="sm" w="sm"/>
            <a:tailEnd type="oval" len="lg" w="lg"/>
          </a:ln>
        </p:spPr>
      </p:sp>
      <p:grpSp>
        <p:nvGrpSpPr>
          <p:cNvPr name="Group 18" id="18"/>
          <p:cNvGrpSpPr/>
          <p:nvPr/>
        </p:nvGrpSpPr>
        <p:grpSpPr>
          <a:xfrm rot="0">
            <a:off x="15325725" y="9491367"/>
            <a:ext cx="1299210" cy="357077"/>
            <a:chOff x="0" y="0"/>
            <a:chExt cx="1732280" cy="476102"/>
          </a:xfrm>
        </p:grpSpPr>
        <p:sp>
          <p:nvSpPr>
            <p:cNvPr name="Freeform 19" id="19"/>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0" id="20"/>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1" id="21"/>
          <p:cNvGrpSpPr/>
          <p:nvPr/>
        </p:nvGrpSpPr>
        <p:grpSpPr>
          <a:xfrm rot="0">
            <a:off x="926309" y="9491358"/>
            <a:ext cx="2807304" cy="493053"/>
            <a:chOff x="0" y="0"/>
            <a:chExt cx="3743072" cy="657404"/>
          </a:xfrm>
        </p:grpSpPr>
        <p:sp>
          <p:nvSpPr>
            <p:cNvPr name="Freeform 22" id="22"/>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4" id="24"/>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Freeform 3" id="3"/>
          <p:cNvSpPr/>
          <p:nvPr/>
        </p:nvSpPr>
        <p:spPr>
          <a:xfrm flipH="false" flipV="false" rot="0">
            <a:off x="928954" y="953072"/>
            <a:ext cx="16430101" cy="8118758"/>
          </a:xfrm>
          <a:custGeom>
            <a:avLst/>
            <a:gdLst/>
            <a:ahLst/>
            <a:cxnLst/>
            <a:rect r="r" b="b" t="t" l="l"/>
            <a:pathLst>
              <a:path h="8118758" w="16430101">
                <a:moveTo>
                  <a:pt x="0" y="0"/>
                </a:moveTo>
                <a:lnTo>
                  <a:pt x="16430101" y="0"/>
                </a:lnTo>
                <a:lnTo>
                  <a:pt x="16430101" y="8118757"/>
                </a:lnTo>
                <a:lnTo>
                  <a:pt x="0" y="81187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383195" y="1754600"/>
            <a:ext cx="9521609" cy="371475"/>
          </a:xfrm>
          <a:prstGeom prst="rect">
            <a:avLst/>
          </a:prstGeom>
        </p:spPr>
        <p:txBody>
          <a:bodyPr anchor="t" rtlCol="false" tIns="0" lIns="0" bIns="0" rIns="0">
            <a:spAutoFit/>
          </a:bodyPr>
          <a:lstStyle/>
          <a:p>
            <a:pPr algn="ctr">
              <a:lnSpc>
                <a:spcPts val="2879"/>
              </a:lnSpc>
            </a:pPr>
            <a:r>
              <a:rPr lang="en-US" sz="2400" b="true">
                <a:solidFill>
                  <a:srgbClr val="000000"/>
                </a:solidFill>
                <a:latin typeface="Work Sans Bold"/>
                <a:ea typeface="Work Sans Bold"/>
                <a:cs typeface="Work Sans Bold"/>
                <a:sym typeface="Work Sans Bold"/>
              </a:rPr>
              <a:t>listener.py</a:t>
            </a:r>
          </a:p>
        </p:txBody>
      </p:sp>
      <p:sp>
        <p:nvSpPr>
          <p:cNvPr name="TextBox 5" id="5"/>
          <p:cNvSpPr txBox="true"/>
          <p:nvPr/>
        </p:nvSpPr>
        <p:spPr>
          <a:xfrm rot="0">
            <a:off x="6205090" y="2230317"/>
            <a:ext cx="5877820" cy="591693"/>
          </a:xfrm>
          <a:prstGeom prst="rect">
            <a:avLst/>
          </a:prstGeom>
        </p:spPr>
        <p:txBody>
          <a:bodyPr anchor="t" rtlCol="false" tIns="0" lIns="0" bIns="0" rIns="0">
            <a:spAutoFit/>
          </a:bodyPr>
          <a:lstStyle/>
          <a:p>
            <a:pPr algn="ctr">
              <a:lnSpc>
                <a:spcPts val="2376"/>
              </a:lnSpc>
            </a:pPr>
            <a:r>
              <a:rPr lang="en-US" sz="1800">
                <a:solidFill>
                  <a:srgbClr val="161718"/>
                </a:solidFill>
                <a:latin typeface="Work Sans"/>
                <a:ea typeface="Work Sans"/>
                <a:cs typeface="Work Sans"/>
                <a:sym typeface="Work Sans"/>
              </a:rPr>
              <a:t>SocketCAN init, non-blocking capture, struct unpacking, bus-off self-healing</a:t>
            </a:r>
          </a:p>
        </p:txBody>
      </p:sp>
      <p:sp>
        <p:nvSpPr>
          <p:cNvPr name="TextBox 6" id="6"/>
          <p:cNvSpPr txBox="true"/>
          <p:nvPr/>
        </p:nvSpPr>
        <p:spPr>
          <a:xfrm rot="0">
            <a:off x="7688294" y="4359883"/>
            <a:ext cx="2911402" cy="733425"/>
          </a:xfrm>
          <a:prstGeom prst="rect">
            <a:avLst/>
          </a:prstGeom>
        </p:spPr>
        <p:txBody>
          <a:bodyPr anchor="t" rtlCol="false" tIns="0" lIns="0" bIns="0" rIns="0">
            <a:spAutoFit/>
          </a:bodyPr>
          <a:lstStyle/>
          <a:p>
            <a:pPr algn="ctr">
              <a:lnSpc>
                <a:spcPts val="2879"/>
              </a:lnSpc>
            </a:pPr>
            <a:r>
              <a:rPr lang="en-US" sz="2400">
                <a:solidFill>
                  <a:srgbClr val="FFFFFF"/>
                </a:solidFill>
                <a:latin typeface="Work Sans"/>
                <a:ea typeface="Work Sans"/>
                <a:cs typeface="Work Sans"/>
                <a:sym typeface="Work Sans"/>
              </a:rPr>
              <a:t>SUBSYSTEM DESIGN</a:t>
            </a:r>
          </a:p>
        </p:txBody>
      </p:sp>
      <p:sp>
        <p:nvSpPr>
          <p:cNvPr name="TextBox 7" id="7"/>
          <p:cNvSpPr txBox="true"/>
          <p:nvPr/>
        </p:nvSpPr>
        <p:spPr>
          <a:xfrm rot="0">
            <a:off x="7688294" y="5114925"/>
            <a:ext cx="2911412" cy="591693"/>
          </a:xfrm>
          <a:prstGeom prst="rect">
            <a:avLst/>
          </a:prstGeom>
        </p:spPr>
        <p:txBody>
          <a:bodyPr anchor="t" rtlCol="false" tIns="0" lIns="0" bIns="0" rIns="0">
            <a:spAutoFit/>
          </a:bodyPr>
          <a:lstStyle/>
          <a:p>
            <a:pPr algn="ctr">
              <a:lnSpc>
                <a:spcPts val="2376"/>
              </a:lnSpc>
            </a:pPr>
            <a:r>
              <a:rPr lang="en-US" sz="1800">
                <a:solidFill>
                  <a:srgbClr val="FFFFFF"/>
                </a:solidFill>
                <a:latin typeface="Work Sans"/>
                <a:ea typeface="Work Sans"/>
                <a:cs typeface="Work Sans"/>
                <a:sym typeface="Work Sans"/>
              </a:rPr>
              <a:t>Six Modules, One Responsibility Each</a:t>
            </a:r>
          </a:p>
        </p:txBody>
      </p:sp>
      <p:sp>
        <p:nvSpPr>
          <p:cNvPr name="TextBox 8" id="8"/>
          <p:cNvSpPr txBox="true"/>
          <p:nvPr/>
        </p:nvSpPr>
        <p:spPr>
          <a:xfrm rot="0">
            <a:off x="1340930" y="3965515"/>
            <a:ext cx="2447296" cy="733425"/>
          </a:xfrm>
          <a:prstGeom prst="rect">
            <a:avLst/>
          </a:prstGeom>
        </p:spPr>
        <p:txBody>
          <a:bodyPr anchor="t" rtlCol="false" tIns="0" lIns="0" bIns="0" rIns="0">
            <a:spAutoFit/>
          </a:bodyPr>
          <a:lstStyle/>
          <a:p>
            <a:pPr algn="l">
              <a:lnSpc>
                <a:spcPts val="2879"/>
              </a:lnSpc>
            </a:pPr>
            <a:r>
              <a:rPr lang="en-US" b="true" sz="2400">
                <a:solidFill>
                  <a:srgbClr val="161718"/>
                </a:solidFill>
                <a:latin typeface="Work Sans Bold"/>
                <a:ea typeface="Work Sans Bold"/>
                <a:cs typeface="Work Sans Bold"/>
                <a:sym typeface="Work Sans Bold"/>
              </a:rPr>
              <a:t>simulat</a:t>
            </a:r>
            <a:r>
              <a:rPr lang="en-US" b="true" sz="2400">
                <a:solidFill>
                  <a:srgbClr val="161718"/>
                </a:solidFill>
                <a:latin typeface="Work Sans Bold"/>
                <a:ea typeface="Work Sans Bold"/>
                <a:cs typeface="Work Sans Bold"/>
                <a:sym typeface="Work Sans Bold"/>
              </a:rPr>
              <a:t>or.py +encoder.py</a:t>
            </a:r>
          </a:p>
        </p:txBody>
      </p:sp>
      <p:sp>
        <p:nvSpPr>
          <p:cNvPr name="TextBox 9" id="9"/>
          <p:cNvSpPr txBox="true"/>
          <p:nvPr/>
        </p:nvSpPr>
        <p:spPr>
          <a:xfrm rot="0">
            <a:off x="1340929" y="4715913"/>
            <a:ext cx="2447296" cy="1477518"/>
          </a:xfrm>
          <a:prstGeom prst="rect">
            <a:avLst/>
          </a:prstGeom>
        </p:spPr>
        <p:txBody>
          <a:bodyPr anchor="t" rtlCol="false" tIns="0" lIns="0" bIns="0" rIns="0">
            <a:spAutoFit/>
          </a:bodyPr>
          <a:lstStyle/>
          <a:p>
            <a:pPr algn="l">
              <a:lnSpc>
                <a:spcPts val="2376"/>
              </a:lnSpc>
            </a:pPr>
            <a:r>
              <a:rPr lang="en-US" sz="1800">
                <a:solidFill>
                  <a:srgbClr val="161718"/>
                </a:solidFill>
                <a:latin typeface="Work Sans"/>
                <a:ea typeface="Work Sans"/>
                <a:cs typeface="Work Sans"/>
                <a:sym typeface="Work Sans"/>
              </a:rPr>
              <a:t>Vi</a:t>
            </a:r>
            <a:r>
              <a:rPr lang="en-US" sz="1800">
                <a:solidFill>
                  <a:srgbClr val="161718"/>
                </a:solidFill>
                <a:latin typeface="Work Sans"/>
                <a:ea typeface="Work Sans"/>
                <a:cs typeface="Work Sans"/>
                <a:sym typeface="Work Sans"/>
              </a:rPr>
              <a:t>rtual ECU — signal generation, DBC encoding, periodic TX ,encoding to CAN frame</a:t>
            </a:r>
          </a:p>
        </p:txBody>
      </p:sp>
      <p:sp>
        <p:nvSpPr>
          <p:cNvPr name="TextBox 10" id="10"/>
          <p:cNvSpPr txBox="true"/>
          <p:nvPr/>
        </p:nvSpPr>
        <p:spPr>
          <a:xfrm rot="0">
            <a:off x="4715218" y="4587897"/>
            <a:ext cx="2447296" cy="371475"/>
          </a:xfrm>
          <a:prstGeom prst="rect">
            <a:avLst/>
          </a:prstGeom>
        </p:spPr>
        <p:txBody>
          <a:bodyPr anchor="t" rtlCol="false" tIns="0" lIns="0" bIns="0" rIns="0">
            <a:spAutoFit/>
          </a:bodyPr>
          <a:lstStyle/>
          <a:p>
            <a:pPr algn="l">
              <a:lnSpc>
                <a:spcPts val="2879"/>
              </a:lnSpc>
            </a:pPr>
            <a:r>
              <a:rPr lang="en-US" sz="2400" b="true">
                <a:solidFill>
                  <a:srgbClr val="FFFFFF"/>
                </a:solidFill>
                <a:latin typeface="Work Sans Bold"/>
                <a:ea typeface="Work Sans Bold"/>
                <a:cs typeface="Work Sans Bold"/>
                <a:sym typeface="Work Sans Bold"/>
              </a:rPr>
              <a:t>logg</a:t>
            </a:r>
            <a:r>
              <a:rPr lang="en-US" sz="2400" b="true">
                <a:solidFill>
                  <a:srgbClr val="FFFFFF"/>
                </a:solidFill>
                <a:latin typeface="Work Sans Bold"/>
                <a:ea typeface="Work Sans Bold"/>
                <a:cs typeface="Work Sans Bold"/>
                <a:sym typeface="Work Sans Bold"/>
              </a:rPr>
              <a:t>er.py</a:t>
            </a:r>
          </a:p>
        </p:txBody>
      </p:sp>
      <p:sp>
        <p:nvSpPr>
          <p:cNvPr name="TextBox 11" id="11"/>
          <p:cNvSpPr txBox="true"/>
          <p:nvPr/>
        </p:nvSpPr>
        <p:spPr>
          <a:xfrm rot="0">
            <a:off x="4715218" y="5063614"/>
            <a:ext cx="2447296" cy="1182243"/>
          </a:xfrm>
          <a:prstGeom prst="rect">
            <a:avLst/>
          </a:prstGeom>
        </p:spPr>
        <p:txBody>
          <a:bodyPr anchor="t" rtlCol="false" tIns="0" lIns="0" bIns="0" rIns="0">
            <a:spAutoFit/>
          </a:bodyPr>
          <a:lstStyle/>
          <a:p>
            <a:pPr algn="l">
              <a:lnSpc>
                <a:spcPts val="2376"/>
              </a:lnSpc>
            </a:pPr>
            <a:r>
              <a:rPr lang="en-US" sz="1800">
                <a:solidFill>
                  <a:srgbClr val="FFFFFF"/>
                </a:solidFill>
                <a:latin typeface="Work Sans"/>
                <a:ea typeface="Work Sans"/>
                <a:cs typeface="Work Sans"/>
                <a:sym typeface="Work Sans"/>
              </a:rPr>
              <a:t>Ring-buffe</a:t>
            </a:r>
            <a:r>
              <a:rPr lang="en-US" sz="1800">
                <a:solidFill>
                  <a:srgbClr val="FFFFFF"/>
                </a:solidFill>
                <a:latin typeface="Work Sans"/>
                <a:ea typeface="Work Sans"/>
                <a:cs typeface="Work Sans"/>
                <a:sym typeface="Work Sans"/>
              </a:rPr>
              <a:t>r ingestion, 500ms bulk flush with fsync, log rotation at 100MB</a:t>
            </a:r>
          </a:p>
        </p:txBody>
      </p:sp>
      <p:sp>
        <p:nvSpPr>
          <p:cNvPr name="TextBox 12" id="12"/>
          <p:cNvSpPr txBox="true"/>
          <p:nvPr/>
        </p:nvSpPr>
        <p:spPr>
          <a:xfrm rot="0">
            <a:off x="11118094" y="4587897"/>
            <a:ext cx="2447296" cy="371475"/>
          </a:xfrm>
          <a:prstGeom prst="rect">
            <a:avLst/>
          </a:prstGeom>
        </p:spPr>
        <p:txBody>
          <a:bodyPr anchor="t" rtlCol="false" tIns="0" lIns="0" bIns="0" rIns="0">
            <a:spAutoFit/>
          </a:bodyPr>
          <a:lstStyle/>
          <a:p>
            <a:pPr algn="r">
              <a:lnSpc>
                <a:spcPts val="2879"/>
              </a:lnSpc>
            </a:pPr>
            <a:r>
              <a:rPr lang="en-US" sz="2400" b="true">
                <a:solidFill>
                  <a:srgbClr val="FFFFFF"/>
                </a:solidFill>
                <a:latin typeface="Work Sans Bold"/>
                <a:ea typeface="Work Sans Bold"/>
                <a:cs typeface="Work Sans Bold"/>
                <a:sym typeface="Work Sans Bold"/>
              </a:rPr>
              <a:t>uds_client.py</a:t>
            </a:r>
          </a:p>
        </p:txBody>
      </p:sp>
      <p:sp>
        <p:nvSpPr>
          <p:cNvPr name="TextBox 13" id="13"/>
          <p:cNvSpPr txBox="true"/>
          <p:nvPr/>
        </p:nvSpPr>
        <p:spPr>
          <a:xfrm rot="0">
            <a:off x="11118085" y="5063614"/>
            <a:ext cx="2447296" cy="1182243"/>
          </a:xfrm>
          <a:prstGeom prst="rect">
            <a:avLst/>
          </a:prstGeom>
        </p:spPr>
        <p:txBody>
          <a:bodyPr anchor="t" rtlCol="false" tIns="0" lIns="0" bIns="0" rIns="0">
            <a:spAutoFit/>
          </a:bodyPr>
          <a:lstStyle/>
          <a:p>
            <a:pPr algn="r">
              <a:lnSpc>
                <a:spcPts val="2376"/>
              </a:lnSpc>
            </a:pPr>
            <a:r>
              <a:rPr lang="en-US" sz="1800">
                <a:solidFill>
                  <a:srgbClr val="FFFFFF"/>
                </a:solidFill>
                <a:latin typeface="Work Sans"/>
                <a:ea typeface="Work Sans"/>
                <a:cs typeface="Work Sans"/>
                <a:sym typeface="Work Sans"/>
              </a:rPr>
              <a:t>SID encoding, ISO-TP segmentation, P2/P2* timers, NRC evaluation</a:t>
            </a:r>
          </a:p>
        </p:txBody>
      </p:sp>
      <p:sp>
        <p:nvSpPr>
          <p:cNvPr name="TextBox 14" id="14"/>
          <p:cNvSpPr txBox="true"/>
          <p:nvPr/>
        </p:nvSpPr>
        <p:spPr>
          <a:xfrm rot="0">
            <a:off x="14490897" y="3962038"/>
            <a:ext cx="2447296" cy="371475"/>
          </a:xfrm>
          <a:prstGeom prst="rect">
            <a:avLst/>
          </a:prstGeom>
        </p:spPr>
        <p:txBody>
          <a:bodyPr anchor="t" rtlCol="false" tIns="0" lIns="0" bIns="0" rIns="0">
            <a:spAutoFit/>
          </a:bodyPr>
          <a:lstStyle/>
          <a:p>
            <a:pPr algn="r">
              <a:lnSpc>
                <a:spcPts val="2879"/>
              </a:lnSpc>
            </a:pPr>
            <a:r>
              <a:rPr lang="en-US" b="true" sz="2400">
                <a:solidFill>
                  <a:srgbClr val="000000"/>
                </a:solidFill>
                <a:latin typeface="Work Sans Bold"/>
                <a:ea typeface="Work Sans Bold"/>
                <a:cs typeface="Work Sans Bold"/>
                <a:sym typeface="Work Sans Bold"/>
              </a:rPr>
              <a:t>dbc_decoder.py</a:t>
            </a:r>
          </a:p>
        </p:txBody>
      </p:sp>
      <p:sp>
        <p:nvSpPr>
          <p:cNvPr name="TextBox 15" id="15"/>
          <p:cNvSpPr txBox="true"/>
          <p:nvPr/>
        </p:nvSpPr>
        <p:spPr>
          <a:xfrm rot="0">
            <a:off x="14490897" y="4437755"/>
            <a:ext cx="2447296" cy="1182243"/>
          </a:xfrm>
          <a:prstGeom prst="rect">
            <a:avLst/>
          </a:prstGeom>
        </p:spPr>
        <p:txBody>
          <a:bodyPr anchor="t" rtlCol="false" tIns="0" lIns="0" bIns="0" rIns="0">
            <a:spAutoFit/>
          </a:bodyPr>
          <a:lstStyle/>
          <a:p>
            <a:pPr algn="r">
              <a:lnSpc>
                <a:spcPts val="2376"/>
              </a:lnSpc>
            </a:pPr>
            <a:r>
              <a:rPr lang="en-US" sz="1800">
                <a:solidFill>
                  <a:srgbClr val="161718"/>
                </a:solidFill>
                <a:latin typeface="Work Sans"/>
                <a:ea typeface="Work Sans"/>
                <a:cs typeface="Work Sans"/>
                <a:sym typeface="Work Sans"/>
              </a:rPr>
              <a:t>ID→message lookup, bit extraction, scale/offset, range validation</a:t>
            </a:r>
          </a:p>
        </p:txBody>
      </p:sp>
      <p:sp>
        <p:nvSpPr>
          <p:cNvPr name="TextBox 16" id="16"/>
          <p:cNvSpPr txBox="true"/>
          <p:nvPr/>
        </p:nvSpPr>
        <p:spPr>
          <a:xfrm rot="0">
            <a:off x="5572258" y="7332193"/>
            <a:ext cx="7143483" cy="371475"/>
          </a:xfrm>
          <a:prstGeom prst="rect">
            <a:avLst/>
          </a:prstGeom>
        </p:spPr>
        <p:txBody>
          <a:bodyPr anchor="t" rtlCol="false" tIns="0" lIns="0" bIns="0" rIns="0">
            <a:spAutoFit/>
          </a:bodyPr>
          <a:lstStyle/>
          <a:p>
            <a:pPr algn="ctr">
              <a:lnSpc>
                <a:spcPts val="2879"/>
              </a:lnSpc>
            </a:pPr>
            <a:r>
              <a:rPr lang="en-US" sz="2400" b="true">
                <a:solidFill>
                  <a:srgbClr val="000000"/>
                </a:solidFill>
                <a:latin typeface="Work Sans Bold"/>
                <a:ea typeface="Work Sans Bold"/>
                <a:cs typeface="Work Sans Bold"/>
                <a:sym typeface="Work Sans Bold"/>
              </a:rPr>
              <a:t>Dashboard.py</a:t>
            </a:r>
          </a:p>
        </p:txBody>
      </p:sp>
      <p:sp>
        <p:nvSpPr>
          <p:cNvPr name="TextBox 17" id="17"/>
          <p:cNvSpPr txBox="true"/>
          <p:nvPr/>
        </p:nvSpPr>
        <p:spPr>
          <a:xfrm rot="0">
            <a:off x="5502609" y="7808443"/>
            <a:ext cx="7188074" cy="591693"/>
          </a:xfrm>
          <a:prstGeom prst="rect">
            <a:avLst/>
          </a:prstGeom>
        </p:spPr>
        <p:txBody>
          <a:bodyPr anchor="t" rtlCol="false" tIns="0" lIns="0" bIns="0" rIns="0">
            <a:spAutoFit/>
          </a:bodyPr>
          <a:lstStyle/>
          <a:p>
            <a:pPr algn="ctr">
              <a:lnSpc>
                <a:spcPts val="2376"/>
              </a:lnSpc>
            </a:pPr>
            <a:r>
              <a:rPr lang="en-US" sz="1800">
                <a:solidFill>
                  <a:srgbClr val="161718"/>
                </a:solidFill>
                <a:latin typeface="Work Sans"/>
                <a:ea typeface="Work Sans"/>
                <a:cs typeface="Work Sans"/>
                <a:sym typeface="Work Sans"/>
              </a:rPr>
              <a:t>Flask/WebSocket live state sync at 10Hz, bus-load % computation &amp; alerts</a:t>
            </a:r>
          </a:p>
        </p:txBody>
      </p:sp>
      <p:grpSp>
        <p:nvGrpSpPr>
          <p:cNvPr name="Group 18" id="18"/>
          <p:cNvGrpSpPr/>
          <p:nvPr/>
        </p:nvGrpSpPr>
        <p:grpSpPr>
          <a:xfrm rot="0">
            <a:off x="16784479" y="9491358"/>
            <a:ext cx="697335" cy="313944"/>
            <a:chOff x="0" y="0"/>
            <a:chExt cx="929780" cy="418592"/>
          </a:xfrm>
        </p:grpSpPr>
        <p:sp>
          <p:nvSpPr>
            <p:cNvPr name="Freeform 19" id="19"/>
            <p:cNvSpPr/>
            <p:nvPr/>
          </p:nvSpPr>
          <p:spPr>
            <a:xfrm flipH="false" flipV="false" rot="0">
              <a:off x="0" y="0"/>
              <a:ext cx="929776" cy="418588"/>
            </a:xfrm>
            <a:custGeom>
              <a:avLst/>
              <a:gdLst/>
              <a:ahLst/>
              <a:cxnLst/>
              <a:rect r="r" b="b" t="t" l="l"/>
              <a:pathLst>
                <a:path h="418588" w="929776">
                  <a:moveTo>
                    <a:pt x="0" y="0"/>
                  </a:moveTo>
                  <a:lnTo>
                    <a:pt x="929776" y="0"/>
                  </a:lnTo>
                  <a:lnTo>
                    <a:pt x="929776" y="418588"/>
                  </a:lnTo>
                  <a:lnTo>
                    <a:pt x="0" y="418588"/>
                  </a:lnTo>
                  <a:close/>
                </a:path>
              </a:pathLst>
            </a:custGeom>
            <a:blipFill>
              <a:blip r:embed="rId5">
                <a:alphaModFix amt="0"/>
              </a:blip>
              <a:stretch>
                <a:fillRect l="-15701" t="0" r="-15702" b="-13745"/>
              </a:stretch>
            </a:blipFill>
          </p:spPr>
        </p:sp>
        <p:sp>
          <p:nvSpPr>
            <p:cNvPr name="TextBox 20" id="20"/>
            <p:cNvSpPr txBox="true"/>
            <p:nvPr/>
          </p:nvSpPr>
          <p:spPr>
            <a:xfrm>
              <a:off x="0" y="-19050"/>
              <a:ext cx="929780" cy="43764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12</a:t>
              </a:r>
            </a:p>
          </p:txBody>
        </p:sp>
      </p:grpSp>
      <p:grpSp>
        <p:nvGrpSpPr>
          <p:cNvPr name="Group 21" id="21"/>
          <p:cNvGrpSpPr/>
          <p:nvPr/>
        </p:nvGrpSpPr>
        <p:grpSpPr>
          <a:xfrm rot="0">
            <a:off x="8754285" y="1079402"/>
            <a:ext cx="684724" cy="684724"/>
            <a:chOff x="0" y="0"/>
            <a:chExt cx="912965" cy="912965"/>
          </a:xfrm>
        </p:grpSpPr>
        <p:sp>
          <p:nvSpPr>
            <p:cNvPr name="Freeform 22" id="22"/>
            <p:cNvSpPr/>
            <p:nvPr/>
          </p:nvSpPr>
          <p:spPr>
            <a:xfrm flipH="false" flipV="false" rot="0">
              <a:off x="0" y="0"/>
              <a:ext cx="913003" cy="913003"/>
            </a:xfrm>
            <a:custGeom>
              <a:avLst/>
              <a:gdLst/>
              <a:ahLst/>
              <a:cxnLst/>
              <a:rect r="r" b="b" t="t" l="l"/>
              <a:pathLst>
                <a:path h="913003" w="913003">
                  <a:moveTo>
                    <a:pt x="0" y="456438"/>
                  </a:moveTo>
                  <a:cubicBezTo>
                    <a:pt x="0" y="204343"/>
                    <a:pt x="204343" y="0"/>
                    <a:pt x="456438" y="0"/>
                  </a:cubicBezTo>
                  <a:cubicBezTo>
                    <a:pt x="708533" y="0"/>
                    <a:pt x="913003" y="204343"/>
                    <a:pt x="913003" y="456438"/>
                  </a:cubicBezTo>
                  <a:cubicBezTo>
                    <a:pt x="913003" y="708533"/>
                    <a:pt x="708533" y="913003"/>
                    <a:pt x="456438" y="913003"/>
                  </a:cubicBezTo>
                  <a:cubicBezTo>
                    <a:pt x="204343" y="913003"/>
                    <a:pt x="0" y="708533"/>
                    <a:pt x="0" y="456438"/>
                  </a:cubicBezTo>
                  <a:close/>
                </a:path>
              </a:pathLst>
            </a:custGeom>
            <a:solidFill>
              <a:srgbClr val="0B1F33"/>
            </a:solidFill>
          </p:spPr>
        </p:sp>
      </p:grpSp>
      <p:grpSp>
        <p:nvGrpSpPr>
          <p:cNvPr name="Group 23" id="23"/>
          <p:cNvGrpSpPr/>
          <p:nvPr/>
        </p:nvGrpSpPr>
        <p:grpSpPr>
          <a:xfrm rot="0">
            <a:off x="8845010" y="1161755"/>
            <a:ext cx="520017" cy="520017"/>
            <a:chOff x="0" y="0"/>
            <a:chExt cx="693356" cy="693356"/>
          </a:xfrm>
        </p:grpSpPr>
        <p:sp>
          <p:nvSpPr>
            <p:cNvPr name="Freeform 24" id="24" descr="icons/satellite_white.png"/>
            <p:cNvSpPr/>
            <p:nvPr/>
          </p:nvSpPr>
          <p:spPr>
            <a:xfrm flipH="false" flipV="false" rot="0">
              <a:off x="0" y="0"/>
              <a:ext cx="693420" cy="693420"/>
            </a:xfrm>
            <a:custGeom>
              <a:avLst/>
              <a:gdLst/>
              <a:ahLst/>
              <a:cxnLst/>
              <a:rect r="r" b="b" t="t" l="l"/>
              <a:pathLst>
                <a:path h="693420" w="693420">
                  <a:moveTo>
                    <a:pt x="0" y="0"/>
                  </a:moveTo>
                  <a:lnTo>
                    <a:pt x="693420" y="0"/>
                  </a:lnTo>
                  <a:lnTo>
                    <a:pt x="693420" y="693420"/>
                  </a:lnTo>
                  <a:lnTo>
                    <a:pt x="0" y="693420"/>
                  </a:lnTo>
                  <a:lnTo>
                    <a:pt x="0" y="0"/>
                  </a:lnTo>
                  <a:close/>
                </a:path>
              </a:pathLst>
            </a:custGeom>
            <a:blipFill>
              <a:blip r:embed="rId6"/>
              <a:stretch>
                <a:fillRect l="0" t="0" r="9" b="9"/>
              </a:stretch>
            </a:blipFill>
          </p:spPr>
        </p:sp>
      </p:grpSp>
      <p:grpSp>
        <p:nvGrpSpPr>
          <p:cNvPr name="Group 25" id="25"/>
          <p:cNvGrpSpPr/>
          <p:nvPr/>
        </p:nvGrpSpPr>
        <p:grpSpPr>
          <a:xfrm rot="0">
            <a:off x="12880667" y="3912699"/>
            <a:ext cx="684724" cy="684724"/>
            <a:chOff x="0" y="0"/>
            <a:chExt cx="912965" cy="912965"/>
          </a:xfrm>
        </p:grpSpPr>
        <p:sp>
          <p:nvSpPr>
            <p:cNvPr name="Freeform 26" id="26"/>
            <p:cNvSpPr/>
            <p:nvPr/>
          </p:nvSpPr>
          <p:spPr>
            <a:xfrm flipH="false" flipV="false" rot="0">
              <a:off x="0" y="0"/>
              <a:ext cx="913003" cy="913003"/>
            </a:xfrm>
            <a:custGeom>
              <a:avLst/>
              <a:gdLst/>
              <a:ahLst/>
              <a:cxnLst/>
              <a:rect r="r" b="b" t="t" l="l"/>
              <a:pathLst>
                <a:path h="913003" w="913003">
                  <a:moveTo>
                    <a:pt x="0" y="456438"/>
                  </a:moveTo>
                  <a:cubicBezTo>
                    <a:pt x="0" y="204343"/>
                    <a:pt x="204343" y="0"/>
                    <a:pt x="456438" y="0"/>
                  </a:cubicBezTo>
                  <a:cubicBezTo>
                    <a:pt x="708533" y="0"/>
                    <a:pt x="913003" y="204343"/>
                    <a:pt x="913003" y="456438"/>
                  </a:cubicBezTo>
                  <a:cubicBezTo>
                    <a:pt x="913003" y="708533"/>
                    <a:pt x="708533" y="913003"/>
                    <a:pt x="456438" y="913003"/>
                  </a:cubicBezTo>
                  <a:cubicBezTo>
                    <a:pt x="204343" y="913003"/>
                    <a:pt x="0" y="708533"/>
                    <a:pt x="0" y="456438"/>
                  </a:cubicBezTo>
                  <a:close/>
                </a:path>
              </a:pathLst>
            </a:custGeom>
            <a:solidFill>
              <a:srgbClr val="E2691A"/>
            </a:solidFill>
          </p:spPr>
        </p:sp>
      </p:grpSp>
      <p:grpSp>
        <p:nvGrpSpPr>
          <p:cNvPr name="Group 27" id="27"/>
          <p:cNvGrpSpPr/>
          <p:nvPr/>
        </p:nvGrpSpPr>
        <p:grpSpPr>
          <a:xfrm rot="0">
            <a:off x="12963020" y="4001205"/>
            <a:ext cx="520017" cy="520017"/>
            <a:chOff x="0" y="0"/>
            <a:chExt cx="693356" cy="693356"/>
          </a:xfrm>
        </p:grpSpPr>
        <p:sp>
          <p:nvSpPr>
            <p:cNvPr name="Freeform 28" id="28" descr="icons/shield_white.png"/>
            <p:cNvSpPr/>
            <p:nvPr/>
          </p:nvSpPr>
          <p:spPr>
            <a:xfrm flipH="false" flipV="false" rot="0">
              <a:off x="0" y="0"/>
              <a:ext cx="693420" cy="693420"/>
            </a:xfrm>
            <a:custGeom>
              <a:avLst/>
              <a:gdLst/>
              <a:ahLst/>
              <a:cxnLst/>
              <a:rect r="r" b="b" t="t" l="l"/>
              <a:pathLst>
                <a:path h="693420" w="693420">
                  <a:moveTo>
                    <a:pt x="0" y="0"/>
                  </a:moveTo>
                  <a:lnTo>
                    <a:pt x="693420" y="0"/>
                  </a:lnTo>
                  <a:lnTo>
                    <a:pt x="693420" y="693420"/>
                  </a:lnTo>
                  <a:lnTo>
                    <a:pt x="0" y="693420"/>
                  </a:lnTo>
                  <a:lnTo>
                    <a:pt x="0" y="0"/>
                  </a:lnTo>
                  <a:close/>
                </a:path>
              </a:pathLst>
            </a:custGeom>
            <a:blipFill>
              <a:blip r:embed="rId7"/>
              <a:stretch>
                <a:fillRect l="0" t="0" r="9" b="9"/>
              </a:stretch>
            </a:blipFill>
          </p:spPr>
        </p:sp>
      </p:grpSp>
      <p:grpSp>
        <p:nvGrpSpPr>
          <p:cNvPr name="Group 29" id="29"/>
          <p:cNvGrpSpPr/>
          <p:nvPr/>
        </p:nvGrpSpPr>
        <p:grpSpPr>
          <a:xfrm rot="0">
            <a:off x="16253470" y="3316481"/>
            <a:ext cx="684724" cy="684724"/>
            <a:chOff x="0" y="0"/>
            <a:chExt cx="912965" cy="912965"/>
          </a:xfrm>
        </p:grpSpPr>
        <p:sp>
          <p:nvSpPr>
            <p:cNvPr name="Freeform 30" id="30"/>
            <p:cNvSpPr/>
            <p:nvPr/>
          </p:nvSpPr>
          <p:spPr>
            <a:xfrm flipH="false" flipV="false" rot="0">
              <a:off x="0" y="0"/>
              <a:ext cx="913003" cy="913003"/>
            </a:xfrm>
            <a:custGeom>
              <a:avLst/>
              <a:gdLst/>
              <a:ahLst/>
              <a:cxnLst/>
              <a:rect r="r" b="b" t="t" l="l"/>
              <a:pathLst>
                <a:path h="913003" w="913003">
                  <a:moveTo>
                    <a:pt x="0" y="456438"/>
                  </a:moveTo>
                  <a:cubicBezTo>
                    <a:pt x="0" y="204343"/>
                    <a:pt x="204343" y="0"/>
                    <a:pt x="456438" y="0"/>
                  </a:cubicBezTo>
                  <a:cubicBezTo>
                    <a:pt x="708533" y="0"/>
                    <a:pt x="913003" y="204343"/>
                    <a:pt x="913003" y="456438"/>
                  </a:cubicBezTo>
                  <a:cubicBezTo>
                    <a:pt x="913003" y="708533"/>
                    <a:pt x="708533" y="913003"/>
                    <a:pt x="456438" y="913003"/>
                  </a:cubicBezTo>
                  <a:cubicBezTo>
                    <a:pt x="204343" y="913003"/>
                    <a:pt x="0" y="708533"/>
                    <a:pt x="0" y="456438"/>
                  </a:cubicBezTo>
                  <a:close/>
                </a:path>
              </a:pathLst>
            </a:custGeom>
            <a:solidFill>
              <a:srgbClr val="00997F"/>
            </a:solidFill>
          </p:spPr>
        </p:sp>
      </p:grpSp>
      <p:grpSp>
        <p:nvGrpSpPr>
          <p:cNvPr name="Group 31" id="31"/>
          <p:cNvGrpSpPr/>
          <p:nvPr/>
        </p:nvGrpSpPr>
        <p:grpSpPr>
          <a:xfrm rot="0">
            <a:off x="16335823" y="3392681"/>
            <a:ext cx="520017" cy="520017"/>
            <a:chOff x="0" y="0"/>
            <a:chExt cx="693356" cy="693356"/>
          </a:xfrm>
        </p:grpSpPr>
        <p:sp>
          <p:nvSpPr>
            <p:cNvPr name="Freeform 32" id="32" descr="icons/filecode_white.png"/>
            <p:cNvSpPr/>
            <p:nvPr/>
          </p:nvSpPr>
          <p:spPr>
            <a:xfrm flipH="false" flipV="false" rot="0">
              <a:off x="0" y="0"/>
              <a:ext cx="693420" cy="693420"/>
            </a:xfrm>
            <a:custGeom>
              <a:avLst/>
              <a:gdLst/>
              <a:ahLst/>
              <a:cxnLst/>
              <a:rect r="r" b="b" t="t" l="l"/>
              <a:pathLst>
                <a:path h="693420" w="693420">
                  <a:moveTo>
                    <a:pt x="0" y="0"/>
                  </a:moveTo>
                  <a:lnTo>
                    <a:pt x="693420" y="0"/>
                  </a:lnTo>
                  <a:lnTo>
                    <a:pt x="693420" y="693420"/>
                  </a:lnTo>
                  <a:lnTo>
                    <a:pt x="0" y="693420"/>
                  </a:lnTo>
                  <a:lnTo>
                    <a:pt x="0" y="0"/>
                  </a:lnTo>
                  <a:close/>
                </a:path>
              </a:pathLst>
            </a:custGeom>
            <a:blipFill>
              <a:blip r:embed="rId8"/>
              <a:stretch>
                <a:fillRect l="0" t="0" r="9" b="9"/>
              </a:stretch>
            </a:blipFill>
          </p:spPr>
        </p:sp>
      </p:grpSp>
      <p:grpSp>
        <p:nvGrpSpPr>
          <p:cNvPr name="Group 33" id="33"/>
          <p:cNvGrpSpPr/>
          <p:nvPr/>
        </p:nvGrpSpPr>
        <p:grpSpPr>
          <a:xfrm rot="0">
            <a:off x="4727096" y="3971563"/>
            <a:ext cx="684724" cy="684724"/>
            <a:chOff x="0" y="0"/>
            <a:chExt cx="912965" cy="912965"/>
          </a:xfrm>
        </p:grpSpPr>
        <p:sp>
          <p:nvSpPr>
            <p:cNvPr name="Freeform 34" id="34"/>
            <p:cNvSpPr/>
            <p:nvPr/>
          </p:nvSpPr>
          <p:spPr>
            <a:xfrm flipH="false" flipV="false" rot="0">
              <a:off x="0" y="0"/>
              <a:ext cx="913003" cy="913003"/>
            </a:xfrm>
            <a:custGeom>
              <a:avLst/>
              <a:gdLst/>
              <a:ahLst/>
              <a:cxnLst/>
              <a:rect r="r" b="b" t="t" l="l"/>
              <a:pathLst>
                <a:path h="913003" w="913003">
                  <a:moveTo>
                    <a:pt x="0" y="456438"/>
                  </a:moveTo>
                  <a:cubicBezTo>
                    <a:pt x="0" y="204343"/>
                    <a:pt x="204343" y="0"/>
                    <a:pt x="456438" y="0"/>
                  </a:cubicBezTo>
                  <a:cubicBezTo>
                    <a:pt x="708533" y="0"/>
                    <a:pt x="913003" y="204343"/>
                    <a:pt x="913003" y="456438"/>
                  </a:cubicBezTo>
                  <a:cubicBezTo>
                    <a:pt x="913003" y="708533"/>
                    <a:pt x="708533" y="913003"/>
                    <a:pt x="456438" y="913003"/>
                  </a:cubicBezTo>
                  <a:cubicBezTo>
                    <a:pt x="204343" y="913003"/>
                    <a:pt x="0" y="708533"/>
                    <a:pt x="0" y="456438"/>
                  </a:cubicBezTo>
                  <a:close/>
                </a:path>
              </a:pathLst>
            </a:custGeom>
            <a:solidFill>
              <a:srgbClr val="1B2B3C"/>
            </a:solidFill>
          </p:spPr>
        </p:sp>
      </p:grpSp>
      <p:grpSp>
        <p:nvGrpSpPr>
          <p:cNvPr name="Group 35" id="35"/>
          <p:cNvGrpSpPr/>
          <p:nvPr/>
        </p:nvGrpSpPr>
        <p:grpSpPr>
          <a:xfrm rot="0">
            <a:off x="1426145" y="3286839"/>
            <a:ext cx="684724" cy="684724"/>
            <a:chOff x="0" y="0"/>
            <a:chExt cx="912965" cy="912965"/>
          </a:xfrm>
        </p:grpSpPr>
        <p:sp>
          <p:nvSpPr>
            <p:cNvPr name="Freeform 36" id="36"/>
            <p:cNvSpPr/>
            <p:nvPr/>
          </p:nvSpPr>
          <p:spPr>
            <a:xfrm flipH="false" flipV="false" rot="0">
              <a:off x="0" y="0"/>
              <a:ext cx="913003" cy="913003"/>
            </a:xfrm>
            <a:custGeom>
              <a:avLst/>
              <a:gdLst/>
              <a:ahLst/>
              <a:cxnLst/>
              <a:rect r="r" b="b" t="t" l="l"/>
              <a:pathLst>
                <a:path h="913003" w="913003">
                  <a:moveTo>
                    <a:pt x="0" y="456438"/>
                  </a:moveTo>
                  <a:cubicBezTo>
                    <a:pt x="0" y="204343"/>
                    <a:pt x="204343" y="0"/>
                    <a:pt x="456438" y="0"/>
                  </a:cubicBezTo>
                  <a:cubicBezTo>
                    <a:pt x="708533" y="0"/>
                    <a:pt x="913003" y="204343"/>
                    <a:pt x="913003" y="456438"/>
                  </a:cubicBezTo>
                  <a:cubicBezTo>
                    <a:pt x="913003" y="708533"/>
                    <a:pt x="708533" y="913003"/>
                    <a:pt x="456438" y="913003"/>
                  </a:cubicBezTo>
                  <a:cubicBezTo>
                    <a:pt x="204343" y="913003"/>
                    <a:pt x="0" y="708533"/>
                    <a:pt x="0" y="456438"/>
                  </a:cubicBezTo>
                  <a:close/>
                </a:path>
              </a:pathLst>
            </a:custGeom>
            <a:solidFill>
              <a:srgbClr val="0B1F33"/>
            </a:solidFill>
          </p:spPr>
        </p:sp>
      </p:grpSp>
      <p:grpSp>
        <p:nvGrpSpPr>
          <p:cNvPr name="Group 37" id="37"/>
          <p:cNvGrpSpPr/>
          <p:nvPr/>
        </p:nvGrpSpPr>
        <p:grpSpPr>
          <a:xfrm rot="0">
            <a:off x="1508498" y="3321672"/>
            <a:ext cx="520017" cy="520017"/>
            <a:chOff x="0" y="0"/>
            <a:chExt cx="693356" cy="693356"/>
          </a:xfrm>
        </p:grpSpPr>
        <p:sp>
          <p:nvSpPr>
            <p:cNvPr name="Freeform 38" id="38" descr="icons/car_white.png"/>
            <p:cNvSpPr/>
            <p:nvPr/>
          </p:nvSpPr>
          <p:spPr>
            <a:xfrm flipH="false" flipV="false" rot="0">
              <a:off x="0" y="0"/>
              <a:ext cx="693420" cy="693420"/>
            </a:xfrm>
            <a:custGeom>
              <a:avLst/>
              <a:gdLst/>
              <a:ahLst/>
              <a:cxnLst/>
              <a:rect r="r" b="b" t="t" l="l"/>
              <a:pathLst>
                <a:path h="693420" w="693420">
                  <a:moveTo>
                    <a:pt x="0" y="0"/>
                  </a:moveTo>
                  <a:lnTo>
                    <a:pt x="693420" y="0"/>
                  </a:lnTo>
                  <a:lnTo>
                    <a:pt x="693420" y="693420"/>
                  </a:lnTo>
                  <a:lnTo>
                    <a:pt x="0" y="693420"/>
                  </a:lnTo>
                  <a:lnTo>
                    <a:pt x="0" y="0"/>
                  </a:lnTo>
                  <a:close/>
                </a:path>
              </a:pathLst>
            </a:custGeom>
            <a:blipFill>
              <a:blip r:embed="rId9"/>
              <a:stretch>
                <a:fillRect l="0" t="0" r="9" b="9"/>
              </a:stretch>
            </a:blipFill>
          </p:spPr>
        </p:sp>
      </p:grpSp>
      <p:grpSp>
        <p:nvGrpSpPr>
          <p:cNvPr name="Group 39" id="39"/>
          <p:cNvGrpSpPr/>
          <p:nvPr/>
        </p:nvGrpSpPr>
        <p:grpSpPr>
          <a:xfrm rot="0">
            <a:off x="4809449" y="4053916"/>
            <a:ext cx="520017" cy="520017"/>
            <a:chOff x="0" y="0"/>
            <a:chExt cx="693356" cy="693356"/>
          </a:xfrm>
        </p:grpSpPr>
        <p:sp>
          <p:nvSpPr>
            <p:cNvPr name="Freeform 40" id="40" descr="icons/save_white.png"/>
            <p:cNvSpPr/>
            <p:nvPr/>
          </p:nvSpPr>
          <p:spPr>
            <a:xfrm flipH="false" flipV="false" rot="0">
              <a:off x="0" y="0"/>
              <a:ext cx="693420" cy="693420"/>
            </a:xfrm>
            <a:custGeom>
              <a:avLst/>
              <a:gdLst/>
              <a:ahLst/>
              <a:cxnLst/>
              <a:rect r="r" b="b" t="t" l="l"/>
              <a:pathLst>
                <a:path h="693420" w="693420">
                  <a:moveTo>
                    <a:pt x="0" y="0"/>
                  </a:moveTo>
                  <a:lnTo>
                    <a:pt x="693420" y="0"/>
                  </a:lnTo>
                  <a:lnTo>
                    <a:pt x="693420" y="693420"/>
                  </a:lnTo>
                  <a:lnTo>
                    <a:pt x="0" y="693420"/>
                  </a:lnTo>
                  <a:lnTo>
                    <a:pt x="0" y="0"/>
                  </a:lnTo>
                  <a:close/>
                </a:path>
              </a:pathLst>
            </a:custGeom>
            <a:blipFill>
              <a:blip r:embed="rId10"/>
              <a:stretch>
                <a:fillRect l="0" t="0" r="9" b="9"/>
              </a:stretch>
            </a:blipFill>
          </p:spPr>
        </p:sp>
      </p:grpSp>
      <p:grpSp>
        <p:nvGrpSpPr>
          <p:cNvPr name="Group 41" id="41"/>
          <p:cNvGrpSpPr/>
          <p:nvPr/>
        </p:nvGrpSpPr>
        <p:grpSpPr>
          <a:xfrm rot="0">
            <a:off x="8801643" y="6656994"/>
            <a:ext cx="684724" cy="684724"/>
            <a:chOff x="0" y="0"/>
            <a:chExt cx="912965" cy="912965"/>
          </a:xfrm>
        </p:grpSpPr>
        <p:sp>
          <p:nvSpPr>
            <p:cNvPr name="Freeform 42" id="42"/>
            <p:cNvSpPr/>
            <p:nvPr/>
          </p:nvSpPr>
          <p:spPr>
            <a:xfrm flipH="false" flipV="false" rot="0">
              <a:off x="0" y="0"/>
              <a:ext cx="913003" cy="913003"/>
            </a:xfrm>
            <a:custGeom>
              <a:avLst/>
              <a:gdLst/>
              <a:ahLst/>
              <a:cxnLst/>
              <a:rect r="r" b="b" t="t" l="l"/>
              <a:pathLst>
                <a:path h="913003" w="913003">
                  <a:moveTo>
                    <a:pt x="0" y="456438"/>
                  </a:moveTo>
                  <a:cubicBezTo>
                    <a:pt x="0" y="204343"/>
                    <a:pt x="204343" y="0"/>
                    <a:pt x="456438" y="0"/>
                  </a:cubicBezTo>
                  <a:cubicBezTo>
                    <a:pt x="708533" y="0"/>
                    <a:pt x="913003" y="204343"/>
                    <a:pt x="913003" y="456438"/>
                  </a:cubicBezTo>
                  <a:cubicBezTo>
                    <a:pt x="913003" y="708533"/>
                    <a:pt x="708533" y="913003"/>
                    <a:pt x="456438" y="913003"/>
                  </a:cubicBezTo>
                  <a:cubicBezTo>
                    <a:pt x="204343" y="913003"/>
                    <a:pt x="0" y="708533"/>
                    <a:pt x="0" y="456438"/>
                  </a:cubicBezTo>
                  <a:close/>
                </a:path>
              </a:pathLst>
            </a:custGeom>
            <a:solidFill>
              <a:srgbClr val="00997F"/>
            </a:solidFill>
          </p:spPr>
        </p:sp>
      </p:grpSp>
      <p:grpSp>
        <p:nvGrpSpPr>
          <p:cNvPr name="Group 43" id="43"/>
          <p:cNvGrpSpPr/>
          <p:nvPr/>
        </p:nvGrpSpPr>
        <p:grpSpPr>
          <a:xfrm rot="0">
            <a:off x="8883996" y="6745500"/>
            <a:ext cx="520017" cy="520017"/>
            <a:chOff x="0" y="0"/>
            <a:chExt cx="693356" cy="693356"/>
          </a:xfrm>
        </p:grpSpPr>
        <p:sp>
          <p:nvSpPr>
            <p:cNvPr name="Freeform 44" id="44" descr="icons/chart_white.png"/>
            <p:cNvSpPr/>
            <p:nvPr/>
          </p:nvSpPr>
          <p:spPr>
            <a:xfrm flipH="false" flipV="false" rot="0">
              <a:off x="0" y="0"/>
              <a:ext cx="693420" cy="693420"/>
            </a:xfrm>
            <a:custGeom>
              <a:avLst/>
              <a:gdLst/>
              <a:ahLst/>
              <a:cxnLst/>
              <a:rect r="r" b="b" t="t" l="l"/>
              <a:pathLst>
                <a:path h="693420" w="693420">
                  <a:moveTo>
                    <a:pt x="0" y="0"/>
                  </a:moveTo>
                  <a:lnTo>
                    <a:pt x="693420" y="0"/>
                  </a:lnTo>
                  <a:lnTo>
                    <a:pt x="693420" y="693420"/>
                  </a:lnTo>
                  <a:lnTo>
                    <a:pt x="0" y="693420"/>
                  </a:lnTo>
                  <a:lnTo>
                    <a:pt x="0" y="0"/>
                  </a:lnTo>
                  <a:close/>
                </a:path>
              </a:pathLst>
            </a:custGeom>
            <a:blipFill>
              <a:blip r:embed="rId11"/>
              <a:stretch>
                <a:fillRect l="0" t="0" r="9" b="9"/>
              </a:stretch>
            </a:blipFill>
          </p:spPr>
        </p:sp>
      </p:grpSp>
      <p:grpSp>
        <p:nvGrpSpPr>
          <p:cNvPr name="Group 45" id="45"/>
          <p:cNvGrpSpPr/>
          <p:nvPr/>
        </p:nvGrpSpPr>
        <p:grpSpPr>
          <a:xfrm rot="0">
            <a:off x="13950701" y="188865"/>
            <a:ext cx="3531112" cy="688007"/>
            <a:chOff x="0" y="0"/>
            <a:chExt cx="4708150" cy="917342"/>
          </a:xfrm>
        </p:grpSpPr>
        <p:sp>
          <p:nvSpPr>
            <p:cNvPr name="Freeform 46" id="46"/>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12"/>
              <a:stretch>
                <a:fillRect l="0" t="-1644" r="0" b="-1644"/>
              </a:stretch>
            </a:blipFill>
            <a:ln cap="sq">
              <a:noFill/>
              <a:prstDash val="solid"/>
              <a:miter/>
            </a:ln>
          </p:spPr>
        </p:sp>
        <p:sp>
          <p:nvSpPr>
            <p:cNvPr name="TextBox 47" id="47"/>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3/8</a:t>
              </a:r>
            </a:p>
          </p:txBody>
        </p:sp>
      </p:grpSp>
      <p:grpSp>
        <p:nvGrpSpPr>
          <p:cNvPr name="Group 48" id="48"/>
          <p:cNvGrpSpPr/>
          <p:nvPr/>
        </p:nvGrpSpPr>
        <p:grpSpPr>
          <a:xfrm rot="0">
            <a:off x="15325725" y="9491367"/>
            <a:ext cx="1299210" cy="357077"/>
            <a:chOff x="0" y="0"/>
            <a:chExt cx="1732280" cy="476102"/>
          </a:xfrm>
        </p:grpSpPr>
        <p:sp>
          <p:nvSpPr>
            <p:cNvPr name="Freeform 49" id="49"/>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5">
                <a:alphaModFix amt="0"/>
              </a:blip>
              <a:stretch>
                <a:fillRect l="0" t="-20895" r="0" b="-20894"/>
              </a:stretch>
            </a:blipFill>
          </p:spPr>
        </p:sp>
        <p:sp>
          <p:nvSpPr>
            <p:cNvPr name="TextBox 50" id="50"/>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51" id="51"/>
          <p:cNvGrpSpPr/>
          <p:nvPr/>
        </p:nvGrpSpPr>
        <p:grpSpPr>
          <a:xfrm rot="0">
            <a:off x="926309" y="9491358"/>
            <a:ext cx="2807304" cy="493053"/>
            <a:chOff x="0" y="0"/>
            <a:chExt cx="3743072" cy="657404"/>
          </a:xfrm>
        </p:grpSpPr>
        <p:sp>
          <p:nvSpPr>
            <p:cNvPr name="Freeform 52" id="52"/>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3" id="53"/>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54" id="54"/>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9526838" y="0"/>
            <a:ext cx="8761162" cy="10287000"/>
            <a:chOff x="0" y="0"/>
            <a:chExt cx="11681549" cy="13716000"/>
          </a:xfrm>
        </p:grpSpPr>
        <p:grpSp>
          <p:nvGrpSpPr>
            <p:cNvPr name="Group 4" id="4"/>
            <p:cNvGrpSpPr/>
            <p:nvPr/>
          </p:nvGrpSpPr>
          <p:grpSpPr>
            <a:xfrm rot="0">
              <a:off x="0" y="0"/>
              <a:ext cx="11681549" cy="13716000"/>
              <a:chOff x="0" y="0"/>
              <a:chExt cx="11681549" cy="13716000"/>
            </a:xfrm>
          </p:grpSpPr>
          <p:sp>
            <p:nvSpPr>
              <p:cNvPr name="Freeform 5" id="5"/>
              <p:cNvSpPr/>
              <p:nvPr/>
            </p:nvSpPr>
            <p:spPr>
              <a:xfrm flipH="false" flipV="false" rot="0">
                <a:off x="0" y="0"/>
                <a:ext cx="11681587" cy="13716000"/>
              </a:xfrm>
              <a:custGeom>
                <a:avLst/>
                <a:gdLst/>
                <a:ahLst/>
                <a:cxnLst/>
                <a:rect r="r" b="b" t="t" l="l"/>
                <a:pathLst>
                  <a:path h="13716000" w="11681587">
                    <a:moveTo>
                      <a:pt x="0" y="0"/>
                    </a:moveTo>
                    <a:lnTo>
                      <a:pt x="11681587" y="0"/>
                    </a:lnTo>
                    <a:lnTo>
                      <a:pt x="11681587" y="13716000"/>
                    </a:lnTo>
                    <a:lnTo>
                      <a:pt x="0" y="13716000"/>
                    </a:lnTo>
                    <a:close/>
                  </a:path>
                </a:pathLst>
              </a:custGeom>
              <a:solidFill>
                <a:srgbClr val="4D5154"/>
              </a:solidFill>
            </p:spPr>
          </p:sp>
        </p:grpSp>
        <p:sp>
          <p:nvSpPr>
            <p:cNvPr name="TextBox 6" id="6"/>
            <p:cNvSpPr txBox="true"/>
            <p:nvPr/>
          </p:nvSpPr>
          <p:spPr>
            <a:xfrm rot="0">
              <a:off x="121920" y="32385"/>
              <a:ext cx="11437709" cy="13622655"/>
            </a:xfrm>
            <a:prstGeom prst="rect">
              <a:avLst/>
            </a:prstGeom>
          </p:spPr>
          <p:txBody>
            <a:bodyPr anchor="t" rtlCol="false" tIns="0" lIns="0" bIns="0" rIns="0">
              <a:spAutoFit/>
            </a:bodyPr>
            <a:lstStyle/>
            <a:p>
              <a:pPr algn="l">
                <a:lnSpc>
                  <a:spcPts val="1684"/>
                </a:lnSpc>
              </a:pPr>
              <a:r>
                <a:rPr lang="en-US" sz="1200">
                  <a:solidFill>
                    <a:srgbClr val="FFFFFF"/>
                  </a:solidFill>
                  <a:latin typeface="Work Sans"/>
                  <a:ea typeface="Work Sans"/>
                  <a:cs typeface="Work Sans"/>
                  <a:sym typeface="Work Sans"/>
                </a:rPr>
                <a:t>Subtitle goes here</a:t>
              </a:r>
            </a:p>
          </p:txBody>
        </p:sp>
      </p:grpSp>
      <p:sp>
        <p:nvSpPr>
          <p:cNvPr name="TextBox 7" id="7"/>
          <p:cNvSpPr txBox="true"/>
          <p:nvPr/>
        </p:nvSpPr>
        <p:spPr>
          <a:xfrm rot="0">
            <a:off x="933450" y="2410201"/>
            <a:ext cx="5880034" cy="1400175"/>
          </a:xfrm>
          <a:prstGeom prst="rect">
            <a:avLst/>
          </a:prstGeom>
        </p:spPr>
        <p:txBody>
          <a:bodyPr anchor="t" rtlCol="false" tIns="0" lIns="0" bIns="0" rIns="0">
            <a:spAutoFit/>
          </a:bodyPr>
          <a:lstStyle/>
          <a:p>
            <a:pPr algn="l">
              <a:lnSpc>
                <a:spcPts val="5519"/>
              </a:lnSpc>
            </a:pPr>
            <a:r>
              <a:rPr lang="en-US" b="true" sz="4599" spc="-32">
                <a:solidFill>
                  <a:srgbClr val="E6E7E8"/>
                </a:solidFill>
                <a:latin typeface="Work Sans Medium"/>
                <a:ea typeface="Work Sans Medium"/>
                <a:cs typeface="Work Sans Medium"/>
                <a:sym typeface="Work Sans Medium"/>
              </a:rPr>
              <a:t>M</a:t>
            </a:r>
            <a:r>
              <a:rPr lang="en-US" b="true" sz="4599" spc="-32">
                <a:solidFill>
                  <a:srgbClr val="E6E7E8"/>
                </a:solidFill>
                <a:latin typeface="Work Sans Medium"/>
                <a:ea typeface="Work Sans Medium"/>
                <a:cs typeface="Work Sans Medium"/>
                <a:sym typeface="Work Sans Medium"/>
              </a:rPr>
              <a:t>odular Architecture</a:t>
            </a:r>
          </a:p>
        </p:txBody>
      </p:sp>
      <p:grpSp>
        <p:nvGrpSpPr>
          <p:cNvPr name="Group 8" id="8"/>
          <p:cNvGrpSpPr/>
          <p:nvPr/>
        </p:nvGrpSpPr>
        <p:grpSpPr>
          <a:xfrm rot="0">
            <a:off x="16784479" y="9491358"/>
            <a:ext cx="697335" cy="357092"/>
            <a:chOff x="0" y="0"/>
            <a:chExt cx="929780" cy="476123"/>
          </a:xfrm>
        </p:grpSpPr>
        <p:sp>
          <p:nvSpPr>
            <p:cNvPr name="Freeform 9" id="9"/>
            <p:cNvSpPr/>
            <p:nvPr/>
          </p:nvSpPr>
          <p:spPr>
            <a:xfrm flipH="false" flipV="false" rot="0">
              <a:off x="0" y="0"/>
              <a:ext cx="929776" cy="476118"/>
            </a:xfrm>
            <a:custGeom>
              <a:avLst/>
              <a:gdLst/>
              <a:ahLst/>
              <a:cxnLst/>
              <a:rect r="r" b="b" t="t" l="l"/>
              <a:pathLst>
                <a:path h="476118" w="929776">
                  <a:moveTo>
                    <a:pt x="0" y="0"/>
                  </a:moveTo>
                  <a:lnTo>
                    <a:pt x="929776" y="0"/>
                  </a:lnTo>
                  <a:lnTo>
                    <a:pt x="929776" y="476118"/>
                  </a:lnTo>
                  <a:lnTo>
                    <a:pt x="0" y="476118"/>
                  </a:lnTo>
                  <a:close/>
                </a:path>
              </a:pathLst>
            </a:custGeom>
            <a:blipFill>
              <a:blip r:embed="rId3">
                <a:alphaModFix amt="0"/>
              </a:blip>
              <a:stretch>
                <a:fillRect l="-15701" t="0" r="-15702" b="-1"/>
              </a:stretch>
            </a:blipFill>
          </p:spPr>
        </p:sp>
        <p:sp>
          <p:nvSpPr>
            <p:cNvPr name="TextBox 10" id="10"/>
            <p:cNvSpPr txBox="true"/>
            <p:nvPr/>
          </p:nvSpPr>
          <p:spPr>
            <a:xfrm>
              <a:off x="0" y="-19050"/>
              <a:ext cx="929780" cy="495173"/>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13</a:t>
              </a:r>
            </a:p>
          </p:txBody>
        </p:sp>
      </p:grpSp>
      <p:grpSp>
        <p:nvGrpSpPr>
          <p:cNvPr name="Group 11" id="11"/>
          <p:cNvGrpSpPr/>
          <p:nvPr/>
        </p:nvGrpSpPr>
        <p:grpSpPr>
          <a:xfrm rot="0">
            <a:off x="15325725" y="9491367"/>
            <a:ext cx="1299210" cy="357073"/>
            <a:chOff x="0" y="0"/>
            <a:chExt cx="1732280" cy="476098"/>
          </a:xfrm>
        </p:grpSpPr>
        <p:sp>
          <p:nvSpPr>
            <p:cNvPr name="Freeform 12" id="12"/>
            <p:cNvSpPr/>
            <p:nvPr/>
          </p:nvSpPr>
          <p:spPr>
            <a:xfrm flipH="false" flipV="false" rot="0">
              <a:off x="0" y="0"/>
              <a:ext cx="1732280" cy="476102"/>
            </a:xfrm>
            <a:custGeom>
              <a:avLst/>
              <a:gdLst/>
              <a:ahLst/>
              <a:cxnLst/>
              <a:rect r="r" b="b" t="t" l="l"/>
              <a:pathLst>
                <a:path h="476102" w="1732280">
                  <a:moveTo>
                    <a:pt x="0" y="0"/>
                  </a:moveTo>
                  <a:lnTo>
                    <a:pt x="1732280" y="0"/>
                  </a:lnTo>
                  <a:lnTo>
                    <a:pt x="1732280" y="476102"/>
                  </a:lnTo>
                  <a:lnTo>
                    <a:pt x="0" y="476102"/>
                  </a:lnTo>
                  <a:close/>
                </a:path>
              </a:pathLst>
            </a:custGeom>
            <a:blipFill>
              <a:blip r:embed="rId3">
                <a:alphaModFix amt="0"/>
              </a:blip>
              <a:stretch>
                <a:fillRect l="0" t="-20896" r="0" b="-20895"/>
              </a:stretch>
            </a:blipFill>
          </p:spPr>
        </p:sp>
        <p:sp>
          <p:nvSpPr>
            <p:cNvPr name="TextBox 13" id="13"/>
            <p:cNvSpPr txBox="true"/>
            <p:nvPr/>
          </p:nvSpPr>
          <p:spPr>
            <a:xfrm>
              <a:off x="0" y="-19050"/>
              <a:ext cx="1732280" cy="49514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6/29/2026</a:t>
              </a:r>
            </a:p>
          </p:txBody>
        </p:sp>
      </p:grpSp>
      <p:grpSp>
        <p:nvGrpSpPr>
          <p:cNvPr name="Group 14" id="14"/>
          <p:cNvGrpSpPr/>
          <p:nvPr/>
        </p:nvGrpSpPr>
        <p:grpSpPr>
          <a:xfrm rot="0">
            <a:off x="9527381" y="0"/>
            <a:ext cx="8760619" cy="10287000"/>
            <a:chOff x="0" y="0"/>
            <a:chExt cx="11680825" cy="13716000"/>
          </a:xfrm>
        </p:grpSpPr>
        <p:sp>
          <p:nvSpPr>
            <p:cNvPr name="Freeform 15" id="15"/>
            <p:cNvSpPr/>
            <p:nvPr/>
          </p:nvSpPr>
          <p:spPr>
            <a:xfrm flipH="false" flipV="false" rot="0">
              <a:off x="0" y="0"/>
              <a:ext cx="11680825" cy="13716000"/>
            </a:xfrm>
            <a:custGeom>
              <a:avLst/>
              <a:gdLst/>
              <a:ahLst/>
              <a:cxnLst/>
              <a:rect r="r" b="b" t="t" l="l"/>
              <a:pathLst>
                <a:path h="13716000" w="11680825">
                  <a:moveTo>
                    <a:pt x="0" y="0"/>
                  </a:moveTo>
                  <a:lnTo>
                    <a:pt x="11680825" y="0"/>
                  </a:lnTo>
                  <a:lnTo>
                    <a:pt x="11680825" y="13716000"/>
                  </a:lnTo>
                  <a:lnTo>
                    <a:pt x="0" y="13716000"/>
                  </a:lnTo>
                  <a:lnTo>
                    <a:pt x="0" y="0"/>
                  </a:lnTo>
                  <a:close/>
                </a:path>
              </a:pathLst>
            </a:custGeom>
            <a:blipFill>
              <a:blip r:embed="rId4"/>
              <a:stretch>
                <a:fillRect l="0" t="0" r="0" b="-27"/>
              </a:stretch>
            </a:blipFill>
          </p:spPr>
        </p:sp>
      </p:grpSp>
      <p:sp>
        <p:nvSpPr>
          <p:cNvPr name="TextBox 16" id="16"/>
          <p:cNvSpPr txBox="true"/>
          <p:nvPr/>
        </p:nvSpPr>
        <p:spPr>
          <a:xfrm rot="0">
            <a:off x="897626" y="859465"/>
            <a:ext cx="5377987" cy="32894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SYST</a:t>
            </a:r>
            <a:r>
              <a:rPr lang="en-US" sz="2095" b="true">
                <a:solidFill>
                  <a:srgbClr val="FFFFFF"/>
                </a:solidFill>
                <a:latin typeface="Work Sans Medium"/>
                <a:ea typeface="Work Sans Medium"/>
                <a:cs typeface="Work Sans Medium"/>
                <a:sym typeface="Work Sans Medium"/>
              </a:rPr>
              <a:t>EM-LEVEL SPECIFICATIONS</a:t>
            </a:r>
          </a:p>
        </p:txBody>
      </p:sp>
      <p:sp>
        <p:nvSpPr>
          <p:cNvPr name="TextBox 17" id="17"/>
          <p:cNvSpPr txBox="true"/>
          <p:nvPr/>
        </p:nvSpPr>
        <p:spPr>
          <a:xfrm rot="0">
            <a:off x="897626" y="5074815"/>
            <a:ext cx="5224026" cy="2470861"/>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syst</a:t>
            </a:r>
            <a:r>
              <a:rPr lang="en-US" sz="2050">
                <a:solidFill>
                  <a:srgbClr val="FFFFFF"/>
                </a:solidFill>
                <a:latin typeface="Work Sans"/>
                <a:ea typeface="Work Sans"/>
                <a:cs typeface="Work Sans"/>
                <a:sym typeface="Work Sans"/>
              </a:rPr>
              <a:t>em is designed using a modular architecture, where each component performs a dedicated function. This approach improves maintainability, simplifies testing, and enables independent development of individual modules.</a:t>
            </a:r>
          </a:p>
        </p:txBody>
      </p:sp>
      <p:grpSp>
        <p:nvGrpSpPr>
          <p:cNvPr name="Group 18" id="18"/>
          <p:cNvGrpSpPr/>
          <p:nvPr/>
        </p:nvGrpSpPr>
        <p:grpSpPr>
          <a:xfrm rot="0">
            <a:off x="9526838" y="0"/>
            <a:ext cx="8761162" cy="10287000"/>
            <a:chOff x="0" y="0"/>
            <a:chExt cx="12073297" cy="14175975"/>
          </a:xfrm>
        </p:grpSpPr>
        <p:sp>
          <p:nvSpPr>
            <p:cNvPr name="Freeform 19" id="19"/>
            <p:cNvSpPr/>
            <p:nvPr/>
          </p:nvSpPr>
          <p:spPr>
            <a:xfrm flipH="false" flipV="false" rot="0">
              <a:off x="0" y="0"/>
              <a:ext cx="12073322" cy="14175975"/>
            </a:xfrm>
            <a:custGeom>
              <a:avLst/>
              <a:gdLst/>
              <a:ahLst/>
              <a:cxnLst/>
              <a:rect r="r" b="b" t="t" l="l"/>
              <a:pathLst>
                <a:path h="14175975" w="12073322">
                  <a:moveTo>
                    <a:pt x="0" y="0"/>
                  </a:moveTo>
                  <a:lnTo>
                    <a:pt x="12073322" y="0"/>
                  </a:lnTo>
                  <a:lnTo>
                    <a:pt x="12073322" y="14175975"/>
                  </a:lnTo>
                  <a:lnTo>
                    <a:pt x="0" y="14175975"/>
                  </a:lnTo>
                  <a:lnTo>
                    <a:pt x="0" y="0"/>
                  </a:lnTo>
                  <a:close/>
                </a:path>
              </a:pathLst>
            </a:custGeom>
            <a:blipFill>
              <a:blip r:embed="rId5"/>
              <a:stretch>
                <a:fillRect l="0" t="-487" r="0" b="-487"/>
              </a:stretch>
            </a:blipFill>
          </p:spPr>
        </p:sp>
      </p:grpSp>
      <p:grpSp>
        <p:nvGrpSpPr>
          <p:cNvPr name="Group 20" id="20"/>
          <p:cNvGrpSpPr/>
          <p:nvPr/>
        </p:nvGrpSpPr>
        <p:grpSpPr>
          <a:xfrm rot="0">
            <a:off x="926309" y="9491358"/>
            <a:ext cx="2807304" cy="493053"/>
            <a:chOff x="0" y="0"/>
            <a:chExt cx="3743072" cy="657404"/>
          </a:xfrm>
        </p:grpSpPr>
        <p:sp>
          <p:nvSpPr>
            <p:cNvPr name="Freeform 21" id="21"/>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3" id="23"/>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15325725" y="9491367"/>
            <a:ext cx="1299210" cy="357073"/>
            <a:chOff x="0" y="0"/>
            <a:chExt cx="1732280" cy="476098"/>
          </a:xfrm>
        </p:grpSpPr>
        <p:sp>
          <p:nvSpPr>
            <p:cNvPr name="Freeform 4" id="4"/>
            <p:cNvSpPr/>
            <p:nvPr/>
          </p:nvSpPr>
          <p:spPr>
            <a:xfrm flipH="false" flipV="false" rot="0">
              <a:off x="0" y="0"/>
              <a:ext cx="1732280" cy="476102"/>
            </a:xfrm>
            <a:custGeom>
              <a:avLst/>
              <a:gdLst/>
              <a:ahLst/>
              <a:cxnLst/>
              <a:rect r="r" b="b" t="t" l="l"/>
              <a:pathLst>
                <a:path h="476102" w="1732280">
                  <a:moveTo>
                    <a:pt x="0" y="0"/>
                  </a:moveTo>
                  <a:lnTo>
                    <a:pt x="1732280" y="0"/>
                  </a:lnTo>
                  <a:lnTo>
                    <a:pt x="1732280" y="476102"/>
                  </a:lnTo>
                  <a:lnTo>
                    <a:pt x="0" y="476102"/>
                  </a:lnTo>
                  <a:close/>
                </a:path>
              </a:pathLst>
            </a:custGeom>
            <a:blipFill>
              <a:blip r:embed="rId3">
                <a:alphaModFix amt="0"/>
              </a:blip>
              <a:stretch>
                <a:fillRect l="0" t="-20896" r="0" b="-20895"/>
              </a:stretch>
            </a:blipFill>
          </p:spPr>
        </p:sp>
        <p:sp>
          <p:nvSpPr>
            <p:cNvPr name="TextBox 5" id="5"/>
            <p:cNvSpPr txBox="true"/>
            <p:nvPr/>
          </p:nvSpPr>
          <p:spPr>
            <a:xfrm>
              <a:off x="0" y="-19050"/>
              <a:ext cx="1732280" cy="49514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6/29/2026</a:t>
              </a:r>
            </a:p>
          </p:txBody>
        </p:sp>
      </p:grpSp>
      <p:grpSp>
        <p:nvGrpSpPr>
          <p:cNvPr name="Group 6" id="6"/>
          <p:cNvGrpSpPr/>
          <p:nvPr/>
        </p:nvGrpSpPr>
        <p:grpSpPr>
          <a:xfrm rot="0">
            <a:off x="9526838" y="0"/>
            <a:ext cx="8761162" cy="10281133"/>
            <a:chOff x="0" y="0"/>
            <a:chExt cx="11681549" cy="13708177"/>
          </a:xfrm>
        </p:grpSpPr>
        <p:grpSp>
          <p:nvGrpSpPr>
            <p:cNvPr name="Group 7" id="7"/>
            <p:cNvGrpSpPr/>
            <p:nvPr/>
          </p:nvGrpSpPr>
          <p:grpSpPr>
            <a:xfrm rot="0">
              <a:off x="0" y="0"/>
              <a:ext cx="11681549" cy="13708177"/>
              <a:chOff x="0" y="0"/>
              <a:chExt cx="11681549" cy="13708177"/>
            </a:xfrm>
          </p:grpSpPr>
          <p:sp>
            <p:nvSpPr>
              <p:cNvPr name="Freeform 8" id="8"/>
              <p:cNvSpPr/>
              <p:nvPr/>
            </p:nvSpPr>
            <p:spPr>
              <a:xfrm flipH="false" flipV="false" rot="0">
                <a:off x="0" y="0"/>
                <a:ext cx="11681587" cy="13708177"/>
              </a:xfrm>
              <a:custGeom>
                <a:avLst/>
                <a:gdLst/>
                <a:ahLst/>
                <a:cxnLst/>
                <a:rect r="r" b="b" t="t" l="l"/>
                <a:pathLst>
                  <a:path h="13708177" w="11681587">
                    <a:moveTo>
                      <a:pt x="0" y="0"/>
                    </a:moveTo>
                    <a:lnTo>
                      <a:pt x="11681587" y="0"/>
                    </a:lnTo>
                    <a:lnTo>
                      <a:pt x="11681587" y="13708177"/>
                    </a:lnTo>
                    <a:lnTo>
                      <a:pt x="0" y="13708177"/>
                    </a:lnTo>
                    <a:close/>
                  </a:path>
                </a:pathLst>
              </a:custGeom>
              <a:solidFill>
                <a:srgbClr val="4D5154"/>
              </a:solidFill>
            </p:spPr>
          </p:sp>
        </p:grpSp>
        <p:sp>
          <p:nvSpPr>
            <p:cNvPr name="TextBox 9" id="9"/>
            <p:cNvSpPr txBox="true"/>
            <p:nvPr/>
          </p:nvSpPr>
          <p:spPr>
            <a:xfrm rot="0">
              <a:off x="121920" y="13335"/>
              <a:ext cx="11437709" cy="13633882"/>
            </a:xfrm>
            <a:prstGeom prst="rect">
              <a:avLst/>
            </a:prstGeom>
          </p:spPr>
          <p:txBody>
            <a:bodyPr anchor="t" rtlCol="false" tIns="0" lIns="0" bIns="0" rIns="0">
              <a:spAutoFit/>
            </a:bodyPr>
            <a:lstStyle/>
            <a:p>
              <a:pPr algn="l">
                <a:lnSpc>
                  <a:spcPts val="2667"/>
                </a:lnSpc>
              </a:pPr>
            </a:p>
            <a:p>
              <a:pPr algn="r">
                <a:lnSpc>
                  <a:spcPts val="2667"/>
                </a:lnSpc>
              </a:pPr>
            </a:p>
            <a:p>
              <a:pPr algn="r">
                <a:lnSpc>
                  <a:spcPts val="2667"/>
                </a:lnSpc>
              </a:pPr>
            </a:p>
            <a:p>
              <a:pPr algn="r">
                <a:lnSpc>
                  <a:spcPts val="2667"/>
                </a:lnSpc>
              </a:pPr>
            </a:p>
            <a:p>
              <a:pPr algn="r">
                <a:lnSpc>
                  <a:spcPts val="2667"/>
                </a:lnSpc>
              </a:pPr>
            </a:p>
            <a:p>
              <a:pPr algn="r">
                <a:lnSpc>
                  <a:spcPts val="2667"/>
                </a:lnSpc>
              </a:pPr>
              <a:r>
                <a:rPr lang="en-US" sz="1899" u="sng">
                  <a:solidFill>
                    <a:srgbClr val="FFFFFF"/>
                  </a:solidFill>
                  <a:latin typeface="Work Sans"/>
                  <a:ea typeface="Work Sans"/>
                  <a:cs typeface="Work Sans"/>
                  <a:sym typeface="Work Sans"/>
                </a:rPr>
                <a:t>WHY LAYER IT</a:t>
              </a:r>
            </a:p>
            <a:p>
              <a:pPr algn="r">
                <a:lnSpc>
                  <a:spcPts val="1684"/>
                </a:lnSpc>
              </a:pPr>
            </a:p>
            <a:p>
              <a:pPr algn="r">
                <a:lnSpc>
                  <a:spcPts val="1684"/>
                </a:lnSpc>
              </a:pPr>
            </a:p>
            <a:p>
              <a:pPr algn="r">
                <a:lnSpc>
                  <a:spcPts val="2386"/>
                </a:lnSpc>
              </a:pPr>
            </a:p>
            <a:p>
              <a:pPr algn="r">
                <a:lnSpc>
                  <a:spcPts val="2386"/>
                </a:lnSpc>
              </a:pPr>
              <a:r>
                <a:rPr lang="en-US" sz="1699">
                  <a:solidFill>
                    <a:srgbClr val="FFFFFF"/>
                  </a:solidFill>
                  <a:latin typeface="Work Sans"/>
                  <a:ea typeface="Work Sans"/>
                  <a:cs typeface="Work Sans"/>
                  <a:sym typeface="Work Sans"/>
                </a:rPr>
                <a:t>Each box is independently </a:t>
              </a:r>
            </a:p>
            <a:p>
              <a:pPr algn="r">
                <a:lnSpc>
                  <a:spcPts val="2386"/>
                </a:lnSpc>
              </a:pPr>
              <a:r>
                <a:rPr lang="en-US" sz="1699">
                  <a:solidFill>
                    <a:srgbClr val="FFFFFF"/>
                  </a:solidFill>
                  <a:latin typeface="Work Sans"/>
                  <a:ea typeface="Work Sans"/>
                  <a:cs typeface="Work Sans"/>
                  <a:sym typeface="Work Sans"/>
                </a:rPr>
                <a:t>testable and replaceable </a:t>
              </a:r>
            </a:p>
            <a:p>
              <a:pPr algn="r">
                <a:lnSpc>
                  <a:spcPts val="2386"/>
                </a:lnSpc>
              </a:pPr>
              <a:r>
                <a:rPr lang="en-US" sz="1699">
                  <a:solidFill>
                    <a:srgbClr val="FFFFFF"/>
                  </a:solidFill>
                  <a:latin typeface="Work Sans"/>
                  <a:ea typeface="Work Sans"/>
                  <a:cs typeface="Work Sans"/>
                  <a:sym typeface="Work Sans"/>
                </a:rPr>
                <a:t>swap MCP2515 for PCAN-USB </a:t>
              </a:r>
            </a:p>
            <a:p>
              <a:pPr algn="r">
                <a:lnSpc>
                  <a:spcPts val="2386"/>
                </a:lnSpc>
              </a:pPr>
              <a:r>
                <a:rPr lang="en-US" sz="1699">
                  <a:solidFill>
                    <a:srgbClr val="FFFFFF"/>
                  </a:solidFill>
                  <a:latin typeface="Work Sans"/>
                  <a:ea typeface="Work Sans"/>
                  <a:cs typeface="Work Sans"/>
                  <a:sym typeface="Work Sans"/>
                </a:rPr>
                <a:t>without touching </a:t>
              </a:r>
            </a:p>
            <a:p>
              <a:pPr algn="r">
                <a:lnSpc>
                  <a:spcPts val="2386"/>
                </a:lnSpc>
              </a:pPr>
              <a:r>
                <a:rPr lang="en-US" sz="1699">
                  <a:solidFill>
                    <a:srgbClr val="FFFFFF"/>
                  </a:solidFill>
                  <a:latin typeface="Work Sans"/>
                  <a:ea typeface="Work Sans"/>
                  <a:cs typeface="Work Sans"/>
                  <a:sym typeface="Work Sans"/>
                </a:rPr>
                <a:t>the CAN Service Layer </a:t>
              </a:r>
            </a:p>
            <a:p>
              <a:pPr algn="r">
                <a:lnSpc>
                  <a:spcPts val="2386"/>
                </a:lnSpc>
              </a:pPr>
              <a:r>
                <a:rPr lang="en-US" sz="1699">
                  <a:solidFill>
                    <a:srgbClr val="FFFFFF"/>
                  </a:solidFill>
                  <a:latin typeface="Work Sans"/>
                  <a:ea typeface="Work Sans"/>
                  <a:cs typeface="Work Sans"/>
                  <a:sym typeface="Work Sans"/>
                </a:rPr>
                <a:t>above it.</a:t>
              </a:r>
            </a:p>
            <a:p>
              <a:pPr algn="r">
                <a:lnSpc>
                  <a:spcPts val="2386"/>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10" id="10"/>
          <p:cNvSpPr txBox="true"/>
          <p:nvPr/>
        </p:nvSpPr>
        <p:spPr>
          <a:xfrm rot="0">
            <a:off x="926309" y="1376187"/>
            <a:ext cx="7685856" cy="1400175"/>
          </a:xfrm>
          <a:prstGeom prst="rect">
            <a:avLst/>
          </a:prstGeom>
        </p:spPr>
        <p:txBody>
          <a:bodyPr anchor="t" rtlCol="false" tIns="0" lIns="0" bIns="0" rIns="0">
            <a:spAutoFit/>
          </a:bodyPr>
          <a:lstStyle/>
          <a:p>
            <a:pPr algn="l">
              <a:lnSpc>
                <a:spcPts val="5519"/>
              </a:lnSpc>
            </a:pPr>
            <a:r>
              <a:rPr lang="en-US" b="true" sz="4599" spc="-32">
                <a:solidFill>
                  <a:srgbClr val="E6E7E8"/>
                </a:solidFill>
                <a:latin typeface="Work Sans Medium"/>
                <a:ea typeface="Work Sans Medium"/>
                <a:cs typeface="Work Sans Medium"/>
                <a:sym typeface="Work Sans Medium"/>
              </a:rPr>
              <a:t>Listener — L</a:t>
            </a:r>
            <a:r>
              <a:rPr lang="en-US" b="true" sz="4599" spc="-32">
                <a:solidFill>
                  <a:srgbClr val="E6E7E8"/>
                </a:solidFill>
                <a:latin typeface="Work Sans Medium"/>
                <a:ea typeface="Work Sans Medium"/>
                <a:cs typeface="Work Sans Medium"/>
                <a:sym typeface="Work Sans Medium"/>
              </a:rPr>
              <a:t>ayered Driver Architecture</a:t>
            </a:r>
          </a:p>
        </p:txBody>
      </p:sp>
      <p:grpSp>
        <p:nvGrpSpPr>
          <p:cNvPr name="Group 11" id="11"/>
          <p:cNvGrpSpPr/>
          <p:nvPr/>
        </p:nvGrpSpPr>
        <p:grpSpPr>
          <a:xfrm rot="0">
            <a:off x="16784479" y="9491358"/>
            <a:ext cx="697335" cy="357088"/>
            <a:chOff x="0" y="0"/>
            <a:chExt cx="929780" cy="476118"/>
          </a:xfrm>
        </p:grpSpPr>
        <p:sp>
          <p:nvSpPr>
            <p:cNvPr name="Freeform 12" id="12"/>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3" id="13"/>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14</a:t>
              </a:r>
            </a:p>
          </p:txBody>
        </p:sp>
      </p:grpSp>
      <p:sp>
        <p:nvSpPr>
          <p:cNvPr name="TextBox 14" id="14"/>
          <p:cNvSpPr txBox="true"/>
          <p:nvPr/>
        </p:nvSpPr>
        <p:spPr>
          <a:xfrm rot="0">
            <a:off x="933450" y="590393"/>
            <a:ext cx="6203236" cy="351448"/>
          </a:xfrm>
          <a:prstGeom prst="rect">
            <a:avLst/>
          </a:prstGeom>
        </p:spPr>
        <p:txBody>
          <a:bodyPr anchor="t" rtlCol="false" tIns="0" lIns="0" bIns="0" rIns="0">
            <a:spAutoFit/>
          </a:bodyPr>
          <a:lstStyle/>
          <a:p>
            <a:pPr algn="l">
              <a:lnSpc>
                <a:spcPts val="2692"/>
              </a:lnSpc>
            </a:pPr>
            <a:r>
              <a:rPr lang="en-US" sz="2243" b="true">
                <a:solidFill>
                  <a:srgbClr val="FFFFFF"/>
                </a:solidFill>
                <a:latin typeface="Work Sans Medium"/>
                <a:ea typeface="Work Sans Medium"/>
                <a:cs typeface="Work Sans Medium"/>
                <a:sym typeface="Work Sans Medium"/>
              </a:rPr>
              <a:t>SUBSYST</a:t>
            </a:r>
            <a:r>
              <a:rPr lang="en-US" sz="2243" b="true">
                <a:solidFill>
                  <a:srgbClr val="FFFFFF"/>
                </a:solidFill>
                <a:latin typeface="Work Sans Medium"/>
                <a:ea typeface="Work Sans Medium"/>
                <a:cs typeface="Work Sans Medium"/>
                <a:sym typeface="Work Sans Medium"/>
              </a:rPr>
              <a:t>EM DESIGN · HIGH-LEVEL DESIGN</a:t>
            </a:r>
          </a:p>
        </p:txBody>
      </p:sp>
      <p:sp>
        <p:nvSpPr>
          <p:cNvPr name="TextBox 15" id="15"/>
          <p:cNvSpPr txBox="true"/>
          <p:nvPr/>
        </p:nvSpPr>
        <p:spPr>
          <a:xfrm rot="0">
            <a:off x="2814752" y="3509787"/>
            <a:ext cx="5904567" cy="390144"/>
          </a:xfrm>
          <a:prstGeom prst="rect">
            <a:avLst/>
          </a:prstGeom>
        </p:spPr>
        <p:txBody>
          <a:bodyPr anchor="t" rtlCol="false" tIns="0" lIns="0" bIns="0" rIns="0">
            <a:spAutoFit/>
          </a:bodyPr>
          <a:lstStyle/>
          <a:p>
            <a:pPr algn="l">
              <a:lnSpc>
                <a:spcPts val="3078"/>
              </a:lnSpc>
            </a:pPr>
            <a:r>
              <a:rPr lang="en-US" sz="2250">
                <a:solidFill>
                  <a:srgbClr val="FFFFFF"/>
                </a:solidFill>
                <a:latin typeface="Work Sans"/>
                <a:ea typeface="Work Sans"/>
                <a:cs typeface="Work Sans"/>
                <a:sym typeface="Work Sans"/>
              </a:rPr>
              <a:t>CAN</a:t>
            </a:r>
            <a:r>
              <a:rPr lang="en-US" sz="2250">
                <a:solidFill>
                  <a:srgbClr val="FFFFFF"/>
                </a:solidFill>
                <a:latin typeface="Work Sans"/>
                <a:ea typeface="Work Sans"/>
                <a:cs typeface="Work Sans"/>
                <a:sym typeface="Work Sans"/>
              </a:rPr>
              <a:t> SERVICE LAYER — TRANSMISSION</a:t>
            </a:r>
          </a:p>
        </p:txBody>
      </p:sp>
      <p:sp>
        <p:nvSpPr>
          <p:cNvPr name="TextBox 16" id="16"/>
          <p:cNvSpPr txBox="true"/>
          <p:nvPr/>
        </p:nvSpPr>
        <p:spPr>
          <a:xfrm rot="0">
            <a:off x="2814752" y="6635768"/>
            <a:ext cx="5904567" cy="390144"/>
          </a:xfrm>
          <a:prstGeom prst="rect">
            <a:avLst/>
          </a:prstGeom>
        </p:spPr>
        <p:txBody>
          <a:bodyPr anchor="t" rtlCol="false" tIns="0" lIns="0" bIns="0" rIns="0">
            <a:spAutoFit/>
          </a:bodyPr>
          <a:lstStyle/>
          <a:p>
            <a:pPr algn="l">
              <a:lnSpc>
                <a:spcPts val="3078"/>
              </a:lnSpc>
            </a:pPr>
            <a:r>
              <a:rPr lang="en-US" sz="2250">
                <a:solidFill>
                  <a:srgbClr val="FFFFFF"/>
                </a:solidFill>
                <a:latin typeface="Work Sans"/>
                <a:ea typeface="Work Sans"/>
                <a:cs typeface="Work Sans"/>
                <a:sym typeface="Work Sans"/>
              </a:rPr>
              <a:t>CAN</a:t>
            </a:r>
            <a:r>
              <a:rPr lang="en-US" sz="2250">
                <a:solidFill>
                  <a:srgbClr val="FFFFFF"/>
                </a:solidFill>
                <a:latin typeface="Work Sans"/>
                <a:ea typeface="Work Sans"/>
                <a:cs typeface="Work Sans"/>
                <a:sym typeface="Work Sans"/>
              </a:rPr>
              <a:t> SERVICE LAYER — RECEPTION</a:t>
            </a:r>
          </a:p>
        </p:txBody>
      </p:sp>
      <p:sp>
        <p:nvSpPr>
          <p:cNvPr name="Freeform 17" id="17"/>
          <p:cNvSpPr/>
          <p:nvPr/>
        </p:nvSpPr>
        <p:spPr>
          <a:xfrm flipH="false" flipV="false" rot="0">
            <a:off x="926309" y="3557412"/>
            <a:ext cx="1421006" cy="1421006"/>
          </a:xfrm>
          <a:custGeom>
            <a:avLst/>
            <a:gdLst/>
            <a:ahLst/>
            <a:cxnLst/>
            <a:rect r="r" b="b" t="t" l="l"/>
            <a:pathLst>
              <a:path h="1421006" w="1421006">
                <a:moveTo>
                  <a:pt x="0" y="0"/>
                </a:moveTo>
                <a:lnTo>
                  <a:pt x="1421007" y="0"/>
                </a:lnTo>
                <a:lnTo>
                  <a:pt x="1421007" y="1421006"/>
                </a:lnTo>
                <a:lnTo>
                  <a:pt x="0" y="1421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930631" y="6683393"/>
            <a:ext cx="1421006" cy="1421006"/>
          </a:xfrm>
          <a:custGeom>
            <a:avLst/>
            <a:gdLst/>
            <a:ahLst/>
            <a:cxnLst/>
            <a:rect r="r" b="b" t="t" l="l"/>
            <a:pathLst>
              <a:path h="1421006" w="1421006">
                <a:moveTo>
                  <a:pt x="0" y="0"/>
                </a:moveTo>
                <a:lnTo>
                  <a:pt x="1421006" y="0"/>
                </a:lnTo>
                <a:lnTo>
                  <a:pt x="1421006" y="1421006"/>
                </a:lnTo>
                <a:lnTo>
                  <a:pt x="0" y="14210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9653024" y="0"/>
            <a:ext cx="4554348" cy="10271898"/>
            <a:chOff x="0" y="0"/>
            <a:chExt cx="4283252" cy="9660466"/>
          </a:xfrm>
        </p:grpSpPr>
        <p:sp>
          <p:nvSpPr>
            <p:cNvPr name="Freeform 20" id="20" descr="images/hld_listener.png"/>
            <p:cNvSpPr/>
            <p:nvPr/>
          </p:nvSpPr>
          <p:spPr>
            <a:xfrm flipH="false" flipV="false" rot="0">
              <a:off x="0" y="0"/>
              <a:ext cx="4283277" cy="9660504"/>
            </a:xfrm>
            <a:custGeom>
              <a:avLst/>
              <a:gdLst/>
              <a:ahLst/>
              <a:cxnLst/>
              <a:rect r="r" b="b" t="t" l="l"/>
              <a:pathLst>
                <a:path h="9660504" w="4283277">
                  <a:moveTo>
                    <a:pt x="0" y="0"/>
                  </a:moveTo>
                  <a:lnTo>
                    <a:pt x="4283277" y="0"/>
                  </a:lnTo>
                  <a:lnTo>
                    <a:pt x="4283277" y="9660504"/>
                  </a:lnTo>
                  <a:lnTo>
                    <a:pt x="0" y="9660504"/>
                  </a:lnTo>
                  <a:lnTo>
                    <a:pt x="0" y="0"/>
                  </a:lnTo>
                  <a:close/>
                </a:path>
              </a:pathLst>
            </a:custGeom>
            <a:blipFill>
              <a:blip r:embed="rId8"/>
              <a:stretch>
                <a:fillRect l="0" t="-791" r="0" b="-790"/>
              </a:stretch>
            </a:blipFill>
          </p:spPr>
        </p:sp>
      </p:grpSp>
      <p:grpSp>
        <p:nvGrpSpPr>
          <p:cNvPr name="Group 21" id="21"/>
          <p:cNvGrpSpPr/>
          <p:nvPr/>
        </p:nvGrpSpPr>
        <p:grpSpPr>
          <a:xfrm rot="0">
            <a:off x="14979286" y="4798184"/>
            <a:ext cx="3291297" cy="1096200"/>
            <a:chOff x="0" y="0"/>
            <a:chExt cx="4388396" cy="1461600"/>
          </a:xfrm>
        </p:grpSpPr>
        <p:sp>
          <p:nvSpPr>
            <p:cNvPr name="Freeform 22" id="22"/>
            <p:cNvSpPr/>
            <p:nvPr/>
          </p:nvSpPr>
          <p:spPr>
            <a:xfrm flipH="false" flipV="false" rot="0">
              <a:off x="0" y="0"/>
              <a:ext cx="4388400" cy="1461595"/>
            </a:xfrm>
            <a:custGeom>
              <a:avLst/>
              <a:gdLst/>
              <a:ahLst/>
              <a:cxnLst/>
              <a:rect r="r" b="b" t="t" l="l"/>
              <a:pathLst>
                <a:path h="1461595" w="4388400">
                  <a:moveTo>
                    <a:pt x="0" y="0"/>
                  </a:moveTo>
                  <a:lnTo>
                    <a:pt x="4388400" y="0"/>
                  </a:lnTo>
                  <a:lnTo>
                    <a:pt x="4388400" y="1461595"/>
                  </a:lnTo>
                  <a:lnTo>
                    <a:pt x="0" y="1461595"/>
                  </a:lnTo>
                  <a:close/>
                </a:path>
              </a:pathLst>
            </a:custGeom>
            <a:blipFill>
              <a:blip r:embed="rId3">
                <a:alphaModFix amt="0"/>
              </a:blip>
              <a:stretch>
                <a:fillRect l="0" t="-8502" r="0" b="-8503"/>
              </a:stretch>
            </a:blipFill>
          </p:spPr>
        </p:sp>
        <p:sp>
          <p:nvSpPr>
            <p:cNvPr name="TextBox 23" id="23"/>
            <p:cNvSpPr txBox="true"/>
            <p:nvPr/>
          </p:nvSpPr>
          <p:spPr>
            <a:xfrm>
              <a:off x="0" y="-66675"/>
              <a:ext cx="4388396" cy="1528275"/>
            </a:xfrm>
            <a:prstGeom prst="rect">
              <a:avLst/>
            </a:prstGeom>
          </p:spPr>
          <p:txBody>
            <a:bodyPr anchor="ctr" rtlCol="false" tIns="0" lIns="0" bIns="0" rIns="0"/>
            <a:lstStyle/>
            <a:p>
              <a:pPr algn="r">
                <a:lnSpc>
                  <a:spcPts val="2160"/>
                </a:lnSpc>
              </a:pPr>
              <a:r>
                <a:rPr lang="en-US" sz="1500" i="true">
                  <a:solidFill>
                    <a:srgbClr val="8FA8C2"/>
                  </a:solidFill>
                  <a:latin typeface="Calibri (MS) Italics"/>
                  <a:ea typeface="Calibri (MS) Italics"/>
                  <a:cs typeface="Calibri (MS) Italics"/>
                  <a:sym typeface="Calibri (MS) Italics"/>
                </a:rPr>
                <a:t>App Layer never sees a raw socket — only clean, validated frame objects.</a:t>
              </a:r>
            </a:p>
          </p:txBody>
        </p:sp>
      </p:grpSp>
      <p:grpSp>
        <p:nvGrpSpPr>
          <p:cNvPr name="Group 24" id="24"/>
          <p:cNvGrpSpPr/>
          <p:nvPr/>
        </p:nvGrpSpPr>
        <p:grpSpPr>
          <a:xfrm rot="0">
            <a:off x="14739471" y="253835"/>
            <a:ext cx="3531112" cy="688007"/>
            <a:chOff x="0" y="0"/>
            <a:chExt cx="4708150" cy="917342"/>
          </a:xfrm>
        </p:grpSpPr>
        <p:sp>
          <p:nvSpPr>
            <p:cNvPr name="Freeform 25" id="25"/>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9"/>
              <a:stretch>
                <a:fillRect l="0" t="-1644" r="0" b="-1644"/>
              </a:stretch>
            </a:blipFill>
            <a:ln cap="sq">
              <a:noFill/>
              <a:prstDash val="solid"/>
              <a:miter/>
            </a:ln>
          </p:spPr>
        </p:sp>
        <p:sp>
          <p:nvSpPr>
            <p:cNvPr name="TextBox 26" id="26"/>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3/8</a:t>
              </a:r>
            </a:p>
          </p:txBody>
        </p:sp>
      </p:grpSp>
      <p:sp>
        <p:nvSpPr>
          <p:cNvPr name="TextBox 27" id="27"/>
          <p:cNvSpPr txBox="true"/>
          <p:nvPr/>
        </p:nvSpPr>
        <p:spPr>
          <a:xfrm rot="0">
            <a:off x="2814752" y="4004706"/>
            <a:ext cx="5633490" cy="1572614"/>
          </a:xfrm>
          <a:prstGeom prst="rect">
            <a:avLst/>
          </a:prstGeom>
        </p:spPr>
        <p:txBody>
          <a:bodyPr anchor="t" rtlCol="false" tIns="0" lIns="0" bIns="0" rIns="0">
            <a:spAutoFit/>
          </a:bodyPr>
          <a:lstStyle/>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De</a:t>
            </a:r>
            <a:r>
              <a:rPr lang="en-US" sz="1800">
                <a:solidFill>
                  <a:srgbClr val="FFFFFF"/>
                </a:solidFill>
                <a:latin typeface="Work Sans Light"/>
                <a:ea typeface="Work Sans Light"/>
                <a:cs typeface="Work Sans Light"/>
                <a:sym typeface="Work Sans Light"/>
              </a:rPr>
              <a:t>termine which CAN ID should be used</a:t>
            </a:r>
          </a:p>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Maintain a software TX queue + retries</a:t>
            </a:r>
          </a:p>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TX confirmation / callback handling</a:t>
            </a:r>
          </a:p>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Transmission timeout monitoring</a:t>
            </a:r>
          </a:p>
          <a:p>
            <a:pPr algn="l">
              <a:lnSpc>
                <a:spcPts val="2527"/>
              </a:lnSpc>
            </a:pPr>
          </a:p>
        </p:txBody>
      </p:sp>
      <p:sp>
        <p:nvSpPr>
          <p:cNvPr name="TextBox 28" id="28"/>
          <p:cNvSpPr txBox="true"/>
          <p:nvPr/>
        </p:nvSpPr>
        <p:spPr>
          <a:xfrm rot="0">
            <a:off x="2814752" y="7130687"/>
            <a:ext cx="5633490" cy="1572614"/>
          </a:xfrm>
          <a:prstGeom prst="rect">
            <a:avLst/>
          </a:prstGeom>
        </p:spPr>
        <p:txBody>
          <a:bodyPr anchor="t" rtlCol="false" tIns="0" lIns="0" bIns="0" rIns="0">
            <a:spAutoFit/>
          </a:bodyPr>
          <a:lstStyle/>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Messag</a:t>
            </a:r>
            <a:r>
              <a:rPr lang="en-US" sz="1800">
                <a:solidFill>
                  <a:srgbClr val="FFFFFF"/>
                </a:solidFill>
                <a:latin typeface="Work Sans Light"/>
                <a:ea typeface="Work Sans Light"/>
                <a:cs typeface="Work Sans Light"/>
                <a:sym typeface="Work Sans Light"/>
              </a:rPr>
              <a:t>e routing to the right software module</a:t>
            </a:r>
          </a:p>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Notification &amp; callback handling, RX queue</a:t>
            </a:r>
          </a:p>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Bu</a:t>
            </a:r>
            <a:r>
              <a:rPr lang="en-US" sz="1800">
                <a:solidFill>
                  <a:srgbClr val="FFFFFF"/>
                </a:solidFill>
                <a:latin typeface="Work Sans Light"/>
                <a:ea typeface="Work Sans Light"/>
                <a:cs typeface="Work Sans Light"/>
                <a:sym typeface="Work Sans Light"/>
              </a:rPr>
              <a:t>s status reporting up to the app layer</a:t>
            </a:r>
          </a:p>
          <a:p>
            <a:pPr algn="l" marL="388630" indent="-194315" lvl="1">
              <a:lnSpc>
                <a:spcPts val="2527"/>
              </a:lnSpc>
              <a:buFont typeface="Arial"/>
              <a:buChar char="•"/>
            </a:pPr>
            <a:r>
              <a:rPr lang="en-US" sz="1800">
                <a:solidFill>
                  <a:srgbClr val="FFFFFF"/>
                </a:solidFill>
                <a:latin typeface="Work Sans Light"/>
                <a:ea typeface="Work Sans Light"/>
                <a:cs typeface="Work Sans Light"/>
                <a:sym typeface="Work Sans Light"/>
              </a:rPr>
              <a:t>Application-level message timeout tracking</a:t>
            </a:r>
          </a:p>
          <a:p>
            <a:pPr algn="l">
              <a:lnSpc>
                <a:spcPts val="2527"/>
              </a:lnSpc>
            </a:pPr>
          </a:p>
        </p:txBody>
      </p:sp>
      <p:grpSp>
        <p:nvGrpSpPr>
          <p:cNvPr name="Group 29" id="29"/>
          <p:cNvGrpSpPr/>
          <p:nvPr/>
        </p:nvGrpSpPr>
        <p:grpSpPr>
          <a:xfrm rot="0">
            <a:off x="926309" y="9491358"/>
            <a:ext cx="2807304" cy="493053"/>
            <a:chOff x="0" y="0"/>
            <a:chExt cx="3743072" cy="657404"/>
          </a:xfrm>
        </p:grpSpPr>
        <p:sp>
          <p:nvSpPr>
            <p:cNvPr name="Freeform 30" id="30"/>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32" id="32"/>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9526838" y="0"/>
            <a:ext cx="8761162" cy="10287000"/>
            <a:chOff x="0" y="0"/>
            <a:chExt cx="11681549" cy="13716000"/>
          </a:xfrm>
        </p:grpSpPr>
        <p:grpSp>
          <p:nvGrpSpPr>
            <p:cNvPr name="Group 4" id="4"/>
            <p:cNvGrpSpPr/>
            <p:nvPr/>
          </p:nvGrpSpPr>
          <p:grpSpPr>
            <a:xfrm rot="0">
              <a:off x="0" y="0"/>
              <a:ext cx="11681549" cy="13716000"/>
              <a:chOff x="0" y="0"/>
              <a:chExt cx="11681549" cy="13716000"/>
            </a:xfrm>
          </p:grpSpPr>
          <p:sp>
            <p:nvSpPr>
              <p:cNvPr name="Freeform 5" id="5"/>
              <p:cNvSpPr/>
              <p:nvPr/>
            </p:nvSpPr>
            <p:spPr>
              <a:xfrm flipH="false" flipV="false" rot="0">
                <a:off x="0" y="0"/>
                <a:ext cx="11681587" cy="13716000"/>
              </a:xfrm>
              <a:custGeom>
                <a:avLst/>
                <a:gdLst/>
                <a:ahLst/>
                <a:cxnLst/>
                <a:rect r="r" b="b" t="t" l="l"/>
                <a:pathLst>
                  <a:path h="13716000" w="11681587">
                    <a:moveTo>
                      <a:pt x="0" y="0"/>
                    </a:moveTo>
                    <a:lnTo>
                      <a:pt x="11681587" y="0"/>
                    </a:lnTo>
                    <a:lnTo>
                      <a:pt x="11681587" y="13716000"/>
                    </a:lnTo>
                    <a:lnTo>
                      <a:pt x="0" y="13716000"/>
                    </a:lnTo>
                    <a:close/>
                  </a:path>
                </a:pathLst>
              </a:custGeom>
              <a:solidFill>
                <a:srgbClr val="4D5154"/>
              </a:solidFill>
            </p:spPr>
          </p:sp>
        </p:grpSp>
        <p:sp>
          <p:nvSpPr>
            <p:cNvPr name="TextBox 6" id="6"/>
            <p:cNvSpPr txBox="true"/>
            <p:nvPr/>
          </p:nvSpPr>
          <p:spPr>
            <a:xfrm rot="0">
              <a:off x="121920" y="32385"/>
              <a:ext cx="11437709" cy="13622655"/>
            </a:xfrm>
            <a:prstGeom prst="rect">
              <a:avLst/>
            </a:prstGeom>
          </p:spPr>
          <p:txBody>
            <a:bodyPr anchor="t" rtlCol="false" tIns="0" lIns="0" bIns="0" rIns="0">
              <a:spAutoFit/>
            </a:bodyPr>
            <a:lstStyle/>
            <a:p>
              <a:pPr algn="l">
                <a:lnSpc>
                  <a:spcPts val="1684"/>
                </a:lnSpc>
              </a:pPr>
              <a:r>
                <a:rPr lang="en-US" sz="1200">
                  <a:solidFill>
                    <a:srgbClr val="FFFFFF"/>
                  </a:solidFill>
                  <a:latin typeface="Work Sans"/>
                  <a:ea typeface="Work Sans"/>
                  <a:cs typeface="Work Sans"/>
                  <a:sym typeface="Work Sans"/>
                </a:rPr>
                <a:t>Subtitle goes here</a:t>
              </a:r>
            </a:p>
          </p:txBody>
        </p:sp>
      </p:grpSp>
      <p:sp>
        <p:nvSpPr>
          <p:cNvPr name="TextBox 7" id="7"/>
          <p:cNvSpPr txBox="true"/>
          <p:nvPr/>
        </p:nvSpPr>
        <p:spPr>
          <a:xfrm rot="0">
            <a:off x="933450" y="2410201"/>
            <a:ext cx="5880034" cy="2095500"/>
          </a:xfrm>
          <a:prstGeom prst="rect">
            <a:avLst/>
          </a:prstGeom>
        </p:spPr>
        <p:txBody>
          <a:bodyPr anchor="t" rtlCol="false" tIns="0" lIns="0" bIns="0" rIns="0">
            <a:spAutoFit/>
          </a:bodyPr>
          <a:lstStyle/>
          <a:p>
            <a:pPr algn="l">
              <a:lnSpc>
                <a:spcPts val="5519"/>
              </a:lnSpc>
            </a:pPr>
            <a:r>
              <a:rPr lang="en-US" sz="4599" spc="-32" b="true">
                <a:solidFill>
                  <a:srgbClr val="E6E7E8"/>
                </a:solidFill>
                <a:latin typeface="Work Sans Medium"/>
                <a:ea typeface="Work Sans Medium"/>
                <a:cs typeface="Work Sans Medium"/>
                <a:sym typeface="Work Sans Medium"/>
              </a:rPr>
              <a:t>Unified</a:t>
            </a:r>
          </a:p>
          <a:p>
            <a:pPr algn="l">
              <a:lnSpc>
                <a:spcPts val="5519"/>
              </a:lnSpc>
            </a:pPr>
            <a:r>
              <a:rPr lang="en-US" sz="4599" spc="-32" b="true">
                <a:solidFill>
                  <a:srgbClr val="E6E7E8"/>
                </a:solidFill>
                <a:latin typeface="Work Sans Medium"/>
                <a:ea typeface="Work Sans Medium"/>
                <a:cs typeface="Work Sans Medium"/>
                <a:sym typeface="Work Sans Medium"/>
              </a:rPr>
              <a:t>Diagnostic</a:t>
            </a:r>
          </a:p>
          <a:p>
            <a:pPr algn="l">
              <a:lnSpc>
                <a:spcPts val="5519"/>
              </a:lnSpc>
            </a:pPr>
            <a:r>
              <a:rPr lang="en-US" b="true" sz="4599" spc="-32">
                <a:solidFill>
                  <a:srgbClr val="E6E7E8"/>
                </a:solidFill>
                <a:latin typeface="Work Sans Medium"/>
                <a:ea typeface="Work Sans Medium"/>
                <a:cs typeface="Work Sans Medium"/>
                <a:sym typeface="Work Sans Medium"/>
              </a:rPr>
              <a:t>Service</a:t>
            </a:r>
          </a:p>
        </p:txBody>
      </p:sp>
      <p:grpSp>
        <p:nvGrpSpPr>
          <p:cNvPr name="Group 8" id="8"/>
          <p:cNvGrpSpPr/>
          <p:nvPr/>
        </p:nvGrpSpPr>
        <p:grpSpPr>
          <a:xfrm rot="0">
            <a:off x="16784479" y="9491358"/>
            <a:ext cx="697335" cy="357092"/>
            <a:chOff x="0" y="0"/>
            <a:chExt cx="929780" cy="476123"/>
          </a:xfrm>
        </p:grpSpPr>
        <p:sp>
          <p:nvSpPr>
            <p:cNvPr name="Freeform 9" id="9"/>
            <p:cNvSpPr/>
            <p:nvPr/>
          </p:nvSpPr>
          <p:spPr>
            <a:xfrm flipH="false" flipV="false" rot="0">
              <a:off x="0" y="0"/>
              <a:ext cx="929776" cy="476118"/>
            </a:xfrm>
            <a:custGeom>
              <a:avLst/>
              <a:gdLst/>
              <a:ahLst/>
              <a:cxnLst/>
              <a:rect r="r" b="b" t="t" l="l"/>
              <a:pathLst>
                <a:path h="476118" w="929776">
                  <a:moveTo>
                    <a:pt x="0" y="0"/>
                  </a:moveTo>
                  <a:lnTo>
                    <a:pt x="929776" y="0"/>
                  </a:lnTo>
                  <a:lnTo>
                    <a:pt x="929776" y="476118"/>
                  </a:lnTo>
                  <a:lnTo>
                    <a:pt x="0" y="476118"/>
                  </a:lnTo>
                  <a:close/>
                </a:path>
              </a:pathLst>
            </a:custGeom>
            <a:blipFill>
              <a:blip r:embed="rId3">
                <a:alphaModFix amt="0"/>
              </a:blip>
              <a:stretch>
                <a:fillRect l="-15701" t="0" r="-15702" b="-1"/>
              </a:stretch>
            </a:blipFill>
          </p:spPr>
        </p:sp>
        <p:sp>
          <p:nvSpPr>
            <p:cNvPr name="TextBox 10" id="10"/>
            <p:cNvSpPr txBox="true"/>
            <p:nvPr/>
          </p:nvSpPr>
          <p:spPr>
            <a:xfrm>
              <a:off x="0" y="-19050"/>
              <a:ext cx="929780" cy="495173"/>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13</a:t>
              </a:r>
            </a:p>
          </p:txBody>
        </p:sp>
      </p:grpSp>
      <p:grpSp>
        <p:nvGrpSpPr>
          <p:cNvPr name="Group 11" id="11"/>
          <p:cNvGrpSpPr/>
          <p:nvPr/>
        </p:nvGrpSpPr>
        <p:grpSpPr>
          <a:xfrm rot="0">
            <a:off x="15325725" y="9491367"/>
            <a:ext cx="1299210" cy="357073"/>
            <a:chOff x="0" y="0"/>
            <a:chExt cx="1732280" cy="476098"/>
          </a:xfrm>
        </p:grpSpPr>
        <p:sp>
          <p:nvSpPr>
            <p:cNvPr name="Freeform 12" id="12"/>
            <p:cNvSpPr/>
            <p:nvPr/>
          </p:nvSpPr>
          <p:spPr>
            <a:xfrm flipH="false" flipV="false" rot="0">
              <a:off x="0" y="0"/>
              <a:ext cx="1732280" cy="476102"/>
            </a:xfrm>
            <a:custGeom>
              <a:avLst/>
              <a:gdLst/>
              <a:ahLst/>
              <a:cxnLst/>
              <a:rect r="r" b="b" t="t" l="l"/>
              <a:pathLst>
                <a:path h="476102" w="1732280">
                  <a:moveTo>
                    <a:pt x="0" y="0"/>
                  </a:moveTo>
                  <a:lnTo>
                    <a:pt x="1732280" y="0"/>
                  </a:lnTo>
                  <a:lnTo>
                    <a:pt x="1732280" y="476102"/>
                  </a:lnTo>
                  <a:lnTo>
                    <a:pt x="0" y="476102"/>
                  </a:lnTo>
                  <a:close/>
                </a:path>
              </a:pathLst>
            </a:custGeom>
            <a:blipFill>
              <a:blip r:embed="rId3">
                <a:alphaModFix amt="0"/>
              </a:blip>
              <a:stretch>
                <a:fillRect l="0" t="-20896" r="0" b="-20895"/>
              </a:stretch>
            </a:blipFill>
          </p:spPr>
        </p:sp>
        <p:sp>
          <p:nvSpPr>
            <p:cNvPr name="TextBox 13" id="13"/>
            <p:cNvSpPr txBox="true"/>
            <p:nvPr/>
          </p:nvSpPr>
          <p:spPr>
            <a:xfrm>
              <a:off x="0" y="-19050"/>
              <a:ext cx="1732280" cy="49514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6/29/2026</a:t>
              </a:r>
            </a:p>
          </p:txBody>
        </p:sp>
      </p:grpSp>
      <p:grpSp>
        <p:nvGrpSpPr>
          <p:cNvPr name="Group 14" id="14"/>
          <p:cNvGrpSpPr/>
          <p:nvPr/>
        </p:nvGrpSpPr>
        <p:grpSpPr>
          <a:xfrm rot="0">
            <a:off x="9527381" y="0"/>
            <a:ext cx="8760619" cy="10287000"/>
            <a:chOff x="0" y="0"/>
            <a:chExt cx="11680825" cy="13716000"/>
          </a:xfrm>
        </p:grpSpPr>
        <p:sp>
          <p:nvSpPr>
            <p:cNvPr name="Freeform 15" id="15"/>
            <p:cNvSpPr/>
            <p:nvPr/>
          </p:nvSpPr>
          <p:spPr>
            <a:xfrm flipH="false" flipV="false" rot="0">
              <a:off x="0" y="0"/>
              <a:ext cx="11680825" cy="13716000"/>
            </a:xfrm>
            <a:custGeom>
              <a:avLst/>
              <a:gdLst/>
              <a:ahLst/>
              <a:cxnLst/>
              <a:rect r="r" b="b" t="t" l="l"/>
              <a:pathLst>
                <a:path h="13716000" w="11680825">
                  <a:moveTo>
                    <a:pt x="0" y="0"/>
                  </a:moveTo>
                  <a:lnTo>
                    <a:pt x="11680825" y="0"/>
                  </a:lnTo>
                  <a:lnTo>
                    <a:pt x="11680825" y="13716000"/>
                  </a:lnTo>
                  <a:lnTo>
                    <a:pt x="0" y="13716000"/>
                  </a:lnTo>
                  <a:lnTo>
                    <a:pt x="0" y="0"/>
                  </a:lnTo>
                  <a:close/>
                </a:path>
              </a:pathLst>
            </a:custGeom>
            <a:blipFill>
              <a:blip r:embed="rId4"/>
              <a:stretch>
                <a:fillRect l="0" t="0" r="0" b="-27"/>
              </a:stretch>
            </a:blipFill>
          </p:spPr>
        </p:sp>
      </p:grpSp>
      <p:sp>
        <p:nvSpPr>
          <p:cNvPr name="TextBox 16" id="16"/>
          <p:cNvSpPr txBox="true"/>
          <p:nvPr/>
        </p:nvSpPr>
        <p:spPr>
          <a:xfrm rot="0">
            <a:off x="897626" y="859465"/>
            <a:ext cx="5377987" cy="64836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a:t>
            </a:r>
            <a:r>
              <a:rPr lang="en-US" sz="2095" b="true">
                <a:solidFill>
                  <a:srgbClr val="FFFFFF"/>
                </a:solidFill>
                <a:latin typeface="Work Sans Medium"/>
                <a:ea typeface="Work Sans Medium"/>
                <a:cs typeface="Work Sans Medium"/>
                <a:sym typeface="Work Sans Medium"/>
              </a:rPr>
              <a:t>EM DESIGN · HIGH-LEVEL DESIGN</a:t>
            </a:r>
          </a:p>
        </p:txBody>
      </p:sp>
      <p:sp>
        <p:nvSpPr>
          <p:cNvPr name="TextBox 17" id="17"/>
          <p:cNvSpPr txBox="true"/>
          <p:nvPr/>
        </p:nvSpPr>
        <p:spPr>
          <a:xfrm rot="0">
            <a:off x="897626" y="5074815"/>
            <a:ext cx="5224026" cy="2470861"/>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Unified Diagnostic Services (UDS) is the ISO 14229 standard used for communication between a diagnostic tester and an ECU. It enables diagnostics, configuration, and software maintenance over the CAN network using ISO-TP transport.</a:t>
            </a:r>
          </a:p>
        </p:txBody>
      </p:sp>
      <p:grpSp>
        <p:nvGrpSpPr>
          <p:cNvPr name="Group 18" id="18"/>
          <p:cNvGrpSpPr/>
          <p:nvPr/>
        </p:nvGrpSpPr>
        <p:grpSpPr>
          <a:xfrm rot="0">
            <a:off x="9526838" y="0"/>
            <a:ext cx="8761162" cy="10287000"/>
            <a:chOff x="0" y="0"/>
            <a:chExt cx="12073297" cy="14175975"/>
          </a:xfrm>
        </p:grpSpPr>
        <p:sp>
          <p:nvSpPr>
            <p:cNvPr name="Freeform 19" id="19"/>
            <p:cNvSpPr/>
            <p:nvPr/>
          </p:nvSpPr>
          <p:spPr>
            <a:xfrm flipH="false" flipV="false" rot="0">
              <a:off x="0" y="0"/>
              <a:ext cx="12073322" cy="14175975"/>
            </a:xfrm>
            <a:custGeom>
              <a:avLst/>
              <a:gdLst/>
              <a:ahLst/>
              <a:cxnLst/>
              <a:rect r="r" b="b" t="t" l="l"/>
              <a:pathLst>
                <a:path h="14175975" w="12073322">
                  <a:moveTo>
                    <a:pt x="0" y="0"/>
                  </a:moveTo>
                  <a:lnTo>
                    <a:pt x="12073322" y="0"/>
                  </a:lnTo>
                  <a:lnTo>
                    <a:pt x="12073322" y="14175975"/>
                  </a:lnTo>
                  <a:lnTo>
                    <a:pt x="0" y="14175975"/>
                  </a:lnTo>
                  <a:lnTo>
                    <a:pt x="0" y="0"/>
                  </a:lnTo>
                  <a:close/>
                </a:path>
              </a:pathLst>
            </a:custGeom>
            <a:blipFill>
              <a:blip r:embed="rId3"/>
              <a:stretch>
                <a:fillRect l="-76351" t="0" r="-70468" b="18080"/>
              </a:stretch>
            </a:blipFill>
          </p:spPr>
        </p:sp>
      </p:grpSp>
      <p:grpSp>
        <p:nvGrpSpPr>
          <p:cNvPr name="Group 20" id="20"/>
          <p:cNvGrpSpPr/>
          <p:nvPr/>
        </p:nvGrpSpPr>
        <p:grpSpPr>
          <a:xfrm rot="0">
            <a:off x="7020084" y="0"/>
            <a:ext cx="11651108" cy="10379676"/>
            <a:chOff x="0" y="0"/>
            <a:chExt cx="9689343" cy="8631990"/>
          </a:xfrm>
        </p:grpSpPr>
        <p:sp>
          <p:nvSpPr>
            <p:cNvPr name="Freeform 21" id="21"/>
            <p:cNvSpPr/>
            <p:nvPr/>
          </p:nvSpPr>
          <p:spPr>
            <a:xfrm flipH="false" flipV="false" rot="0">
              <a:off x="0" y="0"/>
              <a:ext cx="9689394" cy="8631967"/>
            </a:xfrm>
            <a:custGeom>
              <a:avLst/>
              <a:gdLst/>
              <a:ahLst/>
              <a:cxnLst/>
              <a:rect r="r" b="b" t="t" l="l"/>
              <a:pathLst>
                <a:path h="8631967" w="9689394">
                  <a:moveTo>
                    <a:pt x="0" y="0"/>
                  </a:moveTo>
                  <a:lnTo>
                    <a:pt x="9689394" y="0"/>
                  </a:lnTo>
                  <a:lnTo>
                    <a:pt x="9689394" y="8631967"/>
                  </a:lnTo>
                  <a:lnTo>
                    <a:pt x="0" y="8631967"/>
                  </a:lnTo>
                  <a:lnTo>
                    <a:pt x="0" y="0"/>
                  </a:lnTo>
                  <a:close/>
                </a:path>
              </a:pathLst>
            </a:custGeom>
            <a:blipFill>
              <a:blip r:embed="rId5"/>
              <a:stretch>
                <a:fillRect l="-3955" t="0" r="-3954" b="0"/>
              </a:stretch>
            </a:blipFill>
          </p:spPr>
        </p:sp>
      </p:grpSp>
      <p:grpSp>
        <p:nvGrpSpPr>
          <p:cNvPr name="Group 22" id="22"/>
          <p:cNvGrpSpPr/>
          <p:nvPr/>
        </p:nvGrpSpPr>
        <p:grpSpPr>
          <a:xfrm rot="0">
            <a:off x="926309" y="9491358"/>
            <a:ext cx="2807304" cy="493053"/>
            <a:chOff x="0" y="0"/>
            <a:chExt cx="3743072" cy="657404"/>
          </a:xfrm>
        </p:grpSpPr>
        <p:sp>
          <p:nvSpPr>
            <p:cNvPr name="Freeform 23" id="23"/>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5" id="25"/>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DBC Deco</a:t>
            </a:r>
            <a:r>
              <a:rPr lang="en-US" b="true" sz="4200" spc="-30">
                <a:solidFill>
                  <a:srgbClr val="E6E7E8"/>
                </a:solidFill>
                <a:latin typeface="Work Sans Medium"/>
                <a:ea typeface="Work Sans Medium"/>
                <a:cs typeface="Work Sans Medium"/>
                <a:sym typeface="Work Sans Medium"/>
              </a:rPr>
              <a:t>de &amp; Encode Pipelines</a:t>
            </a:r>
          </a:p>
        </p:txBody>
      </p:sp>
      <p:grpSp>
        <p:nvGrpSpPr>
          <p:cNvPr name="Group 4" id="4"/>
          <p:cNvGrpSpPr/>
          <p:nvPr/>
        </p:nvGrpSpPr>
        <p:grpSpPr>
          <a:xfrm rot="0">
            <a:off x="933450" y="1794152"/>
            <a:ext cx="4442385" cy="510008"/>
            <a:chOff x="0" y="0"/>
            <a:chExt cx="5923180" cy="680011"/>
          </a:xfrm>
        </p:grpSpPr>
        <p:sp>
          <p:nvSpPr>
            <p:cNvPr name="Freeform 5" id="5"/>
            <p:cNvSpPr/>
            <p:nvPr/>
          </p:nvSpPr>
          <p:spPr>
            <a:xfrm flipH="false" flipV="false" rot="0">
              <a:off x="0" y="0"/>
              <a:ext cx="5923131" cy="680011"/>
            </a:xfrm>
            <a:custGeom>
              <a:avLst/>
              <a:gdLst/>
              <a:ahLst/>
              <a:cxnLst/>
              <a:rect r="r" b="b" t="t" l="l"/>
              <a:pathLst>
                <a:path h="680011" w="5923131">
                  <a:moveTo>
                    <a:pt x="0" y="0"/>
                  </a:moveTo>
                  <a:lnTo>
                    <a:pt x="5923131" y="0"/>
                  </a:lnTo>
                  <a:lnTo>
                    <a:pt x="5923131" y="680011"/>
                  </a:lnTo>
                  <a:lnTo>
                    <a:pt x="0" y="680011"/>
                  </a:lnTo>
                  <a:close/>
                </a:path>
              </a:pathLst>
            </a:custGeom>
            <a:solidFill>
              <a:srgbClr val="B0FF45"/>
            </a:solidFill>
          </p:spPr>
        </p:sp>
        <p:sp>
          <p:nvSpPr>
            <p:cNvPr name="TextBox 6" id="6"/>
            <p:cNvSpPr txBox="true"/>
            <p:nvPr/>
          </p:nvSpPr>
          <p:spPr>
            <a:xfrm>
              <a:off x="0" y="-9525"/>
              <a:ext cx="5923180" cy="689536"/>
            </a:xfrm>
            <a:prstGeom prst="rect">
              <a:avLst/>
            </a:prstGeom>
          </p:spPr>
          <p:txBody>
            <a:bodyPr anchor="ctr" rtlCol="false" tIns="50800" lIns="50800" bIns="50800" rIns="50800"/>
            <a:lstStyle/>
            <a:p>
              <a:pPr algn="ctr">
                <a:lnSpc>
                  <a:spcPts val="2520"/>
                </a:lnSpc>
              </a:pPr>
              <a:r>
                <a:rPr lang="en-US" sz="2100" b="true">
                  <a:solidFill>
                    <a:srgbClr val="000000"/>
                  </a:solidFill>
                  <a:latin typeface="Work Sans Medium"/>
                  <a:ea typeface="Work Sans Medium"/>
                  <a:cs typeface="Work Sans Medium"/>
                  <a:sym typeface="Work Sans Medium"/>
                </a:rPr>
                <a:t>Decoder — Listener to Signal</a:t>
              </a:r>
            </a:p>
          </p:txBody>
        </p:sp>
      </p:grpSp>
      <p:grpSp>
        <p:nvGrpSpPr>
          <p:cNvPr name="Group 7" id="7"/>
          <p:cNvGrpSpPr/>
          <p:nvPr/>
        </p:nvGrpSpPr>
        <p:grpSpPr>
          <a:xfrm rot="0">
            <a:off x="13622630" y="944322"/>
            <a:ext cx="3510516" cy="445315"/>
            <a:chOff x="0" y="0"/>
            <a:chExt cx="5720762" cy="725688"/>
          </a:xfrm>
        </p:grpSpPr>
        <p:sp>
          <p:nvSpPr>
            <p:cNvPr name="Freeform 8" id="8"/>
            <p:cNvSpPr/>
            <p:nvPr/>
          </p:nvSpPr>
          <p:spPr>
            <a:xfrm flipH="false" flipV="false" rot="0">
              <a:off x="0" y="0"/>
              <a:ext cx="5720714" cy="725688"/>
            </a:xfrm>
            <a:custGeom>
              <a:avLst/>
              <a:gdLst/>
              <a:ahLst/>
              <a:cxnLst/>
              <a:rect r="r" b="b" t="t" l="l"/>
              <a:pathLst>
                <a:path h="725688" w="5720714">
                  <a:moveTo>
                    <a:pt x="0" y="0"/>
                  </a:moveTo>
                  <a:lnTo>
                    <a:pt x="5720714" y="0"/>
                  </a:lnTo>
                  <a:lnTo>
                    <a:pt x="5720714" y="725688"/>
                  </a:lnTo>
                  <a:lnTo>
                    <a:pt x="0" y="725688"/>
                  </a:lnTo>
                  <a:close/>
                </a:path>
              </a:pathLst>
            </a:custGeom>
            <a:solidFill>
              <a:srgbClr val="8FDB00"/>
            </a:solidFill>
          </p:spPr>
        </p:sp>
        <p:sp>
          <p:nvSpPr>
            <p:cNvPr name="TextBox 9" id="9"/>
            <p:cNvSpPr txBox="true"/>
            <p:nvPr/>
          </p:nvSpPr>
          <p:spPr>
            <a:xfrm>
              <a:off x="0" y="-9525"/>
              <a:ext cx="5720762" cy="735213"/>
            </a:xfrm>
            <a:prstGeom prst="rect">
              <a:avLst/>
            </a:prstGeom>
          </p:spPr>
          <p:txBody>
            <a:bodyPr anchor="ctr" rtlCol="false" tIns="50800" lIns="50800" bIns="50800" rIns="50800"/>
            <a:lstStyle/>
            <a:p>
              <a:pPr algn="ctr">
                <a:lnSpc>
                  <a:spcPts val="2160"/>
                </a:lnSpc>
              </a:pPr>
              <a:r>
                <a:rPr lang="en-US" sz="1800" b="true">
                  <a:solidFill>
                    <a:srgbClr val="000000"/>
                  </a:solidFill>
                  <a:latin typeface="Work Sans Medium"/>
                  <a:ea typeface="Work Sans Medium"/>
                  <a:cs typeface="Work Sans Medium"/>
                  <a:sym typeface="Work Sans Medium"/>
                </a:rPr>
                <a:t>Encoder — Simulator to Bus</a:t>
              </a:r>
            </a:p>
          </p:txBody>
        </p:sp>
      </p:grpSp>
      <p:grpSp>
        <p:nvGrpSpPr>
          <p:cNvPr name="Group 10" id="10"/>
          <p:cNvGrpSpPr/>
          <p:nvPr/>
        </p:nvGrpSpPr>
        <p:grpSpPr>
          <a:xfrm rot="0">
            <a:off x="16784479" y="9491358"/>
            <a:ext cx="697335" cy="357088"/>
            <a:chOff x="0" y="0"/>
            <a:chExt cx="929780" cy="476118"/>
          </a:xfrm>
        </p:grpSpPr>
        <p:sp>
          <p:nvSpPr>
            <p:cNvPr name="Freeform 11" id="11"/>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2" id="12"/>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16</a:t>
              </a:r>
            </a:p>
          </p:txBody>
        </p:sp>
      </p:grpSp>
      <p:grpSp>
        <p:nvGrpSpPr>
          <p:cNvPr name="Group 13" id="13"/>
          <p:cNvGrpSpPr/>
          <p:nvPr/>
        </p:nvGrpSpPr>
        <p:grpSpPr>
          <a:xfrm rot="0">
            <a:off x="15325725" y="9491367"/>
            <a:ext cx="1299210" cy="357073"/>
            <a:chOff x="0" y="0"/>
            <a:chExt cx="1732280" cy="476098"/>
          </a:xfrm>
        </p:grpSpPr>
        <p:sp>
          <p:nvSpPr>
            <p:cNvPr name="Freeform 14" id="14"/>
            <p:cNvSpPr/>
            <p:nvPr/>
          </p:nvSpPr>
          <p:spPr>
            <a:xfrm flipH="false" flipV="false" rot="0">
              <a:off x="0" y="0"/>
              <a:ext cx="1732280" cy="476102"/>
            </a:xfrm>
            <a:custGeom>
              <a:avLst/>
              <a:gdLst/>
              <a:ahLst/>
              <a:cxnLst/>
              <a:rect r="r" b="b" t="t" l="l"/>
              <a:pathLst>
                <a:path h="476102" w="1732280">
                  <a:moveTo>
                    <a:pt x="0" y="0"/>
                  </a:moveTo>
                  <a:lnTo>
                    <a:pt x="1732280" y="0"/>
                  </a:lnTo>
                  <a:lnTo>
                    <a:pt x="1732280" y="476102"/>
                  </a:lnTo>
                  <a:lnTo>
                    <a:pt x="0" y="476102"/>
                  </a:lnTo>
                  <a:close/>
                </a:path>
              </a:pathLst>
            </a:custGeom>
            <a:blipFill>
              <a:blip r:embed="rId3">
                <a:alphaModFix amt="0"/>
              </a:blip>
              <a:stretch>
                <a:fillRect l="0" t="-20896" r="0" b="-20895"/>
              </a:stretch>
            </a:blipFill>
          </p:spPr>
        </p:sp>
        <p:sp>
          <p:nvSpPr>
            <p:cNvPr name="TextBox 15" id="15"/>
            <p:cNvSpPr txBox="true"/>
            <p:nvPr/>
          </p:nvSpPr>
          <p:spPr>
            <a:xfrm>
              <a:off x="0" y="-19050"/>
              <a:ext cx="1732280" cy="49514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6/29/2026</a:t>
              </a:r>
            </a:p>
          </p:txBody>
        </p:sp>
      </p:grpSp>
      <p:sp>
        <p:nvSpPr>
          <p:cNvPr name="AutoShape 16" id="16"/>
          <p:cNvSpPr/>
          <p:nvPr/>
        </p:nvSpPr>
        <p:spPr>
          <a:xfrm flipV="true">
            <a:off x="897626" y="1527452"/>
            <a:ext cx="5429263" cy="0"/>
          </a:xfrm>
          <a:prstGeom prst="line">
            <a:avLst/>
          </a:prstGeom>
          <a:ln cap="flat" w="38100">
            <a:solidFill>
              <a:srgbClr val="753DFF"/>
            </a:solidFill>
            <a:prstDash val="solid"/>
            <a:headEnd type="none" len="sm" w="sm"/>
            <a:tailEnd type="oval" len="lg" w="lg"/>
          </a:ln>
        </p:spPr>
      </p:sp>
      <p:grpSp>
        <p:nvGrpSpPr>
          <p:cNvPr name="Group 17" id="17"/>
          <p:cNvGrpSpPr/>
          <p:nvPr/>
        </p:nvGrpSpPr>
        <p:grpSpPr>
          <a:xfrm rot="0">
            <a:off x="13799459" y="1457087"/>
            <a:ext cx="3052532" cy="8628314"/>
            <a:chOff x="0" y="0"/>
            <a:chExt cx="4564967" cy="12903377"/>
          </a:xfrm>
        </p:grpSpPr>
        <p:sp>
          <p:nvSpPr>
            <p:cNvPr name="Freeform 18" id="18"/>
            <p:cNvSpPr/>
            <p:nvPr/>
          </p:nvSpPr>
          <p:spPr>
            <a:xfrm flipH="false" flipV="false" rot="0">
              <a:off x="0" y="0"/>
              <a:ext cx="4564993" cy="12903326"/>
            </a:xfrm>
            <a:custGeom>
              <a:avLst/>
              <a:gdLst/>
              <a:ahLst/>
              <a:cxnLst/>
              <a:rect r="r" b="b" t="t" l="l"/>
              <a:pathLst>
                <a:path h="12903326" w="4564993">
                  <a:moveTo>
                    <a:pt x="0" y="0"/>
                  </a:moveTo>
                  <a:lnTo>
                    <a:pt x="4564993" y="0"/>
                  </a:lnTo>
                  <a:lnTo>
                    <a:pt x="4564993" y="12903326"/>
                  </a:lnTo>
                  <a:lnTo>
                    <a:pt x="0" y="12903326"/>
                  </a:lnTo>
                  <a:lnTo>
                    <a:pt x="0" y="0"/>
                  </a:lnTo>
                  <a:close/>
                </a:path>
              </a:pathLst>
            </a:custGeom>
            <a:blipFill>
              <a:blip r:embed="rId4"/>
              <a:stretch>
                <a:fillRect l="0" t="-6639" r="0" b="-2899"/>
              </a:stretch>
            </a:blipFill>
          </p:spPr>
        </p:sp>
      </p:grpSp>
      <p:grpSp>
        <p:nvGrpSpPr>
          <p:cNvPr name="Group 19" id="19"/>
          <p:cNvGrpSpPr/>
          <p:nvPr/>
        </p:nvGrpSpPr>
        <p:grpSpPr>
          <a:xfrm rot="0">
            <a:off x="6496934" y="1934823"/>
            <a:ext cx="6318543" cy="7103124"/>
            <a:chOff x="0" y="0"/>
            <a:chExt cx="8424724" cy="9470832"/>
          </a:xfrm>
        </p:grpSpPr>
        <p:grpSp>
          <p:nvGrpSpPr>
            <p:cNvPr name="Group 20" id="20"/>
            <p:cNvGrpSpPr/>
            <p:nvPr/>
          </p:nvGrpSpPr>
          <p:grpSpPr>
            <a:xfrm rot="0">
              <a:off x="0" y="0"/>
              <a:ext cx="8424724" cy="9470832"/>
              <a:chOff x="0" y="0"/>
              <a:chExt cx="8686076" cy="9764636"/>
            </a:xfrm>
          </p:grpSpPr>
          <p:sp>
            <p:nvSpPr>
              <p:cNvPr name="Freeform 21" id="21"/>
              <p:cNvSpPr/>
              <p:nvPr/>
            </p:nvSpPr>
            <p:spPr>
              <a:xfrm flipH="false" flipV="false" rot="0">
                <a:off x="0" y="0"/>
                <a:ext cx="8686038" cy="9764649"/>
              </a:xfrm>
              <a:custGeom>
                <a:avLst/>
                <a:gdLst/>
                <a:ahLst/>
                <a:cxnLst/>
                <a:rect r="r" b="b" t="t" l="l"/>
                <a:pathLst>
                  <a:path h="9764649" w="8686038">
                    <a:moveTo>
                      <a:pt x="0" y="164592"/>
                    </a:moveTo>
                    <a:cubicBezTo>
                      <a:pt x="0" y="73660"/>
                      <a:pt x="73660" y="0"/>
                      <a:pt x="164592" y="0"/>
                    </a:cubicBezTo>
                    <a:lnTo>
                      <a:pt x="8521446" y="0"/>
                    </a:lnTo>
                    <a:cubicBezTo>
                      <a:pt x="8612377" y="0"/>
                      <a:pt x="8686038" y="73660"/>
                      <a:pt x="8686038" y="164592"/>
                    </a:cubicBezTo>
                    <a:lnTo>
                      <a:pt x="8686038" y="9600057"/>
                    </a:lnTo>
                    <a:cubicBezTo>
                      <a:pt x="8686038" y="9690988"/>
                      <a:pt x="8612377" y="9764649"/>
                      <a:pt x="8521446" y="9764649"/>
                    </a:cubicBezTo>
                    <a:lnTo>
                      <a:pt x="164592" y="9764649"/>
                    </a:lnTo>
                    <a:cubicBezTo>
                      <a:pt x="73660" y="9764649"/>
                      <a:pt x="0" y="9690989"/>
                      <a:pt x="0" y="9600057"/>
                    </a:cubicBezTo>
                    <a:close/>
                  </a:path>
                </a:pathLst>
              </a:custGeom>
              <a:solidFill>
                <a:srgbClr val="27292A"/>
              </a:solidFill>
            </p:spPr>
          </p:sp>
        </p:grpSp>
        <p:grpSp>
          <p:nvGrpSpPr>
            <p:cNvPr name="Group 22" id="22"/>
            <p:cNvGrpSpPr/>
            <p:nvPr/>
          </p:nvGrpSpPr>
          <p:grpSpPr>
            <a:xfrm rot="0">
              <a:off x="443443" y="407833"/>
              <a:ext cx="7537837" cy="974184"/>
              <a:chOff x="0" y="0"/>
              <a:chExt cx="7771676" cy="1004405"/>
            </a:xfrm>
          </p:grpSpPr>
          <p:sp>
            <p:nvSpPr>
              <p:cNvPr name="Freeform 23" id="23"/>
              <p:cNvSpPr/>
              <p:nvPr/>
            </p:nvSpPr>
            <p:spPr>
              <a:xfrm flipH="false" flipV="false" rot="0">
                <a:off x="0" y="0"/>
                <a:ext cx="7771680" cy="1004400"/>
              </a:xfrm>
              <a:custGeom>
                <a:avLst/>
                <a:gdLst/>
                <a:ahLst/>
                <a:cxnLst/>
                <a:rect r="r" b="b" t="t" l="l"/>
                <a:pathLst>
                  <a:path h="1004400" w="7771680">
                    <a:moveTo>
                      <a:pt x="0" y="0"/>
                    </a:moveTo>
                    <a:lnTo>
                      <a:pt x="7771680" y="0"/>
                    </a:lnTo>
                    <a:lnTo>
                      <a:pt x="7771680" y="1004400"/>
                    </a:lnTo>
                    <a:lnTo>
                      <a:pt x="0" y="1004400"/>
                    </a:lnTo>
                    <a:close/>
                  </a:path>
                </a:pathLst>
              </a:custGeom>
              <a:blipFill>
                <a:blip r:embed="rId3">
                  <a:alphaModFix amt="0"/>
                </a:blip>
                <a:stretch>
                  <a:fillRect l="0" t="-100767" r="0" b="-100768"/>
                </a:stretch>
              </a:blipFill>
            </p:spPr>
          </p:sp>
          <p:sp>
            <p:nvSpPr>
              <p:cNvPr name="TextBox 24" id="24"/>
              <p:cNvSpPr txBox="true"/>
              <p:nvPr/>
            </p:nvSpPr>
            <p:spPr>
              <a:xfrm>
                <a:off x="0" y="-28575"/>
                <a:ext cx="7771676" cy="1032980"/>
              </a:xfrm>
              <a:prstGeom prst="rect">
                <a:avLst/>
              </a:prstGeom>
            </p:spPr>
            <p:txBody>
              <a:bodyPr anchor="ctr" rtlCol="false" tIns="0" lIns="0" bIns="0" rIns="0"/>
              <a:lstStyle/>
              <a:p>
                <a:pPr algn="l">
                  <a:lnSpc>
                    <a:spcPts val="2380"/>
                  </a:lnSpc>
                </a:pPr>
                <a:r>
                  <a:rPr lang="en-US" b="true" sz="1724" spc="76">
                    <a:solidFill>
                      <a:srgbClr val="00C2A8"/>
                    </a:solidFill>
                    <a:latin typeface="Work Sans Bold"/>
                    <a:ea typeface="Work Sans Bold"/>
                    <a:cs typeface="Work Sans Bold"/>
                    <a:sym typeface="Work Sans Bold"/>
                  </a:rPr>
                  <a:t>THE TWO FORMULAS THAT MUST INVERT EXACTLY</a:t>
                </a:r>
              </a:p>
            </p:txBody>
          </p:sp>
        </p:grpSp>
        <p:grpSp>
          <p:nvGrpSpPr>
            <p:cNvPr name="Group 25" id="25"/>
            <p:cNvGrpSpPr/>
            <p:nvPr/>
          </p:nvGrpSpPr>
          <p:grpSpPr>
            <a:xfrm rot="0">
              <a:off x="443443" y="1596397"/>
              <a:ext cx="7537837" cy="1772382"/>
              <a:chOff x="0" y="0"/>
              <a:chExt cx="7771676" cy="1827365"/>
            </a:xfrm>
          </p:grpSpPr>
          <p:sp>
            <p:nvSpPr>
              <p:cNvPr name="Freeform 26" id="26"/>
              <p:cNvSpPr/>
              <p:nvPr/>
            </p:nvSpPr>
            <p:spPr>
              <a:xfrm flipH="false" flipV="false" rot="0">
                <a:off x="0" y="0"/>
                <a:ext cx="7771638" cy="1827403"/>
              </a:xfrm>
              <a:custGeom>
                <a:avLst/>
                <a:gdLst/>
                <a:ahLst/>
                <a:cxnLst/>
                <a:rect r="r" b="b" t="t" l="l"/>
                <a:pathLst>
                  <a:path h="1827403" w="7771638">
                    <a:moveTo>
                      <a:pt x="0" y="164465"/>
                    </a:moveTo>
                    <a:cubicBezTo>
                      <a:pt x="0" y="73660"/>
                      <a:pt x="73660" y="0"/>
                      <a:pt x="164465" y="0"/>
                    </a:cubicBezTo>
                    <a:lnTo>
                      <a:pt x="7607173" y="0"/>
                    </a:lnTo>
                    <a:cubicBezTo>
                      <a:pt x="7697978" y="0"/>
                      <a:pt x="7771638" y="73660"/>
                      <a:pt x="7771638" y="164465"/>
                    </a:cubicBezTo>
                    <a:lnTo>
                      <a:pt x="7771638" y="1662938"/>
                    </a:lnTo>
                    <a:cubicBezTo>
                      <a:pt x="7771638" y="1753743"/>
                      <a:pt x="7697978" y="1827403"/>
                      <a:pt x="7607173" y="1827403"/>
                    </a:cubicBezTo>
                    <a:lnTo>
                      <a:pt x="164465" y="1827403"/>
                    </a:lnTo>
                    <a:cubicBezTo>
                      <a:pt x="73660" y="1827403"/>
                      <a:pt x="0" y="1753743"/>
                      <a:pt x="0" y="1662938"/>
                    </a:cubicBezTo>
                    <a:close/>
                  </a:path>
                </a:pathLst>
              </a:custGeom>
              <a:solidFill>
                <a:srgbClr val="13304D"/>
              </a:solidFill>
            </p:spPr>
          </p:sp>
        </p:grpSp>
        <p:grpSp>
          <p:nvGrpSpPr>
            <p:cNvPr name="Group 27" id="27"/>
            <p:cNvGrpSpPr/>
            <p:nvPr/>
          </p:nvGrpSpPr>
          <p:grpSpPr>
            <a:xfrm rot="0">
              <a:off x="798198" y="1773774"/>
              <a:ext cx="6917016" cy="442052"/>
              <a:chOff x="0" y="0"/>
              <a:chExt cx="7131596" cy="455765"/>
            </a:xfrm>
          </p:grpSpPr>
          <p:sp>
            <p:nvSpPr>
              <p:cNvPr name="Freeform 28" id="28"/>
              <p:cNvSpPr/>
              <p:nvPr/>
            </p:nvSpPr>
            <p:spPr>
              <a:xfrm flipH="false" flipV="false" rot="0">
                <a:off x="0" y="0"/>
                <a:ext cx="7131600" cy="455760"/>
              </a:xfrm>
              <a:custGeom>
                <a:avLst/>
                <a:gdLst/>
                <a:ahLst/>
                <a:cxnLst/>
                <a:rect r="r" b="b" t="t" l="l"/>
                <a:pathLst>
                  <a:path h="455760" w="7131600">
                    <a:moveTo>
                      <a:pt x="0" y="0"/>
                    </a:moveTo>
                    <a:lnTo>
                      <a:pt x="7131600" y="0"/>
                    </a:lnTo>
                    <a:lnTo>
                      <a:pt x="7131600" y="455760"/>
                    </a:lnTo>
                    <a:lnTo>
                      <a:pt x="0" y="455760"/>
                    </a:lnTo>
                    <a:close/>
                  </a:path>
                </a:pathLst>
              </a:custGeom>
              <a:blipFill>
                <a:blip r:embed="rId3">
                  <a:alphaModFix amt="0"/>
                </a:blip>
                <a:stretch>
                  <a:fillRect l="0" t="-254895" r="0" b="-254896"/>
                </a:stretch>
              </a:blipFill>
            </p:spPr>
          </p:sp>
          <p:sp>
            <p:nvSpPr>
              <p:cNvPr name="TextBox 29" id="29"/>
              <p:cNvSpPr txBox="true"/>
              <p:nvPr/>
            </p:nvSpPr>
            <p:spPr>
              <a:xfrm>
                <a:off x="0" y="-28575"/>
                <a:ext cx="7131596" cy="484340"/>
              </a:xfrm>
              <a:prstGeom prst="rect">
                <a:avLst/>
              </a:prstGeom>
            </p:spPr>
            <p:txBody>
              <a:bodyPr anchor="ctr" rtlCol="false" tIns="0" lIns="0" bIns="0" rIns="0"/>
              <a:lstStyle/>
              <a:p>
                <a:pPr algn="l">
                  <a:lnSpc>
                    <a:spcPts val="1799"/>
                  </a:lnSpc>
                </a:pPr>
                <a:r>
                  <a:rPr lang="en-US" sz="1499">
                    <a:solidFill>
                      <a:srgbClr val="8FA8C2"/>
                    </a:solidFill>
                    <a:latin typeface="Calibri (MS)"/>
                    <a:ea typeface="Calibri (MS)"/>
                    <a:cs typeface="Calibri (MS)"/>
                    <a:sym typeface="Calibri (MS)"/>
                  </a:rPr>
                  <a:t>Decode (raw → physical)</a:t>
                </a:r>
              </a:p>
            </p:txBody>
          </p:sp>
        </p:grpSp>
        <p:grpSp>
          <p:nvGrpSpPr>
            <p:cNvPr name="Group 30" id="30"/>
            <p:cNvGrpSpPr/>
            <p:nvPr/>
          </p:nvGrpSpPr>
          <p:grpSpPr>
            <a:xfrm rot="0">
              <a:off x="798198" y="2217217"/>
              <a:ext cx="6917016" cy="885495"/>
              <a:chOff x="0" y="0"/>
              <a:chExt cx="7131596" cy="912965"/>
            </a:xfrm>
          </p:grpSpPr>
          <p:sp>
            <p:nvSpPr>
              <p:cNvPr name="Freeform 31" id="31"/>
              <p:cNvSpPr/>
              <p:nvPr/>
            </p:nvSpPr>
            <p:spPr>
              <a:xfrm flipH="false" flipV="false" rot="0">
                <a:off x="0" y="0"/>
                <a:ext cx="7131600" cy="912960"/>
              </a:xfrm>
              <a:custGeom>
                <a:avLst/>
                <a:gdLst/>
                <a:ahLst/>
                <a:cxnLst/>
                <a:rect r="r" b="b" t="t" l="l"/>
                <a:pathLst>
                  <a:path h="912960" w="7131600">
                    <a:moveTo>
                      <a:pt x="0" y="0"/>
                    </a:moveTo>
                    <a:lnTo>
                      <a:pt x="7131600" y="0"/>
                    </a:lnTo>
                    <a:lnTo>
                      <a:pt x="7131600" y="912960"/>
                    </a:lnTo>
                    <a:lnTo>
                      <a:pt x="0" y="912960"/>
                    </a:lnTo>
                    <a:close/>
                  </a:path>
                </a:pathLst>
              </a:custGeom>
              <a:blipFill>
                <a:blip r:embed="rId3">
                  <a:alphaModFix amt="0"/>
                </a:blip>
                <a:stretch>
                  <a:fillRect l="0" t="-102207" r="0" b="-102207"/>
                </a:stretch>
              </a:blipFill>
            </p:spPr>
          </p:sp>
          <p:sp>
            <p:nvSpPr>
              <p:cNvPr name="TextBox 32" id="32"/>
              <p:cNvSpPr txBox="true"/>
              <p:nvPr/>
            </p:nvSpPr>
            <p:spPr>
              <a:xfrm>
                <a:off x="0" y="-9525"/>
                <a:ext cx="7131596" cy="922490"/>
              </a:xfrm>
              <a:prstGeom prst="rect">
                <a:avLst/>
              </a:prstGeom>
            </p:spPr>
            <p:txBody>
              <a:bodyPr anchor="ctr" rtlCol="false" tIns="0" lIns="0" bIns="0" rIns="0"/>
              <a:lstStyle/>
              <a:p>
                <a:pPr algn="l">
                  <a:lnSpc>
                    <a:spcPts val="2340"/>
                  </a:lnSpc>
                </a:pPr>
                <a:r>
                  <a:rPr lang="en-US" sz="1950" b="true">
                    <a:solidFill>
                      <a:srgbClr val="FF8A3D"/>
                    </a:solidFill>
                    <a:latin typeface="Courier New Bold"/>
                    <a:ea typeface="Courier New Bold"/>
                    <a:cs typeface="Courier New Bold"/>
                    <a:sym typeface="Courier New Bold"/>
                  </a:rPr>
                  <a:t>physical = (raw × scale) + offset</a:t>
                </a:r>
              </a:p>
            </p:txBody>
          </p:sp>
        </p:grpSp>
        <p:grpSp>
          <p:nvGrpSpPr>
            <p:cNvPr name="Group 33" id="33"/>
            <p:cNvGrpSpPr/>
            <p:nvPr/>
          </p:nvGrpSpPr>
          <p:grpSpPr>
            <a:xfrm rot="0">
              <a:off x="443443" y="3636237"/>
              <a:ext cx="7537837" cy="1772382"/>
              <a:chOff x="0" y="0"/>
              <a:chExt cx="7771676" cy="1827365"/>
            </a:xfrm>
          </p:grpSpPr>
          <p:sp>
            <p:nvSpPr>
              <p:cNvPr name="Freeform 34" id="34"/>
              <p:cNvSpPr/>
              <p:nvPr/>
            </p:nvSpPr>
            <p:spPr>
              <a:xfrm flipH="false" flipV="false" rot="0">
                <a:off x="0" y="0"/>
                <a:ext cx="7771638" cy="1827403"/>
              </a:xfrm>
              <a:custGeom>
                <a:avLst/>
                <a:gdLst/>
                <a:ahLst/>
                <a:cxnLst/>
                <a:rect r="r" b="b" t="t" l="l"/>
                <a:pathLst>
                  <a:path h="1827403" w="7771638">
                    <a:moveTo>
                      <a:pt x="0" y="164465"/>
                    </a:moveTo>
                    <a:cubicBezTo>
                      <a:pt x="0" y="73660"/>
                      <a:pt x="73660" y="0"/>
                      <a:pt x="164465" y="0"/>
                    </a:cubicBezTo>
                    <a:lnTo>
                      <a:pt x="7607173" y="0"/>
                    </a:lnTo>
                    <a:cubicBezTo>
                      <a:pt x="7697978" y="0"/>
                      <a:pt x="7771638" y="73660"/>
                      <a:pt x="7771638" y="164465"/>
                    </a:cubicBezTo>
                    <a:lnTo>
                      <a:pt x="7771638" y="1662938"/>
                    </a:lnTo>
                    <a:cubicBezTo>
                      <a:pt x="7771638" y="1753743"/>
                      <a:pt x="7697978" y="1827403"/>
                      <a:pt x="7607173" y="1827403"/>
                    </a:cubicBezTo>
                    <a:lnTo>
                      <a:pt x="164465" y="1827403"/>
                    </a:lnTo>
                    <a:cubicBezTo>
                      <a:pt x="73660" y="1827403"/>
                      <a:pt x="0" y="1753743"/>
                      <a:pt x="0" y="1662938"/>
                    </a:cubicBezTo>
                    <a:close/>
                  </a:path>
                </a:pathLst>
              </a:custGeom>
              <a:solidFill>
                <a:srgbClr val="13304D"/>
              </a:solidFill>
            </p:spPr>
          </p:sp>
        </p:grpSp>
        <p:grpSp>
          <p:nvGrpSpPr>
            <p:cNvPr name="Group 35" id="35"/>
            <p:cNvGrpSpPr/>
            <p:nvPr/>
          </p:nvGrpSpPr>
          <p:grpSpPr>
            <a:xfrm rot="0">
              <a:off x="798198" y="3813614"/>
              <a:ext cx="6917016" cy="442052"/>
              <a:chOff x="0" y="0"/>
              <a:chExt cx="7131596" cy="455765"/>
            </a:xfrm>
          </p:grpSpPr>
          <p:sp>
            <p:nvSpPr>
              <p:cNvPr name="Freeform 36" id="36"/>
              <p:cNvSpPr/>
              <p:nvPr/>
            </p:nvSpPr>
            <p:spPr>
              <a:xfrm flipH="false" flipV="false" rot="0">
                <a:off x="0" y="0"/>
                <a:ext cx="7131600" cy="455760"/>
              </a:xfrm>
              <a:custGeom>
                <a:avLst/>
                <a:gdLst/>
                <a:ahLst/>
                <a:cxnLst/>
                <a:rect r="r" b="b" t="t" l="l"/>
                <a:pathLst>
                  <a:path h="455760" w="7131600">
                    <a:moveTo>
                      <a:pt x="0" y="0"/>
                    </a:moveTo>
                    <a:lnTo>
                      <a:pt x="7131600" y="0"/>
                    </a:lnTo>
                    <a:lnTo>
                      <a:pt x="7131600" y="455760"/>
                    </a:lnTo>
                    <a:lnTo>
                      <a:pt x="0" y="455760"/>
                    </a:lnTo>
                    <a:close/>
                  </a:path>
                </a:pathLst>
              </a:custGeom>
              <a:blipFill>
                <a:blip r:embed="rId3">
                  <a:alphaModFix amt="0"/>
                </a:blip>
                <a:stretch>
                  <a:fillRect l="0" t="-254895" r="0" b="-254896"/>
                </a:stretch>
              </a:blipFill>
            </p:spPr>
          </p:sp>
          <p:sp>
            <p:nvSpPr>
              <p:cNvPr name="TextBox 37" id="37"/>
              <p:cNvSpPr txBox="true"/>
              <p:nvPr/>
            </p:nvSpPr>
            <p:spPr>
              <a:xfrm>
                <a:off x="0" y="-28575"/>
                <a:ext cx="7131596" cy="484340"/>
              </a:xfrm>
              <a:prstGeom prst="rect">
                <a:avLst/>
              </a:prstGeom>
            </p:spPr>
            <p:txBody>
              <a:bodyPr anchor="ctr" rtlCol="false" tIns="0" lIns="0" bIns="0" rIns="0"/>
              <a:lstStyle/>
              <a:p>
                <a:pPr algn="l">
                  <a:lnSpc>
                    <a:spcPts val="1799"/>
                  </a:lnSpc>
                </a:pPr>
                <a:r>
                  <a:rPr lang="en-US" sz="1499">
                    <a:solidFill>
                      <a:srgbClr val="8FA8C2"/>
                    </a:solidFill>
                    <a:latin typeface="Calibri (MS)"/>
                    <a:ea typeface="Calibri (MS)"/>
                    <a:cs typeface="Calibri (MS)"/>
                    <a:sym typeface="Calibri (MS)"/>
                  </a:rPr>
                  <a:t>Encode (physical → raw)</a:t>
                </a:r>
              </a:p>
            </p:txBody>
          </p:sp>
        </p:grpSp>
        <p:grpSp>
          <p:nvGrpSpPr>
            <p:cNvPr name="Group 38" id="38"/>
            <p:cNvGrpSpPr/>
            <p:nvPr/>
          </p:nvGrpSpPr>
          <p:grpSpPr>
            <a:xfrm rot="0">
              <a:off x="798198" y="4257057"/>
              <a:ext cx="6917016" cy="885495"/>
              <a:chOff x="0" y="0"/>
              <a:chExt cx="7131596" cy="912965"/>
            </a:xfrm>
          </p:grpSpPr>
          <p:sp>
            <p:nvSpPr>
              <p:cNvPr name="Freeform 39" id="39"/>
              <p:cNvSpPr/>
              <p:nvPr/>
            </p:nvSpPr>
            <p:spPr>
              <a:xfrm flipH="false" flipV="false" rot="0">
                <a:off x="0" y="0"/>
                <a:ext cx="7131600" cy="912960"/>
              </a:xfrm>
              <a:custGeom>
                <a:avLst/>
                <a:gdLst/>
                <a:ahLst/>
                <a:cxnLst/>
                <a:rect r="r" b="b" t="t" l="l"/>
                <a:pathLst>
                  <a:path h="912960" w="7131600">
                    <a:moveTo>
                      <a:pt x="0" y="0"/>
                    </a:moveTo>
                    <a:lnTo>
                      <a:pt x="7131600" y="0"/>
                    </a:lnTo>
                    <a:lnTo>
                      <a:pt x="7131600" y="912960"/>
                    </a:lnTo>
                    <a:lnTo>
                      <a:pt x="0" y="912960"/>
                    </a:lnTo>
                    <a:close/>
                  </a:path>
                </a:pathLst>
              </a:custGeom>
              <a:blipFill>
                <a:blip r:embed="rId3">
                  <a:alphaModFix amt="0"/>
                </a:blip>
                <a:stretch>
                  <a:fillRect l="0" t="-102207" r="0" b="-102207"/>
                </a:stretch>
              </a:blipFill>
            </p:spPr>
          </p:sp>
          <p:sp>
            <p:nvSpPr>
              <p:cNvPr name="TextBox 40" id="40"/>
              <p:cNvSpPr txBox="true"/>
              <p:nvPr/>
            </p:nvSpPr>
            <p:spPr>
              <a:xfrm>
                <a:off x="0" y="-9525"/>
                <a:ext cx="7131596" cy="922490"/>
              </a:xfrm>
              <a:prstGeom prst="rect">
                <a:avLst/>
              </a:prstGeom>
            </p:spPr>
            <p:txBody>
              <a:bodyPr anchor="ctr" rtlCol="false" tIns="0" lIns="0" bIns="0" rIns="0"/>
              <a:lstStyle/>
              <a:p>
                <a:pPr algn="l">
                  <a:lnSpc>
                    <a:spcPts val="2340"/>
                  </a:lnSpc>
                </a:pPr>
                <a:r>
                  <a:rPr lang="en-US" sz="1950" b="true">
                    <a:solidFill>
                      <a:srgbClr val="00C2A8"/>
                    </a:solidFill>
                    <a:latin typeface="Courier New Bold"/>
                    <a:ea typeface="Courier New Bold"/>
                    <a:cs typeface="Courier New Bold"/>
                    <a:sym typeface="Courier New Bold"/>
                  </a:rPr>
                  <a:t>raw = (physical − offset) / scale</a:t>
                </a:r>
              </a:p>
            </p:txBody>
          </p:sp>
        </p:grpSp>
        <p:grpSp>
          <p:nvGrpSpPr>
            <p:cNvPr name="Group 41" id="41"/>
            <p:cNvGrpSpPr/>
            <p:nvPr/>
          </p:nvGrpSpPr>
          <p:grpSpPr>
            <a:xfrm rot="0">
              <a:off x="487788" y="5618022"/>
              <a:ext cx="7537837" cy="2659269"/>
              <a:chOff x="0" y="0"/>
              <a:chExt cx="7771676" cy="2741765"/>
            </a:xfrm>
          </p:grpSpPr>
          <p:sp>
            <p:nvSpPr>
              <p:cNvPr name="Freeform 42" id="42"/>
              <p:cNvSpPr/>
              <p:nvPr/>
            </p:nvSpPr>
            <p:spPr>
              <a:xfrm flipH="false" flipV="false" rot="0">
                <a:off x="0" y="0"/>
                <a:ext cx="7771680" cy="2741760"/>
              </a:xfrm>
              <a:custGeom>
                <a:avLst/>
                <a:gdLst/>
                <a:ahLst/>
                <a:cxnLst/>
                <a:rect r="r" b="b" t="t" l="l"/>
                <a:pathLst>
                  <a:path h="2741760" w="7771680">
                    <a:moveTo>
                      <a:pt x="0" y="0"/>
                    </a:moveTo>
                    <a:lnTo>
                      <a:pt x="7771680" y="0"/>
                    </a:lnTo>
                    <a:lnTo>
                      <a:pt x="7771680" y="2741760"/>
                    </a:lnTo>
                    <a:lnTo>
                      <a:pt x="0" y="2741760"/>
                    </a:lnTo>
                    <a:close/>
                  </a:path>
                </a:pathLst>
              </a:custGeom>
              <a:blipFill>
                <a:blip r:embed="rId3">
                  <a:alphaModFix amt="0"/>
                </a:blip>
                <a:stretch>
                  <a:fillRect l="0" t="-5231" r="0" b="-5231"/>
                </a:stretch>
              </a:blipFill>
            </p:spPr>
          </p:sp>
          <p:sp>
            <p:nvSpPr>
              <p:cNvPr name="TextBox 43" id="43"/>
              <p:cNvSpPr txBox="true"/>
              <p:nvPr/>
            </p:nvSpPr>
            <p:spPr>
              <a:xfrm>
                <a:off x="0" y="-57150"/>
                <a:ext cx="7771676" cy="2798915"/>
              </a:xfrm>
              <a:prstGeom prst="rect">
                <a:avLst/>
              </a:prstGeom>
            </p:spPr>
            <p:txBody>
              <a:bodyPr anchor="ctr" rtlCol="false" tIns="0" lIns="0" bIns="0" rIns="0"/>
              <a:lstStyle/>
              <a:p>
                <a:pPr algn="l">
                  <a:lnSpc>
                    <a:spcPts val="2690"/>
                  </a:lnSpc>
                </a:pPr>
                <a:r>
                  <a:rPr lang="en-US" sz="1724" b="true">
                    <a:solidFill>
                      <a:srgbClr val="FFFFFF"/>
                    </a:solidFill>
                    <a:latin typeface="Work Sans Bold"/>
                    <a:ea typeface="Work Sans Bold"/>
                    <a:cs typeface="Work Sans Bold"/>
                    <a:sym typeface="Work Sans Bold"/>
                  </a:rPr>
                  <a:t>Worked example — Vspeed</a:t>
                </a:r>
              </a:p>
              <a:p>
                <a:pPr algn="l">
                  <a:lnSpc>
                    <a:spcPts val="2457"/>
                  </a:lnSpc>
                </a:pPr>
                <a:r>
                  <a:rPr lang="en-US" sz="1575">
                    <a:solidFill>
                      <a:srgbClr val="8FA8C2"/>
                    </a:solidFill>
                    <a:latin typeface="Work Sans"/>
                    <a:ea typeface="Work Sans"/>
                    <a:cs typeface="Work Sans"/>
                    <a:sym typeface="Work Sans"/>
                  </a:rPr>
                  <a:t>Physical = 65.0 km/h, scale = 1.0, offset = 0</a:t>
                </a:r>
              </a:p>
              <a:p>
                <a:pPr algn="l">
                  <a:lnSpc>
                    <a:spcPts val="2457"/>
                  </a:lnSpc>
                </a:pPr>
                <a:r>
                  <a:rPr lang="en-US" sz="1575">
                    <a:solidFill>
                      <a:srgbClr val="FF8A3D"/>
                    </a:solidFill>
                    <a:latin typeface="Work Sans"/>
                    <a:ea typeface="Work Sans"/>
                    <a:cs typeface="Work Sans"/>
                    <a:sym typeface="Work Sans"/>
                  </a:rPr>
                  <a:t>→ raw = 65 = 0x41 → data[0] = 0x41</a:t>
                </a:r>
              </a:p>
              <a:p>
                <a:pPr algn="l">
                  <a:lnSpc>
                    <a:spcPts val="2457"/>
                  </a:lnSpc>
                </a:pPr>
                <a:r>
                  <a:rPr lang="en-US" sz="1575">
                    <a:solidFill>
                      <a:srgbClr val="00C2A8"/>
                    </a:solidFill>
                    <a:latin typeface="Work Sans"/>
                    <a:ea typeface="Work Sans"/>
                    <a:cs typeface="Work Sans"/>
                    <a:sym typeface="Work Sans"/>
                  </a:rPr>
                  <a:t>→ decode: 0x41 × 1.0 + 0 = 65.0 km/h </a:t>
                </a:r>
              </a:p>
            </p:txBody>
          </p:sp>
        </p:grpSp>
        <p:grpSp>
          <p:nvGrpSpPr>
            <p:cNvPr name="Group 44" id="44"/>
            <p:cNvGrpSpPr/>
            <p:nvPr/>
          </p:nvGrpSpPr>
          <p:grpSpPr>
            <a:xfrm rot="0">
              <a:off x="443443" y="8070671"/>
              <a:ext cx="7537837" cy="708118"/>
              <a:chOff x="0" y="0"/>
              <a:chExt cx="7771676" cy="730085"/>
            </a:xfrm>
          </p:grpSpPr>
          <p:sp>
            <p:nvSpPr>
              <p:cNvPr name="Freeform 45" id="45"/>
              <p:cNvSpPr/>
              <p:nvPr/>
            </p:nvSpPr>
            <p:spPr>
              <a:xfrm flipH="false" flipV="false" rot="0">
                <a:off x="0" y="0"/>
                <a:ext cx="7771680" cy="730080"/>
              </a:xfrm>
              <a:custGeom>
                <a:avLst/>
                <a:gdLst/>
                <a:ahLst/>
                <a:cxnLst/>
                <a:rect r="r" b="b" t="t" l="l"/>
                <a:pathLst>
                  <a:path h="730080" w="7771680">
                    <a:moveTo>
                      <a:pt x="0" y="0"/>
                    </a:moveTo>
                    <a:lnTo>
                      <a:pt x="7771680" y="0"/>
                    </a:lnTo>
                    <a:lnTo>
                      <a:pt x="7771680" y="730080"/>
                    </a:lnTo>
                    <a:lnTo>
                      <a:pt x="0" y="730080"/>
                    </a:lnTo>
                    <a:close/>
                  </a:path>
                </a:pathLst>
              </a:custGeom>
              <a:blipFill>
                <a:blip r:embed="rId3">
                  <a:alphaModFix amt="0"/>
                </a:blip>
                <a:stretch>
                  <a:fillRect l="0" t="-157417" r="0" b="-157417"/>
                </a:stretch>
              </a:blipFill>
            </p:spPr>
          </p:sp>
          <p:sp>
            <p:nvSpPr>
              <p:cNvPr name="TextBox 46" id="46"/>
              <p:cNvSpPr txBox="true"/>
              <p:nvPr/>
            </p:nvSpPr>
            <p:spPr>
              <a:xfrm>
                <a:off x="0" y="-38100"/>
                <a:ext cx="7771676" cy="768185"/>
              </a:xfrm>
              <a:prstGeom prst="rect">
                <a:avLst/>
              </a:prstGeom>
            </p:spPr>
            <p:txBody>
              <a:bodyPr anchor="ctr" rtlCol="false" tIns="0" lIns="0" bIns="0" rIns="0"/>
              <a:lstStyle/>
              <a:p>
                <a:pPr algn="l">
                  <a:lnSpc>
                    <a:spcPts val="1709"/>
                  </a:lnSpc>
                </a:pPr>
                <a:r>
                  <a:rPr lang="en-US" sz="1424" i="true">
                    <a:solidFill>
                      <a:srgbClr val="8FA8C2"/>
                    </a:solidFill>
                    <a:latin typeface="Calibri (MS) Italics"/>
                    <a:ea typeface="Calibri (MS) Italics"/>
                    <a:cs typeface="Calibri (MS) Italics"/>
                    <a:sym typeface="Calibri (MS) Italics"/>
                  </a:rPr>
                  <a:t>cantools.encode()/decode() handle the bit-level packing — start_bit, length, byte order (Intel/Motorola) — for every signal in the DBC.</a:t>
                </a:r>
              </a:p>
            </p:txBody>
          </p:sp>
        </p:grpSp>
      </p:grpSp>
      <p:grpSp>
        <p:nvGrpSpPr>
          <p:cNvPr name="Group 47" id="47"/>
          <p:cNvGrpSpPr/>
          <p:nvPr/>
        </p:nvGrpSpPr>
        <p:grpSpPr>
          <a:xfrm rot="0">
            <a:off x="13950701" y="188865"/>
            <a:ext cx="3531112" cy="688007"/>
            <a:chOff x="0" y="0"/>
            <a:chExt cx="4708150" cy="917342"/>
          </a:xfrm>
        </p:grpSpPr>
        <p:sp>
          <p:nvSpPr>
            <p:cNvPr name="Freeform 48" id="48"/>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5"/>
              <a:stretch>
                <a:fillRect l="0" t="-1644" r="0" b="-1644"/>
              </a:stretch>
            </a:blipFill>
            <a:ln cap="sq">
              <a:noFill/>
              <a:prstDash val="solid"/>
              <a:miter/>
            </a:ln>
          </p:spPr>
        </p:sp>
        <p:sp>
          <p:nvSpPr>
            <p:cNvPr name="TextBox 49" id="49"/>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4/8</a:t>
              </a:r>
            </a:p>
          </p:txBody>
        </p:sp>
      </p:grpSp>
      <p:grpSp>
        <p:nvGrpSpPr>
          <p:cNvPr name="Group 50" id="50"/>
          <p:cNvGrpSpPr/>
          <p:nvPr/>
        </p:nvGrpSpPr>
        <p:grpSpPr>
          <a:xfrm rot="0">
            <a:off x="933450" y="2397924"/>
            <a:ext cx="4478208" cy="6831393"/>
            <a:chOff x="0" y="0"/>
            <a:chExt cx="6516916" cy="9941389"/>
          </a:xfrm>
        </p:grpSpPr>
        <p:sp>
          <p:nvSpPr>
            <p:cNvPr name="Freeform 51" id="51"/>
            <p:cNvSpPr/>
            <p:nvPr/>
          </p:nvSpPr>
          <p:spPr>
            <a:xfrm flipH="false" flipV="false" rot="0">
              <a:off x="0" y="0"/>
              <a:ext cx="6517005" cy="9941415"/>
            </a:xfrm>
            <a:custGeom>
              <a:avLst/>
              <a:gdLst/>
              <a:ahLst/>
              <a:cxnLst/>
              <a:rect r="r" b="b" t="t" l="l"/>
              <a:pathLst>
                <a:path h="9941415" w="6517005">
                  <a:moveTo>
                    <a:pt x="0" y="168562"/>
                  </a:moveTo>
                  <a:cubicBezTo>
                    <a:pt x="0" y="75406"/>
                    <a:pt x="73914" y="0"/>
                    <a:pt x="165227" y="0"/>
                  </a:cubicBezTo>
                  <a:lnTo>
                    <a:pt x="6351778" y="0"/>
                  </a:lnTo>
                  <a:cubicBezTo>
                    <a:pt x="6442964" y="0"/>
                    <a:pt x="6517005" y="75406"/>
                    <a:pt x="6517005" y="168562"/>
                  </a:cubicBezTo>
                  <a:lnTo>
                    <a:pt x="6517005" y="9772853"/>
                  </a:lnTo>
                  <a:cubicBezTo>
                    <a:pt x="6517005" y="9865879"/>
                    <a:pt x="6443091" y="9941415"/>
                    <a:pt x="6351778" y="9941415"/>
                  </a:cubicBezTo>
                  <a:lnTo>
                    <a:pt x="165227" y="9941415"/>
                  </a:lnTo>
                  <a:cubicBezTo>
                    <a:pt x="73914" y="9941415"/>
                    <a:pt x="0" y="9865879"/>
                    <a:pt x="0" y="9772853"/>
                  </a:cubicBezTo>
                  <a:close/>
                </a:path>
              </a:pathLst>
            </a:custGeom>
            <a:blipFill>
              <a:blip r:embed="rId6"/>
              <a:stretch>
                <a:fillRect l="0" t="-22592" r="0" b="-22592"/>
              </a:stretch>
            </a:blipFill>
            <a:ln w="19050" cap="sq">
              <a:solidFill>
                <a:srgbClr val="D7E1EA"/>
              </a:solidFill>
              <a:prstDash val="solid"/>
              <a:miter/>
            </a:ln>
          </p:spPr>
        </p:sp>
      </p:grpSp>
      <p:grpSp>
        <p:nvGrpSpPr>
          <p:cNvPr name="Group 52" id="52"/>
          <p:cNvGrpSpPr/>
          <p:nvPr/>
        </p:nvGrpSpPr>
        <p:grpSpPr>
          <a:xfrm rot="0">
            <a:off x="926309" y="9491358"/>
            <a:ext cx="2807304" cy="493053"/>
            <a:chOff x="0" y="0"/>
            <a:chExt cx="3743072" cy="657404"/>
          </a:xfrm>
        </p:grpSpPr>
        <p:sp>
          <p:nvSpPr>
            <p:cNvPr name="Freeform 53" id="53"/>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4" id="54"/>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55" id="55"/>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926309" y="1538112"/>
            <a:ext cx="7685856" cy="1400175"/>
          </a:xfrm>
          <a:prstGeom prst="rect">
            <a:avLst/>
          </a:prstGeom>
        </p:spPr>
        <p:txBody>
          <a:bodyPr anchor="t" rtlCol="false" tIns="0" lIns="0" bIns="0" rIns="0">
            <a:spAutoFit/>
          </a:bodyPr>
          <a:lstStyle/>
          <a:p>
            <a:pPr algn="l">
              <a:lnSpc>
                <a:spcPts val="5519"/>
              </a:lnSpc>
            </a:pPr>
            <a:r>
              <a:rPr lang="en-US" b="true" sz="4599" spc="-32">
                <a:solidFill>
                  <a:srgbClr val="E6E7E8"/>
                </a:solidFill>
                <a:latin typeface="Work Sans Medium"/>
                <a:ea typeface="Work Sans Medium"/>
                <a:cs typeface="Work Sans Medium"/>
                <a:sym typeface="Work Sans Medium"/>
              </a:rPr>
              <a:t>Simulator — Per-Sign</a:t>
            </a:r>
            <a:r>
              <a:rPr lang="en-US" b="true" sz="4599" spc="-32">
                <a:solidFill>
                  <a:srgbClr val="E6E7E8"/>
                </a:solidFill>
                <a:latin typeface="Work Sans Medium"/>
                <a:ea typeface="Work Sans Medium"/>
                <a:cs typeface="Work Sans Medium"/>
                <a:sym typeface="Work Sans Medium"/>
              </a:rPr>
              <a:t>al Generation Logic</a:t>
            </a:r>
          </a:p>
        </p:txBody>
      </p:sp>
      <p:grpSp>
        <p:nvGrpSpPr>
          <p:cNvPr name="Group 4" id="4"/>
          <p:cNvGrpSpPr/>
          <p:nvPr/>
        </p:nvGrpSpPr>
        <p:grpSpPr>
          <a:xfrm rot="0">
            <a:off x="16784479" y="9491358"/>
            <a:ext cx="697335" cy="357088"/>
            <a:chOff x="0" y="0"/>
            <a:chExt cx="929780" cy="476118"/>
          </a:xfrm>
        </p:grpSpPr>
        <p:sp>
          <p:nvSpPr>
            <p:cNvPr name="Freeform 5" id="5"/>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6" id="6"/>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17</a:t>
              </a:r>
            </a:p>
          </p:txBody>
        </p:sp>
      </p:grpSp>
      <p:sp>
        <p:nvSpPr>
          <p:cNvPr name="TextBox 7" id="7"/>
          <p:cNvSpPr txBox="true"/>
          <p:nvPr/>
        </p:nvSpPr>
        <p:spPr>
          <a:xfrm rot="0">
            <a:off x="933450" y="590393"/>
            <a:ext cx="6203236" cy="693371"/>
          </a:xfrm>
          <a:prstGeom prst="rect">
            <a:avLst/>
          </a:prstGeom>
        </p:spPr>
        <p:txBody>
          <a:bodyPr anchor="t" rtlCol="false" tIns="0" lIns="0" bIns="0" rIns="0">
            <a:spAutoFit/>
          </a:bodyPr>
          <a:lstStyle/>
          <a:p>
            <a:pPr algn="l">
              <a:lnSpc>
                <a:spcPts val="2692"/>
              </a:lnSpc>
            </a:pPr>
            <a:r>
              <a:rPr lang="en-US" sz="2243" b="true">
                <a:solidFill>
                  <a:srgbClr val="FFFFFF"/>
                </a:solidFill>
                <a:latin typeface="Work Sans Medium"/>
                <a:ea typeface="Work Sans Medium"/>
                <a:cs typeface="Work Sans Medium"/>
                <a:sym typeface="Work Sans Medium"/>
              </a:rPr>
              <a:t>SUBSYST</a:t>
            </a:r>
            <a:r>
              <a:rPr lang="en-US" sz="2243" b="true">
                <a:solidFill>
                  <a:srgbClr val="FFFFFF"/>
                </a:solidFill>
                <a:latin typeface="Work Sans Medium"/>
                <a:ea typeface="Work Sans Medium"/>
                <a:cs typeface="Work Sans Medium"/>
                <a:sym typeface="Work Sans Medium"/>
              </a:rPr>
              <a:t>EM IMPLEMENTATION</a:t>
            </a:r>
          </a:p>
          <a:p>
            <a:pPr algn="l">
              <a:lnSpc>
                <a:spcPts val="2692"/>
              </a:lnSpc>
            </a:pPr>
            <a:r>
              <a:rPr lang="en-US" sz="2243" b="true">
                <a:solidFill>
                  <a:srgbClr val="FFFFFF"/>
                </a:solidFill>
                <a:latin typeface="Work Sans Medium"/>
                <a:ea typeface="Work Sans Medium"/>
                <a:cs typeface="Work Sans Medium"/>
                <a:sym typeface="Work Sans Medium"/>
              </a:rPr>
              <a:t> · LOW-LEVEL DESIGN</a:t>
            </a:r>
          </a:p>
        </p:txBody>
      </p:sp>
      <p:sp>
        <p:nvSpPr>
          <p:cNvPr name="TextBox 8" id="8"/>
          <p:cNvSpPr txBox="true"/>
          <p:nvPr/>
        </p:nvSpPr>
        <p:spPr>
          <a:xfrm rot="0">
            <a:off x="2814752" y="3509787"/>
            <a:ext cx="5904567" cy="390144"/>
          </a:xfrm>
          <a:prstGeom prst="rect">
            <a:avLst/>
          </a:prstGeom>
        </p:spPr>
        <p:txBody>
          <a:bodyPr anchor="t" rtlCol="false" tIns="0" lIns="0" bIns="0" rIns="0">
            <a:spAutoFit/>
          </a:bodyPr>
          <a:lstStyle/>
          <a:p>
            <a:pPr algn="l">
              <a:lnSpc>
                <a:spcPts val="3078"/>
              </a:lnSpc>
            </a:pPr>
            <a:r>
              <a:rPr lang="en-US" sz="2250">
                <a:solidFill>
                  <a:srgbClr val="FFFFFF"/>
                </a:solidFill>
                <a:latin typeface="Work Sans"/>
                <a:ea typeface="Work Sans"/>
                <a:cs typeface="Work Sans"/>
                <a:sym typeface="Work Sans"/>
              </a:rPr>
              <a:t>INITIALIZATION</a:t>
            </a:r>
          </a:p>
        </p:txBody>
      </p:sp>
      <p:sp>
        <p:nvSpPr>
          <p:cNvPr name="TextBox 9" id="9"/>
          <p:cNvSpPr txBox="true"/>
          <p:nvPr/>
        </p:nvSpPr>
        <p:spPr>
          <a:xfrm rot="0">
            <a:off x="2814752" y="6635768"/>
            <a:ext cx="5904567" cy="390144"/>
          </a:xfrm>
          <a:prstGeom prst="rect">
            <a:avLst/>
          </a:prstGeom>
        </p:spPr>
        <p:txBody>
          <a:bodyPr anchor="t" rtlCol="false" tIns="0" lIns="0" bIns="0" rIns="0">
            <a:spAutoFit/>
          </a:bodyPr>
          <a:lstStyle/>
          <a:p>
            <a:pPr algn="l">
              <a:lnSpc>
                <a:spcPts val="3078"/>
              </a:lnSpc>
            </a:pPr>
            <a:r>
              <a:rPr lang="en-US" sz="2250">
                <a:solidFill>
                  <a:srgbClr val="FFFFFF"/>
                </a:solidFill>
                <a:latin typeface="Work Sans"/>
                <a:ea typeface="Work Sans"/>
                <a:cs typeface="Work Sans"/>
                <a:sym typeface="Work Sans"/>
              </a:rPr>
              <a:t>DIAGNOSTIC PROCESSING</a:t>
            </a:r>
          </a:p>
        </p:txBody>
      </p:sp>
      <p:sp>
        <p:nvSpPr>
          <p:cNvPr name="Freeform 10" id="10"/>
          <p:cNvSpPr/>
          <p:nvPr/>
        </p:nvSpPr>
        <p:spPr>
          <a:xfrm flipH="false" flipV="false" rot="0">
            <a:off x="926309" y="3557412"/>
            <a:ext cx="1421006" cy="1421006"/>
          </a:xfrm>
          <a:custGeom>
            <a:avLst/>
            <a:gdLst/>
            <a:ahLst/>
            <a:cxnLst/>
            <a:rect r="r" b="b" t="t" l="l"/>
            <a:pathLst>
              <a:path h="1421006" w="1421006">
                <a:moveTo>
                  <a:pt x="0" y="0"/>
                </a:moveTo>
                <a:lnTo>
                  <a:pt x="1421007" y="0"/>
                </a:lnTo>
                <a:lnTo>
                  <a:pt x="1421007" y="1421006"/>
                </a:lnTo>
                <a:lnTo>
                  <a:pt x="0" y="1421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930631" y="6683393"/>
            <a:ext cx="1421006" cy="1421006"/>
          </a:xfrm>
          <a:custGeom>
            <a:avLst/>
            <a:gdLst/>
            <a:ahLst/>
            <a:cxnLst/>
            <a:rect r="r" b="b" t="t" l="l"/>
            <a:pathLst>
              <a:path h="1421006" w="1421006">
                <a:moveTo>
                  <a:pt x="0" y="0"/>
                </a:moveTo>
                <a:lnTo>
                  <a:pt x="1421006" y="0"/>
                </a:lnTo>
                <a:lnTo>
                  <a:pt x="1421006" y="1421006"/>
                </a:lnTo>
                <a:lnTo>
                  <a:pt x="0" y="14210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4739471" y="253835"/>
            <a:ext cx="3531112" cy="688007"/>
            <a:chOff x="0" y="0"/>
            <a:chExt cx="4708150" cy="917342"/>
          </a:xfrm>
        </p:grpSpPr>
        <p:sp>
          <p:nvSpPr>
            <p:cNvPr name="Freeform 13" id="13"/>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8"/>
              <a:stretch>
                <a:fillRect l="0" t="-1644" r="0" b="-1644"/>
              </a:stretch>
            </a:blipFill>
            <a:ln cap="sq">
              <a:noFill/>
              <a:prstDash val="solid"/>
              <a:miter/>
            </a:ln>
          </p:spPr>
        </p:sp>
        <p:sp>
          <p:nvSpPr>
            <p:cNvPr name="TextBox 14" id="14"/>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4/8</a:t>
              </a:r>
            </a:p>
          </p:txBody>
        </p:sp>
      </p:grpSp>
      <p:sp>
        <p:nvSpPr>
          <p:cNvPr name="TextBox 15" id="15"/>
          <p:cNvSpPr txBox="true"/>
          <p:nvPr/>
        </p:nvSpPr>
        <p:spPr>
          <a:xfrm rot="0">
            <a:off x="2814752" y="4004706"/>
            <a:ext cx="5633490" cy="1572614"/>
          </a:xfrm>
          <a:prstGeom prst="rect">
            <a:avLst/>
          </a:prstGeom>
        </p:spPr>
        <p:txBody>
          <a:bodyPr anchor="t" rtlCol="false" tIns="0" lIns="0" bIns="0" rIns="0">
            <a:spAutoFit/>
          </a:bodyPr>
          <a:lstStyle/>
          <a:p>
            <a:pPr algn="l" marL="388630" indent="-194315" lvl="1">
              <a:lnSpc>
                <a:spcPts val="2527"/>
              </a:lnSpc>
              <a:buFont typeface="Arial"/>
              <a:buChar char="•"/>
            </a:pPr>
            <a:r>
              <a:rPr lang="en-US" sz="1800">
                <a:solidFill>
                  <a:srgbClr val="FFFFFF"/>
                </a:solidFill>
                <a:latin typeface="Work Sans"/>
                <a:ea typeface="Work Sans"/>
                <a:cs typeface="Work Sans"/>
                <a:sym typeface="Work Sans"/>
              </a:rPr>
              <a:t>Configure CAN communication</a:t>
            </a:r>
          </a:p>
          <a:p>
            <a:pPr algn="l" marL="388630" indent="-194315" lvl="1">
              <a:lnSpc>
                <a:spcPts val="2527"/>
              </a:lnSpc>
              <a:buFont typeface="Arial"/>
              <a:buChar char="•"/>
            </a:pPr>
            <a:r>
              <a:rPr lang="en-US" sz="1800">
                <a:solidFill>
                  <a:srgbClr val="FFFFFF"/>
                </a:solidFill>
                <a:latin typeface="Work Sans"/>
                <a:ea typeface="Work Sans"/>
                <a:cs typeface="Work Sans"/>
                <a:sym typeface="Work Sans"/>
              </a:rPr>
              <a:t>Initialize transport &amp; background services</a:t>
            </a:r>
          </a:p>
          <a:p>
            <a:pPr algn="l" marL="388630" indent="-194315" lvl="1">
              <a:lnSpc>
                <a:spcPts val="2527"/>
              </a:lnSpc>
              <a:buFont typeface="Arial"/>
              <a:buChar char="•"/>
            </a:pPr>
            <a:r>
              <a:rPr lang="en-US" sz="1800">
                <a:solidFill>
                  <a:srgbClr val="FFFFFF"/>
                </a:solidFill>
                <a:latin typeface="Work Sans"/>
                <a:ea typeface="Work Sans"/>
                <a:cs typeface="Work Sans"/>
                <a:sym typeface="Work Sans"/>
              </a:rPr>
              <a:t>Load vehicle state</a:t>
            </a:r>
          </a:p>
          <a:p>
            <a:pPr algn="l" marL="388630" indent="-194315" lvl="1">
              <a:lnSpc>
                <a:spcPts val="2527"/>
              </a:lnSpc>
              <a:buFont typeface="Arial"/>
              <a:buChar char="•"/>
            </a:pPr>
            <a:r>
              <a:rPr lang="en-US" sz="1800">
                <a:solidFill>
                  <a:srgbClr val="FFFFFF"/>
                </a:solidFill>
                <a:latin typeface="Work Sans"/>
                <a:ea typeface="Work Sans"/>
                <a:cs typeface="Work Sans"/>
                <a:sym typeface="Work Sans"/>
              </a:rPr>
              <a:t>Start simulation loop</a:t>
            </a:r>
          </a:p>
          <a:p>
            <a:pPr algn="l">
              <a:lnSpc>
                <a:spcPts val="2527"/>
              </a:lnSpc>
            </a:pPr>
          </a:p>
        </p:txBody>
      </p:sp>
      <p:sp>
        <p:nvSpPr>
          <p:cNvPr name="TextBox 16" id="16"/>
          <p:cNvSpPr txBox="true"/>
          <p:nvPr/>
        </p:nvSpPr>
        <p:spPr>
          <a:xfrm rot="0">
            <a:off x="2814752" y="7130687"/>
            <a:ext cx="5633490" cy="1572614"/>
          </a:xfrm>
          <a:prstGeom prst="rect">
            <a:avLst/>
          </a:prstGeom>
        </p:spPr>
        <p:txBody>
          <a:bodyPr anchor="t" rtlCol="false" tIns="0" lIns="0" bIns="0" rIns="0">
            <a:spAutoFit/>
          </a:bodyPr>
          <a:lstStyle/>
          <a:p>
            <a:pPr algn="l" marL="388630" indent="-194315" lvl="1">
              <a:lnSpc>
                <a:spcPts val="2527"/>
              </a:lnSpc>
              <a:buFont typeface="Arial"/>
              <a:buChar char="•"/>
            </a:pPr>
            <a:r>
              <a:rPr lang="en-US" sz="1800">
                <a:solidFill>
                  <a:srgbClr val="FFFFFF"/>
                </a:solidFill>
                <a:latin typeface="Work Sans"/>
                <a:ea typeface="Work Sans"/>
                <a:cs typeface="Work Sans"/>
                <a:sym typeface="Work Sans"/>
              </a:rPr>
              <a:t>Validate incoming UDS requests</a:t>
            </a:r>
          </a:p>
          <a:p>
            <a:pPr algn="l" marL="388630" indent="-194315" lvl="1">
              <a:lnSpc>
                <a:spcPts val="2527"/>
              </a:lnSpc>
              <a:buFont typeface="Arial"/>
              <a:buChar char="•"/>
            </a:pPr>
            <a:r>
              <a:rPr lang="en-US" sz="1800">
                <a:solidFill>
                  <a:srgbClr val="FFFFFF"/>
                </a:solidFill>
                <a:latin typeface="Work Sans"/>
                <a:ea typeface="Work Sans"/>
                <a:cs typeface="Work Sans"/>
                <a:sym typeface="Work Sans"/>
              </a:rPr>
              <a:t>Execute requested diagnostic service</a:t>
            </a:r>
          </a:p>
          <a:p>
            <a:pPr algn="l" marL="388630" indent="-194315" lvl="1">
              <a:lnSpc>
                <a:spcPts val="2527"/>
              </a:lnSpc>
              <a:buFont typeface="Arial"/>
              <a:buChar char="•"/>
            </a:pPr>
            <a:r>
              <a:rPr lang="en-US" sz="1800">
                <a:solidFill>
                  <a:srgbClr val="FFFFFF"/>
                </a:solidFill>
                <a:latin typeface="Work Sans"/>
                <a:ea typeface="Work Sans"/>
                <a:cs typeface="Work Sans"/>
                <a:sym typeface="Work Sans"/>
              </a:rPr>
              <a:t>Prepare CAN response</a:t>
            </a:r>
          </a:p>
          <a:p>
            <a:pPr algn="l" marL="388630" indent="-194315" lvl="1">
              <a:lnSpc>
                <a:spcPts val="2527"/>
              </a:lnSpc>
              <a:buFont typeface="Arial"/>
              <a:buChar char="•"/>
            </a:pPr>
            <a:r>
              <a:rPr lang="en-US" sz="1800">
                <a:solidFill>
                  <a:srgbClr val="FFFFFF"/>
                </a:solidFill>
                <a:latin typeface="Work Sans"/>
                <a:ea typeface="Work Sans"/>
                <a:cs typeface="Work Sans"/>
                <a:sym typeface="Work Sans"/>
              </a:rPr>
              <a:t>Transmit result to dashboard</a:t>
            </a:r>
          </a:p>
          <a:p>
            <a:pPr algn="l">
              <a:lnSpc>
                <a:spcPts val="2527"/>
              </a:lnSpc>
            </a:pPr>
          </a:p>
        </p:txBody>
      </p:sp>
      <p:sp>
        <p:nvSpPr>
          <p:cNvPr name="Freeform 17" id="17"/>
          <p:cNvSpPr/>
          <p:nvPr/>
        </p:nvSpPr>
        <p:spPr>
          <a:xfrm flipH="false" flipV="false" rot="0">
            <a:off x="10850500" y="73104"/>
            <a:ext cx="3802797" cy="10140791"/>
          </a:xfrm>
          <a:custGeom>
            <a:avLst/>
            <a:gdLst/>
            <a:ahLst/>
            <a:cxnLst/>
            <a:rect r="r" b="b" t="t" l="l"/>
            <a:pathLst>
              <a:path h="10140791" w="3802797">
                <a:moveTo>
                  <a:pt x="0" y="0"/>
                </a:moveTo>
                <a:lnTo>
                  <a:pt x="3802797" y="0"/>
                </a:lnTo>
                <a:lnTo>
                  <a:pt x="3802797" y="10140792"/>
                </a:lnTo>
                <a:lnTo>
                  <a:pt x="0" y="10140792"/>
                </a:lnTo>
                <a:lnTo>
                  <a:pt x="0" y="0"/>
                </a:lnTo>
                <a:close/>
              </a:path>
            </a:pathLst>
          </a:custGeom>
          <a:blipFill>
            <a:blip r:embed="rId9"/>
            <a:stretch>
              <a:fillRect l="0" t="0" r="0" b="0"/>
            </a:stretch>
          </a:blipFill>
        </p:spPr>
      </p:sp>
      <p:grpSp>
        <p:nvGrpSpPr>
          <p:cNvPr name="Group 18" id="18"/>
          <p:cNvGrpSpPr/>
          <p:nvPr/>
        </p:nvGrpSpPr>
        <p:grpSpPr>
          <a:xfrm rot="0">
            <a:off x="15325725" y="9491367"/>
            <a:ext cx="1299210" cy="357077"/>
            <a:chOff x="0" y="0"/>
            <a:chExt cx="1732280" cy="476102"/>
          </a:xfrm>
        </p:grpSpPr>
        <p:sp>
          <p:nvSpPr>
            <p:cNvPr name="Freeform 19" id="19"/>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0" id="20"/>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1" id="21"/>
          <p:cNvGrpSpPr/>
          <p:nvPr/>
        </p:nvGrpSpPr>
        <p:grpSpPr>
          <a:xfrm rot="0">
            <a:off x="926309" y="9491358"/>
            <a:ext cx="2807304" cy="493053"/>
            <a:chOff x="0" y="0"/>
            <a:chExt cx="3743072" cy="657404"/>
          </a:xfrm>
        </p:grpSpPr>
        <p:sp>
          <p:nvSpPr>
            <p:cNvPr name="Freeform 22" id="22"/>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4" id="24"/>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Freeform 2" id="2"/>
          <p:cNvSpPr/>
          <p:nvPr/>
        </p:nvSpPr>
        <p:spPr>
          <a:xfrm flipH="false" flipV="false" rot="0">
            <a:off x="912131" y="11356"/>
            <a:ext cx="16406969" cy="10275644"/>
          </a:xfrm>
          <a:custGeom>
            <a:avLst/>
            <a:gdLst/>
            <a:ahLst/>
            <a:cxnLst/>
            <a:rect r="r" b="b" t="t" l="l"/>
            <a:pathLst>
              <a:path h="10275644" w="16406969">
                <a:moveTo>
                  <a:pt x="0" y="0"/>
                </a:moveTo>
                <a:lnTo>
                  <a:pt x="16406968" y="0"/>
                </a:lnTo>
                <a:lnTo>
                  <a:pt x="16406968" y="10275644"/>
                </a:lnTo>
                <a:lnTo>
                  <a:pt x="0" y="10275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31635" y="77663"/>
            <a:ext cx="1309378" cy="494594"/>
            <a:chOff x="0" y="0"/>
            <a:chExt cx="3905504" cy="1475232"/>
          </a:xfrm>
        </p:grpSpPr>
        <p:sp>
          <p:nvSpPr>
            <p:cNvPr name="Freeform 4" id="4"/>
            <p:cNvSpPr/>
            <p:nvPr/>
          </p:nvSpPr>
          <p:spPr>
            <a:xfrm flipH="false" flipV="false" rot="0">
              <a:off x="0" y="0"/>
              <a:ext cx="3905504" cy="1475232"/>
            </a:xfrm>
            <a:custGeom>
              <a:avLst/>
              <a:gdLst/>
              <a:ahLst/>
              <a:cxnLst/>
              <a:rect r="r" b="b" t="t" l="l"/>
              <a:pathLst>
                <a:path h="1475232" w="3905504">
                  <a:moveTo>
                    <a:pt x="0" y="0"/>
                  </a:moveTo>
                  <a:lnTo>
                    <a:pt x="3905504" y="0"/>
                  </a:lnTo>
                  <a:lnTo>
                    <a:pt x="3905504" y="1475232"/>
                  </a:lnTo>
                  <a:lnTo>
                    <a:pt x="0" y="1475232"/>
                  </a:lnTo>
                  <a:lnTo>
                    <a:pt x="0" y="0"/>
                  </a:lnTo>
                  <a:close/>
                </a:path>
              </a:pathLst>
            </a:custGeom>
            <a:blipFill>
              <a:blip r:embed="rId4"/>
              <a:stretch>
                <a:fillRect l="0" t="0" r="0" b="0"/>
              </a:stretch>
            </a:blipFill>
          </p:spPr>
        </p:sp>
      </p:grpSp>
      <p:grpSp>
        <p:nvGrpSpPr>
          <p:cNvPr name="Group 5" id="5"/>
          <p:cNvGrpSpPr/>
          <p:nvPr/>
        </p:nvGrpSpPr>
        <p:grpSpPr>
          <a:xfrm rot="0">
            <a:off x="4702196" y="827048"/>
            <a:ext cx="1568257" cy="494594"/>
            <a:chOff x="0" y="0"/>
            <a:chExt cx="4677664" cy="1475232"/>
          </a:xfrm>
        </p:grpSpPr>
        <p:sp>
          <p:nvSpPr>
            <p:cNvPr name="Freeform 6" id="6"/>
            <p:cNvSpPr/>
            <p:nvPr/>
          </p:nvSpPr>
          <p:spPr>
            <a:xfrm flipH="false" flipV="false" rot="0">
              <a:off x="0" y="0"/>
              <a:ext cx="4677664" cy="1475232"/>
            </a:xfrm>
            <a:custGeom>
              <a:avLst/>
              <a:gdLst/>
              <a:ahLst/>
              <a:cxnLst/>
              <a:rect r="r" b="b" t="t" l="l"/>
              <a:pathLst>
                <a:path h="1475232" w="4677664">
                  <a:moveTo>
                    <a:pt x="0" y="0"/>
                  </a:moveTo>
                  <a:lnTo>
                    <a:pt x="4677664" y="0"/>
                  </a:lnTo>
                  <a:lnTo>
                    <a:pt x="4677664" y="1475232"/>
                  </a:lnTo>
                  <a:lnTo>
                    <a:pt x="0" y="1475232"/>
                  </a:lnTo>
                  <a:lnTo>
                    <a:pt x="0" y="0"/>
                  </a:lnTo>
                  <a:close/>
                </a:path>
              </a:pathLst>
            </a:custGeom>
            <a:blipFill>
              <a:blip r:embed="rId5"/>
              <a:stretch>
                <a:fillRect l="0" t="0" r="0" b="0"/>
              </a:stretch>
            </a:blipFill>
          </p:spPr>
        </p:sp>
      </p:grpSp>
      <p:grpSp>
        <p:nvGrpSpPr>
          <p:cNvPr name="Group 7" id="7"/>
          <p:cNvGrpSpPr/>
          <p:nvPr/>
        </p:nvGrpSpPr>
        <p:grpSpPr>
          <a:xfrm rot="0">
            <a:off x="4702196" y="1576432"/>
            <a:ext cx="1568257" cy="494594"/>
            <a:chOff x="0" y="0"/>
            <a:chExt cx="4677664" cy="1475232"/>
          </a:xfrm>
        </p:grpSpPr>
        <p:sp>
          <p:nvSpPr>
            <p:cNvPr name="Freeform 8" id="8"/>
            <p:cNvSpPr/>
            <p:nvPr/>
          </p:nvSpPr>
          <p:spPr>
            <a:xfrm flipH="false" flipV="false" rot="0">
              <a:off x="0" y="0"/>
              <a:ext cx="4677664" cy="1475232"/>
            </a:xfrm>
            <a:custGeom>
              <a:avLst/>
              <a:gdLst/>
              <a:ahLst/>
              <a:cxnLst/>
              <a:rect r="r" b="b" t="t" l="l"/>
              <a:pathLst>
                <a:path h="1475232" w="4677664">
                  <a:moveTo>
                    <a:pt x="0" y="0"/>
                  </a:moveTo>
                  <a:lnTo>
                    <a:pt x="4677664" y="0"/>
                  </a:lnTo>
                  <a:lnTo>
                    <a:pt x="4677664" y="1475232"/>
                  </a:lnTo>
                  <a:lnTo>
                    <a:pt x="0" y="1475232"/>
                  </a:lnTo>
                  <a:lnTo>
                    <a:pt x="0" y="0"/>
                  </a:lnTo>
                  <a:close/>
                </a:path>
              </a:pathLst>
            </a:custGeom>
            <a:blipFill>
              <a:blip r:embed="rId6"/>
              <a:stretch>
                <a:fillRect l="0" t="0" r="0" b="0"/>
              </a:stretch>
            </a:blipFill>
          </p:spPr>
        </p:sp>
      </p:grpSp>
      <p:grpSp>
        <p:nvGrpSpPr>
          <p:cNvPr name="Group 9" id="9"/>
          <p:cNvGrpSpPr/>
          <p:nvPr/>
        </p:nvGrpSpPr>
        <p:grpSpPr>
          <a:xfrm rot="0">
            <a:off x="4610907" y="2302653"/>
            <a:ext cx="1760371" cy="1761734"/>
            <a:chOff x="0" y="0"/>
            <a:chExt cx="5250688" cy="5254752"/>
          </a:xfrm>
        </p:grpSpPr>
        <p:sp>
          <p:nvSpPr>
            <p:cNvPr name="Freeform 10" id="10"/>
            <p:cNvSpPr/>
            <p:nvPr/>
          </p:nvSpPr>
          <p:spPr>
            <a:xfrm flipH="false" flipV="false" rot="0">
              <a:off x="0" y="0"/>
              <a:ext cx="5250688" cy="5254752"/>
            </a:xfrm>
            <a:custGeom>
              <a:avLst/>
              <a:gdLst/>
              <a:ahLst/>
              <a:cxnLst/>
              <a:rect r="r" b="b" t="t" l="l"/>
              <a:pathLst>
                <a:path h="5254752" w="5250688">
                  <a:moveTo>
                    <a:pt x="0" y="0"/>
                  </a:moveTo>
                  <a:lnTo>
                    <a:pt x="5250688" y="0"/>
                  </a:lnTo>
                  <a:lnTo>
                    <a:pt x="5250688" y="5254752"/>
                  </a:lnTo>
                  <a:lnTo>
                    <a:pt x="0" y="5254752"/>
                  </a:lnTo>
                  <a:lnTo>
                    <a:pt x="0" y="0"/>
                  </a:lnTo>
                  <a:close/>
                </a:path>
              </a:pathLst>
            </a:custGeom>
            <a:blipFill>
              <a:blip r:embed="rId7"/>
              <a:stretch>
                <a:fillRect l="0" t="0" r="0" b="0"/>
              </a:stretch>
            </a:blipFill>
          </p:spPr>
        </p:sp>
      </p:grpSp>
      <p:grpSp>
        <p:nvGrpSpPr>
          <p:cNvPr name="Group 11" id="11"/>
          <p:cNvGrpSpPr/>
          <p:nvPr/>
        </p:nvGrpSpPr>
        <p:grpSpPr>
          <a:xfrm rot="0">
            <a:off x="1005689" y="5087637"/>
            <a:ext cx="1309378" cy="362429"/>
            <a:chOff x="0" y="0"/>
            <a:chExt cx="3905504" cy="1081024"/>
          </a:xfrm>
        </p:grpSpPr>
        <p:sp>
          <p:nvSpPr>
            <p:cNvPr name="Freeform 12" id="12"/>
            <p:cNvSpPr/>
            <p:nvPr/>
          </p:nvSpPr>
          <p:spPr>
            <a:xfrm flipH="false" flipV="false" rot="0">
              <a:off x="0" y="0"/>
              <a:ext cx="3905504" cy="1081024"/>
            </a:xfrm>
            <a:custGeom>
              <a:avLst/>
              <a:gdLst/>
              <a:ahLst/>
              <a:cxnLst/>
              <a:rect r="r" b="b" t="t" l="l"/>
              <a:pathLst>
                <a:path h="1081024" w="3905504">
                  <a:moveTo>
                    <a:pt x="0" y="0"/>
                  </a:moveTo>
                  <a:lnTo>
                    <a:pt x="3905504" y="0"/>
                  </a:lnTo>
                  <a:lnTo>
                    <a:pt x="3905504" y="1081024"/>
                  </a:lnTo>
                  <a:lnTo>
                    <a:pt x="0" y="1081024"/>
                  </a:lnTo>
                  <a:lnTo>
                    <a:pt x="0" y="0"/>
                  </a:lnTo>
                  <a:close/>
                </a:path>
              </a:pathLst>
            </a:custGeom>
            <a:blipFill>
              <a:blip r:embed="rId8"/>
              <a:stretch>
                <a:fillRect l="0" t="0" r="0" b="0"/>
              </a:stretch>
            </a:blipFill>
          </p:spPr>
        </p:sp>
      </p:grpSp>
      <p:grpSp>
        <p:nvGrpSpPr>
          <p:cNvPr name="Group 13" id="13"/>
          <p:cNvGrpSpPr/>
          <p:nvPr/>
        </p:nvGrpSpPr>
        <p:grpSpPr>
          <a:xfrm rot="0">
            <a:off x="1413081" y="6696769"/>
            <a:ext cx="494594" cy="362429"/>
            <a:chOff x="0" y="0"/>
            <a:chExt cx="1475232" cy="1081024"/>
          </a:xfrm>
        </p:grpSpPr>
        <p:sp>
          <p:nvSpPr>
            <p:cNvPr name="Freeform 14" id="14"/>
            <p:cNvSpPr/>
            <p:nvPr/>
          </p:nvSpPr>
          <p:spPr>
            <a:xfrm flipH="false" flipV="false" rot="0">
              <a:off x="0" y="0"/>
              <a:ext cx="1475232" cy="1081024"/>
            </a:xfrm>
            <a:custGeom>
              <a:avLst/>
              <a:gdLst/>
              <a:ahLst/>
              <a:cxnLst/>
              <a:rect r="r" b="b" t="t" l="l"/>
              <a:pathLst>
                <a:path h="1081024" w="1475232">
                  <a:moveTo>
                    <a:pt x="0" y="0"/>
                  </a:moveTo>
                  <a:lnTo>
                    <a:pt x="1475232" y="0"/>
                  </a:lnTo>
                  <a:lnTo>
                    <a:pt x="1475232" y="1081024"/>
                  </a:lnTo>
                  <a:lnTo>
                    <a:pt x="0" y="1081024"/>
                  </a:lnTo>
                  <a:lnTo>
                    <a:pt x="0" y="0"/>
                  </a:lnTo>
                  <a:close/>
                </a:path>
              </a:pathLst>
            </a:custGeom>
            <a:blipFill>
              <a:blip r:embed="rId9"/>
              <a:stretch>
                <a:fillRect l="0" t="0" r="0" b="0"/>
              </a:stretch>
            </a:blipFill>
          </p:spPr>
        </p:sp>
      </p:grpSp>
      <p:grpSp>
        <p:nvGrpSpPr>
          <p:cNvPr name="Group 15" id="15"/>
          <p:cNvGrpSpPr/>
          <p:nvPr/>
        </p:nvGrpSpPr>
        <p:grpSpPr>
          <a:xfrm rot="0">
            <a:off x="8911010" y="4410466"/>
            <a:ext cx="1715408" cy="1715408"/>
            <a:chOff x="0" y="0"/>
            <a:chExt cx="5116576" cy="5116576"/>
          </a:xfrm>
        </p:grpSpPr>
        <p:sp>
          <p:nvSpPr>
            <p:cNvPr name="Freeform 16" id="16"/>
            <p:cNvSpPr/>
            <p:nvPr/>
          </p:nvSpPr>
          <p:spPr>
            <a:xfrm flipH="false" flipV="false" rot="0">
              <a:off x="0" y="0"/>
              <a:ext cx="5116576" cy="5116576"/>
            </a:xfrm>
            <a:custGeom>
              <a:avLst/>
              <a:gdLst/>
              <a:ahLst/>
              <a:cxnLst/>
              <a:rect r="r" b="b" t="t" l="l"/>
              <a:pathLst>
                <a:path h="5116576" w="5116576">
                  <a:moveTo>
                    <a:pt x="0" y="0"/>
                  </a:moveTo>
                  <a:lnTo>
                    <a:pt x="5116576" y="0"/>
                  </a:lnTo>
                  <a:lnTo>
                    <a:pt x="5116576" y="5116576"/>
                  </a:lnTo>
                  <a:lnTo>
                    <a:pt x="0" y="5116576"/>
                  </a:lnTo>
                  <a:lnTo>
                    <a:pt x="0" y="0"/>
                  </a:lnTo>
                  <a:close/>
                </a:path>
              </a:pathLst>
            </a:custGeom>
            <a:blipFill>
              <a:blip r:embed="rId10"/>
              <a:stretch>
                <a:fillRect l="0" t="0" r="0" b="0"/>
              </a:stretch>
            </a:blipFill>
          </p:spPr>
        </p:sp>
      </p:grpSp>
      <p:grpSp>
        <p:nvGrpSpPr>
          <p:cNvPr name="Group 17" id="17"/>
          <p:cNvGrpSpPr/>
          <p:nvPr/>
        </p:nvGrpSpPr>
        <p:grpSpPr>
          <a:xfrm rot="0">
            <a:off x="2157015" y="6632731"/>
            <a:ext cx="1568257" cy="494594"/>
            <a:chOff x="0" y="0"/>
            <a:chExt cx="4677664" cy="1475232"/>
          </a:xfrm>
        </p:grpSpPr>
        <p:sp>
          <p:nvSpPr>
            <p:cNvPr name="Freeform 18" id="18"/>
            <p:cNvSpPr/>
            <p:nvPr/>
          </p:nvSpPr>
          <p:spPr>
            <a:xfrm flipH="false" flipV="false" rot="0">
              <a:off x="0" y="0"/>
              <a:ext cx="4677664" cy="1475232"/>
            </a:xfrm>
            <a:custGeom>
              <a:avLst/>
              <a:gdLst/>
              <a:ahLst/>
              <a:cxnLst/>
              <a:rect r="r" b="b" t="t" l="l"/>
              <a:pathLst>
                <a:path h="1475232" w="4677664">
                  <a:moveTo>
                    <a:pt x="0" y="0"/>
                  </a:moveTo>
                  <a:lnTo>
                    <a:pt x="4677664" y="0"/>
                  </a:lnTo>
                  <a:lnTo>
                    <a:pt x="4677664" y="1475232"/>
                  </a:lnTo>
                  <a:lnTo>
                    <a:pt x="0" y="1475232"/>
                  </a:lnTo>
                  <a:lnTo>
                    <a:pt x="0" y="0"/>
                  </a:lnTo>
                  <a:close/>
                </a:path>
              </a:pathLst>
            </a:custGeom>
            <a:blipFill>
              <a:blip r:embed="rId11"/>
              <a:stretch>
                <a:fillRect l="0" t="0" r="0" b="0"/>
              </a:stretch>
            </a:blipFill>
          </p:spPr>
        </p:sp>
      </p:grpSp>
      <p:grpSp>
        <p:nvGrpSpPr>
          <p:cNvPr name="Group 19" id="19"/>
          <p:cNvGrpSpPr/>
          <p:nvPr/>
        </p:nvGrpSpPr>
        <p:grpSpPr>
          <a:xfrm rot="0">
            <a:off x="3978700" y="6696769"/>
            <a:ext cx="1554631" cy="362429"/>
            <a:chOff x="0" y="0"/>
            <a:chExt cx="4637024" cy="1081024"/>
          </a:xfrm>
        </p:grpSpPr>
        <p:sp>
          <p:nvSpPr>
            <p:cNvPr name="Freeform 20" id="20"/>
            <p:cNvSpPr/>
            <p:nvPr/>
          </p:nvSpPr>
          <p:spPr>
            <a:xfrm flipH="false" flipV="false" rot="0">
              <a:off x="0" y="0"/>
              <a:ext cx="4637024" cy="1081024"/>
            </a:xfrm>
            <a:custGeom>
              <a:avLst/>
              <a:gdLst/>
              <a:ahLst/>
              <a:cxnLst/>
              <a:rect r="r" b="b" t="t" l="l"/>
              <a:pathLst>
                <a:path h="1081024" w="4637024">
                  <a:moveTo>
                    <a:pt x="0" y="0"/>
                  </a:moveTo>
                  <a:lnTo>
                    <a:pt x="4637024" y="0"/>
                  </a:lnTo>
                  <a:lnTo>
                    <a:pt x="4637024" y="1081024"/>
                  </a:lnTo>
                  <a:lnTo>
                    <a:pt x="0" y="1081024"/>
                  </a:lnTo>
                  <a:lnTo>
                    <a:pt x="0" y="0"/>
                  </a:lnTo>
                  <a:close/>
                </a:path>
              </a:pathLst>
            </a:custGeom>
            <a:blipFill>
              <a:blip r:embed="rId12"/>
              <a:stretch>
                <a:fillRect l="0" t="0" r="0" b="0"/>
              </a:stretch>
            </a:blipFill>
          </p:spPr>
        </p:sp>
      </p:grpSp>
      <p:grpSp>
        <p:nvGrpSpPr>
          <p:cNvPr name="Group 21" id="21"/>
          <p:cNvGrpSpPr/>
          <p:nvPr/>
        </p:nvGrpSpPr>
        <p:grpSpPr>
          <a:xfrm rot="0">
            <a:off x="5786759" y="6561880"/>
            <a:ext cx="1566894" cy="636295"/>
            <a:chOff x="0" y="0"/>
            <a:chExt cx="4673600" cy="1897888"/>
          </a:xfrm>
        </p:grpSpPr>
        <p:sp>
          <p:nvSpPr>
            <p:cNvPr name="Freeform 22" id="22"/>
            <p:cNvSpPr/>
            <p:nvPr/>
          </p:nvSpPr>
          <p:spPr>
            <a:xfrm flipH="false" flipV="false" rot="0">
              <a:off x="0" y="0"/>
              <a:ext cx="4673600" cy="1897888"/>
            </a:xfrm>
            <a:custGeom>
              <a:avLst/>
              <a:gdLst/>
              <a:ahLst/>
              <a:cxnLst/>
              <a:rect r="r" b="b" t="t" l="l"/>
              <a:pathLst>
                <a:path h="1897888" w="4673600">
                  <a:moveTo>
                    <a:pt x="0" y="0"/>
                  </a:moveTo>
                  <a:lnTo>
                    <a:pt x="4673600" y="0"/>
                  </a:lnTo>
                  <a:lnTo>
                    <a:pt x="4673600" y="1897888"/>
                  </a:lnTo>
                  <a:lnTo>
                    <a:pt x="0" y="1897888"/>
                  </a:lnTo>
                  <a:lnTo>
                    <a:pt x="0" y="0"/>
                  </a:lnTo>
                  <a:close/>
                </a:path>
              </a:pathLst>
            </a:custGeom>
            <a:blipFill>
              <a:blip r:embed="rId13"/>
              <a:stretch>
                <a:fillRect l="0" t="0" r="0" b="0"/>
              </a:stretch>
            </a:blipFill>
          </p:spPr>
        </p:sp>
      </p:grpSp>
      <p:grpSp>
        <p:nvGrpSpPr>
          <p:cNvPr name="Group 23" id="23"/>
          <p:cNvGrpSpPr/>
          <p:nvPr/>
        </p:nvGrpSpPr>
        <p:grpSpPr>
          <a:xfrm rot="0">
            <a:off x="7608444" y="6632731"/>
            <a:ext cx="1566894" cy="494594"/>
            <a:chOff x="0" y="0"/>
            <a:chExt cx="4673600" cy="1475232"/>
          </a:xfrm>
        </p:grpSpPr>
        <p:sp>
          <p:nvSpPr>
            <p:cNvPr name="Freeform 24" id="24"/>
            <p:cNvSpPr/>
            <p:nvPr/>
          </p:nvSpPr>
          <p:spPr>
            <a:xfrm flipH="false" flipV="false" rot="0">
              <a:off x="0" y="0"/>
              <a:ext cx="4673600" cy="1475232"/>
            </a:xfrm>
            <a:custGeom>
              <a:avLst/>
              <a:gdLst/>
              <a:ahLst/>
              <a:cxnLst/>
              <a:rect r="r" b="b" t="t" l="l"/>
              <a:pathLst>
                <a:path h="1475232" w="4673600">
                  <a:moveTo>
                    <a:pt x="0" y="0"/>
                  </a:moveTo>
                  <a:lnTo>
                    <a:pt x="4673600" y="0"/>
                  </a:lnTo>
                  <a:lnTo>
                    <a:pt x="4673600" y="1475232"/>
                  </a:lnTo>
                  <a:lnTo>
                    <a:pt x="0" y="1475232"/>
                  </a:lnTo>
                  <a:lnTo>
                    <a:pt x="0" y="0"/>
                  </a:lnTo>
                  <a:close/>
                </a:path>
              </a:pathLst>
            </a:custGeom>
            <a:blipFill>
              <a:blip r:embed="rId14"/>
              <a:stretch>
                <a:fillRect l="0" t="0" r="0" b="0"/>
              </a:stretch>
            </a:blipFill>
          </p:spPr>
        </p:sp>
      </p:grpSp>
      <p:grpSp>
        <p:nvGrpSpPr>
          <p:cNvPr name="Group 25" id="25"/>
          <p:cNvGrpSpPr/>
          <p:nvPr/>
        </p:nvGrpSpPr>
        <p:grpSpPr>
          <a:xfrm rot="0">
            <a:off x="9430128" y="6561880"/>
            <a:ext cx="1568257" cy="636295"/>
            <a:chOff x="0" y="0"/>
            <a:chExt cx="4677664" cy="1897888"/>
          </a:xfrm>
        </p:grpSpPr>
        <p:sp>
          <p:nvSpPr>
            <p:cNvPr name="Freeform 26" id="26"/>
            <p:cNvSpPr/>
            <p:nvPr/>
          </p:nvSpPr>
          <p:spPr>
            <a:xfrm flipH="false" flipV="false" rot="0">
              <a:off x="0" y="0"/>
              <a:ext cx="4677664" cy="1897888"/>
            </a:xfrm>
            <a:custGeom>
              <a:avLst/>
              <a:gdLst/>
              <a:ahLst/>
              <a:cxnLst/>
              <a:rect r="r" b="b" t="t" l="l"/>
              <a:pathLst>
                <a:path h="1897888" w="4677664">
                  <a:moveTo>
                    <a:pt x="0" y="0"/>
                  </a:moveTo>
                  <a:lnTo>
                    <a:pt x="4677664" y="0"/>
                  </a:lnTo>
                  <a:lnTo>
                    <a:pt x="4677664" y="1897888"/>
                  </a:lnTo>
                  <a:lnTo>
                    <a:pt x="0" y="1897888"/>
                  </a:lnTo>
                  <a:lnTo>
                    <a:pt x="0" y="0"/>
                  </a:lnTo>
                  <a:close/>
                </a:path>
              </a:pathLst>
            </a:custGeom>
            <a:blipFill>
              <a:blip r:embed="rId15"/>
              <a:stretch>
                <a:fillRect l="0" t="0" r="0" b="0"/>
              </a:stretch>
            </a:blipFill>
          </p:spPr>
        </p:sp>
      </p:grpSp>
      <p:grpSp>
        <p:nvGrpSpPr>
          <p:cNvPr name="Group 27" id="27"/>
          <p:cNvGrpSpPr/>
          <p:nvPr/>
        </p:nvGrpSpPr>
        <p:grpSpPr>
          <a:xfrm rot="0">
            <a:off x="11251813" y="6561880"/>
            <a:ext cx="1568257" cy="636295"/>
            <a:chOff x="0" y="0"/>
            <a:chExt cx="4677664" cy="1897888"/>
          </a:xfrm>
        </p:grpSpPr>
        <p:sp>
          <p:nvSpPr>
            <p:cNvPr name="Freeform 28" id="28"/>
            <p:cNvSpPr/>
            <p:nvPr/>
          </p:nvSpPr>
          <p:spPr>
            <a:xfrm flipH="false" flipV="false" rot="0">
              <a:off x="0" y="0"/>
              <a:ext cx="4677664" cy="1897888"/>
            </a:xfrm>
            <a:custGeom>
              <a:avLst/>
              <a:gdLst/>
              <a:ahLst/>
              <a:cxnLst/>
              <a:rect r="r" b="b" t="t" l="l"/>
              <a:pathLst>
                <a:path h="1897888" w="4677664">
                  <a:moveTo>
                    <a:pt x="0" y="0"/>
                  </a:moveTo>
                  <a:lnTo>
                    <a:pt x="4677664" y="0"/>
                  </a:lnTo>
                  <a:lnTo>
                    <a:pt x="4677664" y="1897888"/>
                  </a:lnTo>
                  <a:lnTo>
                    <a:pt x="0" y="1897888"/>
                  </a:lnTo>
                  <a:lnTo>
                    <a:pt x="0" y="0"/>
                  </a:lnTo>
                  <a:close/>
                </a:path>
              </a:pathLst>
            </a:custGeom>
            <a:blipFill>
              <a:blip r:embed="rId16"/>
              <a:stretch>
                <a:fillRect l="0" t="0" r="0" b="0"/>
              </a:stretch>
            </a:blipFill>
          </p:spPr>
        </p:sp>
      </p:grpSp>
      <p:grpSp>
        <p:nvGrpSpPr>
          <p:cNvPr name="Group 29" id="29"/>
          <p:cNvGrpSpPr/>
          <p:nvPr/>
        </p:nvGrpSpPr>
        <p:grpSpPr>
          <a:xfrm rot="0">
            <a:off x="13074860" y="6496479"/>
            <a:ext cx="1566894" cy="767097"/>
            <a:chOff x="0" y="0"/>
            <a:chExt cx="4673600" cy="2288032"/>
          </a:xfrm>
        </p:grpSpPr>
        <p:sp>
          <p:nvSpPr>
            <p:cNvPr name="Freeform 30" id="30"/>
            <p:cNvSpPr/>
            <p:nvPr/>
          </p:nvSpPr>
          <p:spPr>
            <a:xfrm flipH="false" flipV="false" rot="0">
              <a:off x="0" y="0"/>
              <a:ext cx="4673600" cy="2288032"/>
            </a:xfrm>
            <a:custGeom>
              <a:avLst/>
              <a:gdLst/>
              <a:ahLst/>
              <a:cxnLst/>
              <a:rect r="r" b="b" t="t" l="l"/>
              <a:pathLst>
                <a:path h="2288032" w="4673600">
                  <a:moveTo>
                    <a:pt x="0" y="0"/>
                  </a:moveTo>
                  <a:lnTo>
                    <a:pt x="4673600" y="0"/>
                  </a:lnTo>
                  <a:lnTo>
                    <a:pt x="4673600" y="2288032"/>
                  </a:lnTo>
                  <a:lnTo>
                    <a:pt x="0" y="2288032"/>
                  </a:lnTo>
                  <a:lnTo>
                    <a:pt x="0" y="0"/>
                  </a:lnTo>
                  <a:close/>
                </a:path>
              </a:pathLst>
            </a:custGeom>
            <a:blipFill>
              <a:blip r:embed="rId17"/>
              <a:stretch>
                <a:fillRect l="0" t="0" r="0" b="0"/>
              </a:stretch>
            </a:blipFill>
          </p:spPr>
        </p:sp>
      </p:grpSp>
      <p:grpSp>
        <p:nvGrpSpPr>
          <p:cNvPr name="Group 31" id="31"/>
          <p:cNvGrpSpPr/>
          <p:nvPr/>
        </p:nvGrpSpPr>
        <p:grpSpPr>
          <a:xfrm rot="0">
            <a:off x="14892457" y="6632731"/>
            <a:ext cx="1463343" cy="494594"/>
            <a:chOff x="0" y="0"/>
            <a:chExt cx="4364736" cy="1475232"/>
          </a:xfrm>
        </p:grpSpPr>
        <p:sp>
          <p:nvSpPr>
            <p:cNvPr name="Freeform 32" id="32"/>
            <p:cNvSpPr/>
            <p:nvPr/>
          </p:nvSpPr>
          <p:spPr>
            <a:xfrm flipH="false" flipV="false" rot="0">
              <a:off x="0" y="0"/>
              <a:ext cx="4364736" cy="1475232"/>
            </a:xfrm>
            <a:custGeom>
              <a:avLst/>
              <a:gdLst/>
              <a:ahLst/>
              <a:cxnLst/>
              <a:rect r="r" b="b" t="t" l="l"/>
              <a:pathLst>
                <a:path h="1475232" w="4364736">
                  <a:moveTo>
                    <a:pt x="0" y="0"/>
                  </a:moveTo>
                  <a:lnTo>
                    <a:pt x="4364736" y="0"/>
                  </a:lnTo>
                  <a:lnTo>
                    <a:pt x="4364736" y="1475232"/>
                  </a:lnTo>
                  <a:lnTo>
                    <a:pt x="0" y="1475232"/>
                  </a:lnTo>
                  <a:lnTo>
                    <a:pt x="0" y="0"/>
                  </a:lnTo>
                  <a:close/>
                </a:path>
              </a:pathLst>
            </a:custGeom>
            <a:blipFill>
              <a:blip r:embed="rId18"/>
              <a:stretch>
                <a:fillRect l="0" t="0" r="0" b="0"/>
              </a:stretch>
            </a:blipFill>
          </p:spPr>
        </p:sp>
      </p:grpSp>
      <p:grpSp>
        <p:nvGrpSpPr>
          <p:cNvPr name="Group 33" id="33"/>
          <p:cNvGrpSpPr/>
          <p:nvPr/>
        </p:nvGrpSpPr>
        <p:grpSpPr>
          <a:xfrm rot="0">
            <a:off x="15760380" y="9013047"/>
            <a:ext cx="1558719" cy="637658"/>
            <a:chOff x="0" y="0"/>
            <a:chExt cx="4649216" cy="1901952"/>
          </a:xfrm>
        </p:grpSpPr>
        <p:sp>
          <p:nvSpPr>
            <p:cNvPr name="Freeform 34" id="34"/>
            <p:cNvSpPr/>
            <p:nvPr/>
          </p:nvSpPr>
          <p:spPr>
            <a:xfrm flipH="false" flipV="false" rot="0">
              <a:off x="0" y="0"/>
              <a:ext cx="4649216" cy="1901952"/>
            </a:xfrm>
            <a:custGeom>
              <a:avLst/>
              <a:gdLst/>
              <a:ahLst/>
              <a:cxnLst/>
              <a:rect r="r" b="b" t="t" l="l"/>
              <a:pathLst>
                <a:path h="1901952" w="4649216">
                  <a:moveTo>
                    <a:pt x="0" y="0"/>
                  </a:moveTo>
                  <a:lnTo>
                    <a:pt x="4649216" y="0"/>
                  </a:lnTo>
                  <a:lnTo>
                    <a:pt x="4649216" y="1901952"/>
                  </a:lnTo>
                  <a:lnTo>
                    <a:pt x="0" y="1901952"/>
                  </a:lnTo>
                  <a:lnTo>
                    <a:pt x="0" y="0"/>
                  </a:lnTo>
                  <a:close/>
                </a:path>
              </a:pathLst>
            </a:custGeom>
            <a:blipFill>
              <a:blip r:embed="rId19"/>
              <a:stretch>
                <a:fillRect l="0" t="0" r="-87" b="0"/>
              </a:stretch>
            </a:blipFill>
          </p:spPr>
        </p:sp>
      </p:grpSp>
      <p:grpSp>
        <p:nvGrpSpPr>
          <p:cNvPr name="Group 35" id="35"/>
          <p:cNvGrpSpPr/>
          <p:nvPr/>
        </p:nvGrpSpPr>
        <p:grpSpPr>
          <a:xfrm rot="0">
            <a:off x="8748870" y="7517004"/>
            <a:ext cx="1566894" cy="495956"/>
            <a:chOff x="0" y="0"/>
            <a:chExt cx="4673600" cy="1479296"/>
          </a:xfrm>
        </p:grpSpPr>
        <p:sp>
          <p:nvSpPr>
            <p:cNvPr name="Freeform 36" id="36"/>
            <p:cNvSpPr/>
            <p:nvPr/>
          </p:nvSpPr>
          <p:spPr>
            <a:xfrm flipH="false" flipV="false" rot="0">
              <a:off x="0" y="0"/>
              <a:ext cx="4673600" cy="1479296"/>
            </a:xfrm>
            <a:custGeom>
              <a:avLst/>
              <a:gdLst/>
              <a:ahLst/>
              <a:cxnLst/>
              <a:rect r="r" b="b" t="t" l="l"/>
              <a:pathLst>
                <a:path h="1479296" w="4673600">
                  <a:moveTo>
                    <a:pt x="0" y="0"/>
                  </a:moveTo>
                  <a:lnTo>
                    <a:pt x="4673600" y="0"/>
                  </a:lnTo>
                  <a:lnTo>
                    <a:pt x="4673600" y="1479296"/>
                  </a:lnTo>
                  <a:lnTo>
                    <a:pt x="0" y="1479296"/>
                  </a:lnTo>
                  <a:lnTo>
                    <a:pt x="0" y="0"/>
                  </a:lnTo>
                  <a:close/>
                </a:path>
              </a:pathLst>
            </a:custGeom>
            <a:blipFill>
              <a:blip r:embed="rId20"/>
              <a:stretch>
                <a:fillRect l="0" t="0" r="0" b="0"/>
              </a:stretch>
            </a:blipFill>
          </p:spPr>
        </p:sp>
      </p:grpSp>
      <p:grpSp>
        <p:nvGrpSpPr>
          <p:cNvPr name="Group 37" id="37"/>
          <p:cNvGrpSpPr/>
          <p:nvPr/>
        </p:nvGrpSpPr>
        <p:grpSpPr>
          <a:xfrm rot="0">
            <a:off x="8748870" y="8267750"/>
            <a:ext cx="1566894" cy="494594"/>
            <a:chOff x="0" y="0"/>
            <a:chExt cx="4673600" cy="1475232"/>
          </a:xfrm>
        </p:grpSpPr>
        <p:sp>
          <p:nvSpPr>
            <p:cNvPr name="Freeform 38" id="38"/>
            <p:cNvSpPr/>
            <p:nvPr/>
          </p:nvSpPr>
          <p:spPr>
            <a:xfrm flipH="false" flipV="false" rot="0">
              <a:off x="0" y="0"/>
              <a:ext cx="4673600" cy="1475232"/>
            </a:xfrm>
            <a:custGeom>
              <a:avLst/>
              <a:gdLst/>
              <a:ahLst/>
              <a:cxnLst/>
              <a:rect r="r" b="b" t="t" l="l"/>
              <a:pathLst>
                <a:path h="1475232" w="4673600">
                  <a:moveTo>
                    <a:pt x="0" y="0"/>
                  </a:moveTo>
                  <a:lnTo>
                    <a:pt x="4673600" y="0"/>
                  </a:lnTo>
                  <a:lnTo>
                    <a:pt x="4673600" y="1475232"/>
                  </a:lnTo>
                  <a:lnTo>
                    <a:pt x="0" y="1475232"/>
                  </a:lnTo>
                  <a:lnTo>
                    <a:pt x="0" y="0"/>
                  </a:lnTo>
                  <a:close/>
                </a:path>
              </a:pathLst>
            </a:custGeom>
            <a:blipFill>
              <a:blip r:embed="rId21"/>
              <a:stretch>
                <a:fillRect l="0" t="0" r="0" b="0"/>
              </a:stretch>
            </a:blipFill>
          </p:spPr>
        </p:sp>
      </p:grpSp>
      <p:grpSp>
        <p:nvGrpSpPr>
          <p:cNvPr name="Group 39" id="39"/>
          <p:cNvGrpSpPr/>
          <p:nvPr/>
        </p:nvGrpSpPr>
        <p:grpSpPr>
          <a:xfrm rot="0">
            <a:off x="8748870" y="9083898"/>
            <a:ext cx="1566894" cy="495956"/>
            <a:chOff x="0" y="0"/>
            <a:chExt cx="4673600" cy="1479296"/>
          </a:xfrm>
        </p:grpSpPr>
        <p:sp>
          <p:nvSpPr>
            <p:cNvPr name="Freeform 40" id="40"/>
            <p:cNvSpPr/>
            <p:nvPr/>
          </p:nvSpPr>
          <p:spPr>
            <a:xfrm flipH="false" flipV="false" rot="0">
              <a:off x="0" y="0"/>
              <a:ext cx="4673600" cy="1479296"/>
            </a:xfrm>
            <a:custGeom>
              <a:avLst/>
              <a:gdLst/>
              <a:ahLst/>
              <a:cxnLst/>
              <a:rect r="r" b="b" t="t" l="l"/>
              <a:pathLst>
                <a:path h="1479296" w="4673600">
                  <a:moveTo>
                    <a:pt x="0" y="0"/>
                  </a:moveTo>
                  <a:lnTo>
                    <a:pt x="4673600" y="0"/>
                  </a:lnTo>
                  <a:lnTo>
                    <a:pt x="4673600" y="1479296"/>
                  </a:lnTo>
                  <a:lnTo>
                    <a:pt x="0" y="1479296"/>
                  </a:lnTo>
                  <a:lnTo>
                    <a:pt x="0" y="0"/>
                  </a:lnTo>
                  <a:close/>
                </a:path>
              </a:pathLst>
            </a:custGeom>
            <a:blipFill>
              <a:blip r:embed="rId22"/>
              <a:stretch>
                <a:fillRect l="0" t="0" r="0" b="0"/>
              </a:stretch>
            </a:blipFill>
          </p:spPr>
        </p:sp>
      </p:grpSp>
      <p:grpSp>
        <p:nvGrpSpPr>
          <p:cNvPr name="Group 41" id="41"/>
          <p:cNvGrpSpPr/>
          <p:nvPr/>
        </p:nvGrpSpPr>
        <p:grpSpPr>
          <a:xfrm rot="0">
            <a:off x="12449465" y="9898683"/>
            <a:ext cx="494594" cy="354254"/>
            <a:chOff x="0" y="0"/>
            <a:chExt cx="1475232" cy="1056640"/>
          </a:xfrm>
        </p:grpSpPr>
        <p:sp>
          <p:nvSpPr>
            <p:cNvPr name="Freeform 42" id="42"/>
            <p:cNvSpPr/>
            <p:nvPr/>
          </p:nvSpPr>
          <p:spPr>
            <a:xfrm flipH="false" flipV="false" rot="0">
              <a:off x="0" y="0"/>
              <a:ext cx="1475232" cy="1056640"/>
            </a:xfrm>
            <a:custGeom>
              <a:avLst/>
              <a:gdLst/>
              <a:ahLst/>
              <a:cxnLst/>
              <a:rect r="r" b="b" t="t" l="l"/>
              <a:pathLst>
                <a:path h="1056640" w="1475232">
                  <a:moveTo>
                    <a:pt x="0" y="0"/>
                  </a:moveTo>
                  <a:lnTo>
                    <a:pt x="1475232" y="0"/>
                  </a:lnTo>
                  <a:lnTo>
                    <a:pt x="1475232" y="1056640"/>
                  </a:lnTo>
                  <a:lnTo>
                    <a:pt x="0" y="1056640"/>
                  </a:lnTo>
                  <a:lnTo>
                    <a:pt x="0" y="0"/>
                  </a:lnTo>
                  <a:close/>
                </a:path>
              </a:pathLst>
            </a:custGeom>
            <a:blipFill>
              <a:blip r:embed="rId23"/>
              <a:stretch>
                <a:fillRect l="0" t="0" r="0" b="-384"/>
              </a:stretch>
            </a:blipFill>
          </p:spPr>
        </p:sp>
      </p:grpSp>
      <p:sp>
        <p:nvSpPr>
          <p:cNvPr name="TextBox 43" id="43"/>
          <p:cNvSpPr txBox="true"/>
          <p:nvPr/>
        </p:nvSpPr>
        <p:spPr>
          <a:xfrm rot="0">
            <a:off x="1555451" y="6780925"/>
            <a:ext cx="161454"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End</a:t>
            </a:r>
          </a:p>
        </p:txBody>
      </p:sp>
      <p:sp>
        <p:nvSpPr>
          <p:cNvPr name="TextBox 44" id="44"/>
          <p:cNvSpPr txBox="true"/>
          <p:nvPr/>
        </p:nvSpPr>
        <p:spPr>
          <a:xfrm rot="0">
            <a:off x="1399639" y="4140585"/>
            <a:ext cx="479291"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No, unsafe</a:t>
            </a:r>
          </a:p>
        </p:txBody>
      </p:sp>
      <p:sp>
        <p:nvSpPr>
          <p:cNvPr name="TextBox 45" id="45"/>
          <p:cNvSpPr txBox="true"/>
          <p:nvPr/>
        </p:nvSpPr>
        <p:spPr>
          <a:xfrm rot="0">
            <a:off x="1123993" y="5171636"/>
            <a:ext cx="1041610"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Cancel Special Session</a:t>
            </a:r>
          </a:p>
        </p:txBody>
      </p:sp>
      <p:sp>
        <p:nvSpPr>
          <p:cNvPr name="TextBox 46" id="46"/>
          <p:cNvSpPr txBox="true"/>
          <p:nvPr/>
        </p:nvSpPr>
        <p:spPr>
          <a:xfrm rot="0">
            <a:off x="2628246" y="6202686"/>
            <a:ext cx="585848"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Read a Value</a:t>
            </a:r>
          </a:p>
        </p:txBody>
      </p:sp>
      <p:sp>
        <p:nvSpPr>
          <p:cNvPr name="TextBox 47" id="47"/>
          <p:cNvSpPr txBox="true"/>
          <p:nvPr/>
        </p:nvSpPr>
        <p:spPr>
          <a:xfrm rot="0">
            <a:off x="2439673" y="6703564"/>
            <a:ext cx="970572" cy="269851"/>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Fetch Requested Sensor/Setting Value</a:t>
            </a:r>
          </a:p>
        </p:txBody>
      </p:sp>
      <p:sp>
        <p:nvSpPr>
          <p:cNvPr name="TextBox 48" id="48"/>
          <p:cNvSpPr txBox="true"/>
          <p:nvPr/>
        </p:nvSpPr>
        <p:spPr>
          <a:xfrm rot="0">
            <a:off x="4421922" y="6202686"/>
            <a:ext cx="628286"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Write a Value</a:t>
            </a:r>
          </a:p>
        </p:txBody>
      </p:sp>
      <p:sp>
        <p:nvSpPr>
          <p:cNvPr name="TextBox 49" id="49"/>
          <p:cNvSpPr txBox="true"/>
          <p:nvPr/>
        </p:nvSpPr>
        <p:spPr>
          <a:xfrm rot="0">
            <a:off x="4091312" y="6780925"/>
            <a:ext cx="1302706"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Update the Requested Value</a:t>
            </a:r>
          </a:p>
        </p:txBody>
      </p:sp>
      <p:sp>
        <p:nvSpPr>
          <p:cNvPr name="TextBox 50" id="50"/>
          <p:cNvSpPr txBox="true"/>
          <p:nvPr/>
        </p:nvSpPr>
        <p:spPr>
          <a:xfrm rot="0">
            <a:off x="4967785" y="1647188"/>
            <a:ext cx="1004707" cy="269855"/>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Receive and Read the Request</a:t>
            </a:r>
          </a:p>
        </p:txBody>
      </p:sp>
      <p:sp>
        <p:nvSpPr>
          <p:cNvPr name="TextBox 51" id="51"/>
          <p:cNvSpPr txBox="true"/>
          <p:nvPr/>
        </p:nvSpPr>
        <p:spPr>
          <a:xfrm rot="0">
            <a:off x="4971872" y="148288"/>
            <a:ext cx="996404" cy="269855"/>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Background Listener running since startup</a:t>
            </a:r>
          </a:p>
        </p:txBody>
      </p:sp>
      <p:sp>
        <p:nvSpPr>
          <p:cNvPr name="TextBox 52" id="52"/>
          <p:cNvSpPr txBox="true"/>
          <p:nvPr/>
        </p:nvSpPr>
        <p:spPr>
          <a:xfrm rot="0">
            <a:off x="4817167" y="897736"/>
            <a:ext cx="1311933" cy="269855"/>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Wait for a Request from the Dashboard</a:t>
            </a:r>
          </a:p>
        </p:txBody>
      </p:sp>
      <p:sp>
        <p:nvSpPr>
          <p:cNvPr name="TextBox 53" id="53"/>
          <p:cNvSpPr txBox="true"/>
          <p:nvPr/>
        </p:nvSpPr>
        <p:spPr>
          <a:xfrm rot="0">
            <a:off x="4828927" y="2940808"/>
            <a:ext cx="1287944" cy="405532"/>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Is vehicle stationary and battery healthy, if a special session is active?</a:t>
            </a:r>
          </a:p>
        </p:txBody>
      </p:sp>
      <p:sp>
        <p:nvSpPr>
          <p:cNvPr name="TextBox 54" id="54"/>
          <p:cNvSpPr txBox="true"/>
          <p:nvPr/>
        </p:nvSpPr>
        <p:spPr>
          <a:xfrm rot="0">
            <a:off x="6064074" y="6202686"/>
            <a:ext cx="979798"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Change Session Mode</a:t>
            </a:r>
          </a:p>
        </p:txBody>
      </p:sp>
      <p:sp>
        <p:nvSpPr>
          <p:cNvPr name="TextBox 55" id="55"/>
          <p:cNvSpPr txBox="true"/>
          <p:nvPr/>
        </p:nvSpPr>
        <p:spPr>
          <a:xfrm rot="0">
            <a:off x="5955047" y="6635723"/>
            <a:ext cx="1202144" cy="405528"/>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Switch Diagnostic Session Normal / Extended / Programming</a:t>
            </a:r>
          </a:p>
        </p:txBody>
      </p:sp>
      <p:sp>
        <p:nvSpPr>
          <p:cNvPr name="TextBox 56" id="56"/>
          <p:cNvSpPr txBox="true"/>
          <p:nvPr/>
        </p:nvSpPr>
        <p:spPr>
          <a:xfrm rot="0">
            <a:off x="8050615" y="6202686"/>
            <a:ext cx="643972" cy="124654"/>
          </a:xfrm>
          <a:prstGeom prst="rect">
            <a:avLst/>
          </a:prstGeom>
        </p:spPr>
        <p:txBody>
          <a:bodyPr anchor="t" rtlCol="false" tIns="0" lIns="0" bIns="0" rIns="0">
            <a:spAutoFit/>
          </a:bodyPr>
          <a:lstStyle/>
          <a:p>
            <a:pPr algn="l">
              <a:lnSpc>
                <a:spcPts val="997"/>
              </a:lnSpc>
            </a:pPr>
            <a:r>
              <a:rPr lang="en-US" sz="712" i="true" spc="-8">
                <a:solidFill>
                  <a:srgbClr val="28253D"/>
                </a:solidFill>
                <a:latin typeface="Montserrat Italics"/>
                <a:ea typeface="Montserrat Italics"/>
                <a:cs typeface="Montserrat Italics"/>
                <a:sym typeface="Montserrat Italics"/>
              </a:rPr>
              <a:t>Unlock Access</a:t>
            </a:r>
          </a:p>
        </p:txBody>
      </p:sp>
      <p:sp>
        <p:nvSpPr>
          <p:cNvPr name="TextBox 57" id="57"/>
          <p:cNvSpPr txBox="true"/>
          <p:nvPr/>
        </p:nvSpPr>
        <p:spPr>
          <a:xfrm rot="0">
            <a:off x="7825344" y="6703564"/>
            <a:ext cx="1103426" cy="269851"/>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Verify Security Key and Grant Access</a:t>
            </a:r>
          </a:p>
        </p:txBody>
      </p:sp>
      <p:sp>
        <p:nvSpPr>
          <p:cNvPr name="TextBox 58" id="58"/>
          <p:cNvSpPr txBox="true"/>
          <p:nvPr/>
        </p:nvSpPr>
        <p:spPr>
          <a:xfrm rot="0">
            <a:off x="8997849" y="7588689"/>
            <a:ext cx="1036999" cy="269851"/>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Prepare Response and Queue it to Send Back</a:t>
            </a:r>
          </a:p>
        </p:txBody>
      </p:sp>
      <p:sp>
        <p:nvSpPr>
          <p:cNvPr name="TextBox 59" id="59"/>
          <p:cNvSpPr txBox="true"/>
          <p:nvPr/>
        </p:nvSpPr>
        <p:spPr>
          <a:xfrm rot="0">
            <a:off x="8895690" y="8338141"/>
            <a:ext cx="1245506" cy="269851"/>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Queue for Transmission on CAN Bus</a:t>
            </a:r>
          </a:p>
        </p:txBody>
      </p:sp>
      <p:sp>
        <p:nvSpPr>
          <p:cNvPr name="TextBox 60" id="60"/>
          <p:cNvSpPr txBox="true"/>
          <p:nvPr/>
        </p:nvSpPr>
        <p:spPr>
          <a:xfrm rot="0">
            <a:off x="8868031" y="9155434"/>
            <a:ext cx="1301782" cy="269851"/>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Background Sender Delivers the Response</a:t>
            </a:r>
          </a:p>
        </p:txBody>
      </p:sp>
      <p:sp>
        <p:nvSpPr>
          <p:cNvPr name="TextBox 61" id="61"/>
          <p:cNvSpPr txBox="true"/>
          <p:nvPr/>
        </p:nvSpPr>
        <p:spPr>
          <a:xfrm rot="0">
            <a:off x="9158715" y="4140585"/>
            <a:ext cx="1179999"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Yes, safe / not applicable</a:t>
            </a:r>
          </a:p>
        </p:txBody>
      </p:sp>
      <p:sp>
        <p:nvSpPr>
          <p:cNvPr name="TextBox 62" id="62"/>
          <p:cNvSpPr txBox="true"/>
          <p:nvPr/>
        </p:nvSpPr>
        <p:spPr>
          <a:xfrm rot="0">
            <a:off x="9129285" y="5171636"/>
            <a:ext cx="1239971"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What kind of request is it?</a:t>
            </a:r>
          </a:p>
        </p:txBody>
      </p:sp>
      <p:sp>
        <p:nvSpPr>
          <p:cNvPr name="TextBox 63" id="63"/>
          <p:cNvSpPr txBox="true"/>
          <p:nvPr/>
        </p:nvSpPr>
        <p:spPr>
          <a:xfrm rot="0">
            <a:off x="9717900" y="6202686"/>
            <a:ext cx="959501"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Control a Component</a:t>
            </a:r>
          </a:p>
        </p:txBody>
      </p:sp>
      <p:sp>
        <p:nvSpPr>
          <p:cNvPr name="TextBox 64" id="64"/>
          <p:cNvSpPr txBox="true"/>
          <p:nvPr/>
        </p:nvSpPr>
        <p:spPr>
          <a:xfrm rot="0">
            <a:off x="9620229" y="6635723"/>
            <a:ext cx="1158782" cy="405528"/>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Turn a Component On/Off only allowed in unlocked sessions</a:t>
            </a:r>
          </a:p>
        </p:txBody>
      </p:sp>
      <p:sp>
        <p:nvSpPr>
          <p:cNvPr name="TextBox 65" id="65"/>
          <p:cNvSpPr txBox="true"/>
          <p:nvPr/>
        </p:nvSpPr>
        <p:spPr>
          <a:xfrm rot="0">
            <a:off x="11618079" y="6202686"/>
            <a:ext cx="799891"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Clear Fault Codes</a:t>
            </a:r>
          </a:p>
        </p:txBody>
      </p:sp>
      <p:sp>
        <p:nvSpPr>
          <p:cNvPr name="TextBox 66" id="66"/>
          <p:cNvSpPr txBox="true"/>
          <p:nvPr/>
        </p:nvSpPr>
        <p:spPr>
          <a:xfrm rot="0">
            <a:off x="11448433" y="6635723"/>
            <a:ext cx="1145864" cy="405528"/>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Erase Stored Fault Codes only allowed in Programming mode</a:t>
            </a:r>
          </a:p>
        </p:txBody>
      </p:sp>
      <p:sp>
        <p:nvSpPr>
          <p:cNvPr name="TextBox 67" id="67"/>
          <p:cNvSpPr txBox="true"/>
          <p:nvPr/>
        </p:nvSpPr>
        <p:spPr>
          <a:xfrm rot="0">
            <a:off x="12591916" y="9982247"/>
            <a:ext cx="161454"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End</a:t>
            </a:r>
          </a:p>
        </p:txBody>
      </p:sp>
      <p:sp>
        <p:nvSpPr>
          <p:cNvPr name="TextBox 68" id="68"/>
          <p:cNvSpPr txBox="true"/>
          <p:nvPr/>
        </p:nvSpPr>
        <p:spPr>
          <a:xfrm rot="0">
            <a:off x="13449510" y="6202686"/>
            <a:ext cx="780518"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Read Fault Codes</a:t>
            </a:r>
          </a:p>
        </p:txBody>
      </p:sp>
      <p:sp>
        <p:nvSpPr>
          <p:cNvPr name="TextBox 69" id="69"/>
          <p:cNvSpPr txBox="true"/>
          <p:nvPr/>
        </p:nvSpPr>
        <p:spPr>
          <a:xfrm rot="0">
            <a:off x="13217473" y="6567887"/>
            <a:ext cx="1253809" cy="541205"/>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Return List of Stored Fault Codes</a:t>
            </a:r>
          </a:p>
          <a:p>
            <a:pPr algn="ctr">
              <a:lnSpc>
                <a:spcPts val="1068"/>
              </a:lnSpc>
            </a:pPr>
            <a:r>
              <a:rPr lang="en-US" sz="712" i="true" spc="-9">
                <a:solidFill>
                  <a:srgbClr val="28253D"/>
                </a:solidFill>
                <a:latin typeface="Montserrat Italics"/>
                <a:ea typeface="Montserrat Italics"/>
                <a:cs typeface="Montserrat Italics"/>
                <a:sym typeface="Montserrat Italics"/>
              </a:rPr>
              <a:t>only allowed in unlocked sessions</a:t>
            </a:r>
          </a:p>
        </p:txBody>
      </p:sp>
      <p:sp>
        <p:nvSpPr>
          <p:cNvPr name="TextBox 70" id="70"/>
          <p:cNvSpPr txBox="true"/>
          <p:nvPr/>
        </p:nvSpPr>
        <p:spPr>
          <a:xfrm rot="0">
            <a:off x="15075861" y="6202686"/>
            <a:ext cx="1065599"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Firmware Update Steps</a:t>
            </a:r>
          </a:p>
        </p:txBody>
      </p:sp>
      <p:sp>
        <p:nvSpPr>
          <p:cNvPr name="TextBox 71" id="71"/>
          <p:cNvSpPr txBox="true"/>
          <p:nvPr/>
        </p:nvSpPr>
        <p:spPr>
          <a:xfrm rot="0">
            <a:off x="15008020" y="6703564"/>
            <a:ext cx="1203988" cy="269851"/>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Start / Send Data / Finish Firmware Update Process</a:t>
            </a:r>
          </a:p>
        </p:txBody>
      </p:sp>
      <p:sp>
        <p:nvSpPr>
          <p:cNvPr name="TextBox 72" id="72"/>
          <p:cNvSpPr txBox="true"/>
          <p:nvPr/>
        </p:nvSpPr>
        <p:spPr>
          <a:xfrm rot="0">
            <a:off x="16101814" y="9087593"/>
            <a:ext cx="848788" cy="405528"/>
          </a:xfrm>
          <a:prstGeom prst="rect">
            <a:avLst/>
          </a:prstGeom>
        </p:spPr>
        <p:txBody>
          <a:bodyPr anchor="t" rtlCol="false" tIns="0" lIns="0" bIns="0" rIns="0">
            <a:spAutoFit/>
          </a:bodyPr>
          <a:lstStyle/>
          <a:p>
            <a:pPr algn="ctr">
              <a:lnSpc>
                <a:spcPts val="1068"/>
              </a:lnSpc>
            </a:pPr>
            <a:r>
              <a:rPr lang="en-US" sz="712" i="true" spc="-9">
                <a:solidFill>
                  <a:srgbClr val="28253D"/>
                </a:solidFill>
                <a:latin typeface="Montserrat Italics"/>
                <a:ea typeface="Montserrat Italics"/>
                <a:cs typeface="Montserrat Italics"/>
                <a:sym typeface="Montserrat Italics"/>
              </a:rPr>
              <a:t>Just Acknowledge Connection</a:t>
            </a:r>
          </a:p>
          <a:p>
            <a:pPr algn="ctr">
              <a:lnSpc>
                <a:spcPts val="1068"/>
              </a:lnSpc>
            </a:pPr>
            <a:r>
              <a:rPr lang="en-US" sz="712" i="true" spc="-9">
                <a:solidFill>
                  <a:srgbClr val="28253D"/>
                </a:solidFill>
                <a:latin typeface="Montserrat Italics"/>
                <a:ea typeface="Montserrat Italics"/>
                <a:cs typeface="Montserrat Italics"/>
                <a:sym typeface="Montserrat Italics"/>
              </a:rPr>
              <a:t>no reply needed</a:t>
            </a:r>
          </a:p>
        </p:txBody>
      </p:sp>
      <p:sp>
        <p:nvSpPr>
          <p:cNvPr name="TextBox 73" id="73"/>
          <p:cNvSpPr txBox="true"/>
          <p:nvPr/>
        </p:nvSpPr>
        <p:spPr>
          <a:xfrm rot="0">
            <a:off x="16071072" y="7666054"/>
            <a:ext cx="911524" cy="124654"/>
          </a:xfrm>
          <a:prstGeom prst="rect">
            <a:avLst/>
          </a:prstGeom>
        </p:spPr>
        <p:txBody>
          <a:bodyPr anchor="t" rtlCol="false" tIns="0" lIns="0" bIns="0" rIns="0">
            <a:spAutoFit/>
          </a:bodyPr>
          <a:lstStyle/>
          <a:p>
            <a:pPr algn="l">
              <a:lnSpc>
                <a:spcPts val="997"/>
              </a:lnSpc>
            </a:pPr>
            <a:r>
              <a:rPr lang="en-US" sz="712" i="true" spc="-9">
                <a:solidFill>
                  <a:srgbClr val="28253D"/>
                </a:solidFill>
                <a:latin typeface="Montserrat Italics"/>
                <a:ea typeface="Montserrat Italics"/>
                <a:cs typeface="Montserrat Italics"/>
                <a:sym typeface="Montserrat Italics"/>
              </a:rPr>
              <a:t>Are You Still There?</a:t>
            </a:r>
          </a:p>
        </p:txBody>
      </p:sp>
      <p:sp>
        <p:nvSpPr>
          <p:cNvPr name="Freeform 74" id="74"/>
          <p:cNvSpPr/>
          <p:nvPr/>
        </p:nvSpPr>
        <p:spPr>
          <a:xfrm flipH="false" flipV="false" rot="0">
            <a:off x="1005689" y="9579854"/>
            <a:ext cx="985390" cy="283350"/>
          </a:xfrm>
          <a:custGeom>
            <a:avLst/>
            <a:gdLst/>
            <a:ahLst/>
            <a:cxnLst/>
            <a:rect r="r" b="b" t="t" l="l"/>
            <a:pathLst>
              <a:path h="283350" w="985390">
                <a:moveTo>
                  <a:pt x="0" y="0"/>
                </a:moveTo>
                <a:lnTo>
                  <a:pt x="985389" y="0"/>
                </a:lnTo>
                <a:lnTo>
                  <a:pt x="985389" y="283350"/>
                </a:lnTo>
                <a:lnTo>
                  <a:pt x="0" y="28335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75" id="75"/>
          <p:cNvGrpSpPr/>
          <p:nvPr/>
        </p:nvGrpSpPr>
        <p:grpSpPr>
          <a:xfrm rot="0">
            <a:off x="13728188" y="238304"/>
            <a:ext cx="3531112" cy="688007"/>
            <a:chOff x="0" y="0"/>
            <a:chExt cx="4708150" cy="917342"/>
          </a:xfrm>
        </p:grpSpPr>
        <p:sp>
          <p:nvSpPr>
            <p:cNvPr name="Freeform 76" id="76"/>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26"/>
              <a:stretch>
                <a:fillRect l="0" t="-1644" r="0" b="-1644"/>
              </a:stretch>
            </a:blipFill>
            <a:ln cap="sq">
              <a:noFill/>
              <a:prstDash val="solid"/>
              <a:miter/>
            </a:ln>
          </p:spPr>
        </p:sp>
        <p:sp>
          <p:nvSpPr>
            <p:cNvPr name="TextBox 77" id="77"/>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4/8</a:t>
              </a:r>
            </a:p>
          </p:txBody>
        </p:sp>
      </p:grpSp>
      <p:grpSp>
        <p:nvGrpSpPr>
          <p:cNvPr name="Group 78" id="78"/>
          <p:cNvGrpSpPr/>
          <p:nvPr/>
        </p:nvGrpSpPr>
        <p:grpSpPr>
          <a:xfrm rot="0">
            <a:off x="16784479" y="9491358"/>
            <a:ext cx="697335" cy="357088"/>
            <a:chOff x="0" y="0"/>
            <a:chExt cx="929780" cy="476118"/>
          </a:xfrm>
        </p:grpSpPr>
        <p:sp>
          <p:nvSpPr>
            <p:cNvPr name="Freeform 79" id="7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27">
                <a:alphaModFix amt="0"/>
              </a:blip>
              <a:stretch>
                <a:fillRect l="-15701" t="0" r="-15702" b="-2"/>
              </a:stretch>
            </a:blipFill>
          </p:spPr>
        </p:sp>
        <p:sp>
          <p:nvSpPr>
            <p:cNvPr name="TextBox 80" id="8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18</a:t>
              </a:r>
            </a:p>
          </p:txBody>
        </p:sp>
      </p:grpSp>
      <p:grpSp>
        <p:nvGrpSpPr>
          <p:cNvPr name="Group 81" id="81"/>
          <p:cNvGrpSpPr/>
          <p:nvPr/>
        </p:nvGrpSpPr>
        <p:grpSpPr>
          <a:xfrm rot="0">
            <a:off x="2165603" y="9508245"/>
            <a:ext cx="1331516" cy="493053"/>
            <a:chOff x="0" y="0"/>
            <a:chExt cx="1775354" cy="657404"/>
          </a:xfrm>
        </p:grpSpPr>
        <p:sp>
          <p:nvSpPr>
            <p:cNvPr name="TextBox 82" id="82"/>
            <p:cNvSpPr txBox="true"/>
            <p:nvPr/>
          </p:nvSpPr>
          <p:spPr>
            <a:xfrm rot="0">
              <a:off x="292100"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83" id="83"/>
            <p:cNvSpPr/>
            <p:nvPr/>
          </p:nvSpPr>
          <p:spPr>
            <a:xfrm flipV="true">
              <a:off x="19050"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grpSp>
        <p:nvGrpSpPr>
          <p:cNvPr name="Group 2" id="2"/>
          <p:cNvGrpSpPr/>
          <p:nvPr/>
        </p:nvGrpSpPr>
        <p:grpSpPr>
          <a:xfrm rot="0">
            <a:off x="9526838" y="0"/>
            <a:ext cx="8761162" cy="10328300"/>
            <a:chOff x="0" y="0"/>
            <a:chExt cx="11681549" cy="13771067"/>
          </a:xfrm>
        </p:grpSpPr>
        <p:grpSp>
          <p:nvGrpSpPr>
            <p:cNvPr name="Group 3" id="3"/>
            <p:cNvGrpSpPr/>
            <p:nvPr/>
          </p:nvGrpSpPr>
          <p:grpSpPr>
            <a:xfrm rot="0">
              <a:off x="0" y="0"/>
              <a:ext cx="11681549" cy="13771067"/>
              <a:chOff x="0" y="0"/>
              <a:chExt cx="11681549" cy="13771067"/>
            </a:xfrm>
          </p:grpSpPr>
          <p:sp>
            <p:nvSpPr>
              <p:cNvPr name="Freeform 4" id="4"/>
              <p:cNvSpPr/>
              <p:nvPr/>
            </p:nvSpPr>
            <p:spPr>
              <a:xfrm flipH="false" flipV="false" rot="0">
                <a:off x="0" y="0"/>
                <a:ext cx="11681587" cy="13771068"/>
              </a:xfrm>
              <a:custGeom>
                <a:avLst/>
                <a:gdLst/>
                <a:ahLst/>
                <a:cxnLst/>
                <a:rect r="r" b="b" t="t" l="l"/>
                <a:pathLst>
                  <a:path h="13771068" w="11681587">
                    <a:moveTo>
                      <a:pt x="0" y="0"/>
                    </a:moveTo>
                    <a:lnTo>
                      <a:pt x="11681587" y="0"/>
                    </a:lnTo>
                    <a:lnTo>
                      <a:pt x="11681587" y="13771068"/>
                    </a:lnTo>
                    <a:lnTo>
                      <a:pt x="0" y="13771068"/>
                    </a:lnTo>
                    <a:close/>
                  </a:path>
                </a:pathLst>
              </a:custGeom>
              <a:solidFill>
                <a:srgbClr val="4D5154"/>
              </a:solidFill>
            </p:spPr>
          </p:sp>
        </p:grpSp>
        <p:sp>
          <p:nvSpPr>
            <p:cNvPr name="TextBox 5" id="5"/>
            <p:cNvSpPr txBox="true"/>
            <p:nvPr/>
          </p:nvSpPr>
          <p:spPr>
            <a:xfrm rot="0">
              <a:off x="121920" y="32385"/>
              <a:ext cx="11437709"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AutoShape 6" id="6"/>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7" id="7"/>
          <p:cNvGrpSpPr/>
          <p:nvPr/>
        </p:nvGrpSpPr>
        <p:grpSpPr>
          <a:xfrm rot="0">
            <a:off x="16784479" y="9491358"/>
            <a:ext cx="697335" cy="357092"/>
            <a:chOff x="0" y="0"/>
            <a:chExt cx="929780" cy="476123"/>
          </a:xfrm>
        </p:grpSpPr>
        <p:sp>
          <p:nvSpPr>
            <p:cNvPr name="Freeform 8" id="8"/>
            <p:cNvSpPr/>
            <p:nvPr/>
          </p:nvSpPr>
          <p:spPr>
            <a:xfrm flipH="false" flipV="false" rot="0">
              <a:off x="0" y="0"/>
              <a:ext cx="929776" cy="476118"/>
            </a:xfrm>
            <a:custGeom>
              <a:avLst/>
              <a:gdLst/>
              <a:ahLst/>
              <a:cxnLst/>
              <a:rect r="r" b="b" t="t" l="l"/>
              <a:pathLst>
                <a:path h="476118" w="929776">
                  <a:moveTo>
                    <a:pt x="0" y="0"/>
                  </a:moveTo>
                  <a:lnTo>
                    <a:pt x="929776" y="0"/>
                  </a:lnTo>
                  <a:lnTo>
                    <a:pt x="929776" y="476118"/>
                  </a:lnTo>
                  <a:lnTo>
                    <a:pt x="0" y="476118"/>
                  </a:lnTo>
                  <a:close/>
                </a:path>
              </a:pathLst>
            </a:custGeom>
            <a:blipFill>
              <a:blip r:embed="rId3">
                <a:alphaModFix amt="0"/>
              </a:blip>
              <a:stretch>
                <a:fillRect l="-15701" t="0" r="-15702" b="-1"/>
              </a:stretch>
            </a:blipFill>
          </p:spPr>
        </p:sp>
        <p:sp>
          <p:nvSpPr>
            <p:cNvPr name="TextBox 9" id="9"/>
            <p:cNvSpPr txBox="true"/>
            <p:nvPr/>
          </p:nvSpPr>
          <p:spPr>
            <a:xfrm>
              <a:off x="0" y="-19050"/>
              <a:ext cx="929780" cy="495173"/>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13</a:t>
              </a:r>
            </a:p>
          </p:txBody>
        </p:sp>
      </p:grpSp>
      <p:grpSp>
        <p:nvGrpSpPr>
          <p:cNvPr name="Group 10" id="10"/>
          <p:cNvGrpSpPr/>
          <p:nvPr/>
        </p:nvGrpSpPr>
        <p:grpSpPr>
          <a:xfrm rot="0">
            <a:off x="15325725" y="9491367"/>
            <a:ext cx="1299210" cy="357073"/>
            <a:chOff x="0" y="0"/>
            <a:chExt cx="1732280" cy="476098"/>
          </a:xfrm>
        </p:grpSpPr>
        <p:sp>
          <p:nvSpPr>
            <p:cNvPr name="Freeform 11" id="11"/>
            <p:cNvSpPr/>
            <p:nvPr/>
          </p:nvSpPr>
          <p:spPr>
            <a:xfrm flipH="false" flipV="false" rot="0">
              <a:off x="0" y="0"/>
              <a:ext cx="1732280" cy="476102"/>
            </a:xfrm>
            <a:custGeom>
              <a:avLst/>
              <a:gdLst/>
              <a:ahLst/>
              <a:cxnLst/>
              <a:rect r="r" b="b" t="t" l="l"/>
              <a:pathLst>
                <a:path h="476102" w="1732280">
                  <a:moveTo>
                    <a:pt x="0" y="0"/>
                  </a:moveTo>
                  <a:lnTo>
                    <a:pt x="1732280" y="0"/>
                  </a:lnTo>
                  <a:lnTo>
                    <a:pt x="1732280" y="476102"/>
                  </a:lnTo>
                  <a:lnTo>
                    <a:pt x="0" y="476102"/>
                  </a:lnTo>
                  <a:close/>
                </a:path>
              </a:pathLst>
            </a:custGeom>
            <a:blipFill>
              <a:blip r:embed="rId3">
                <a:alphaModFix amt="0"/>
              </a:blip>
              <a:stretch>
                <a:fillRect l="0" t="-20896" r="0" b="-20895"/>
              </a:stretch>
            </a:blipFill>
          </p:spPr>
        </p:sp>
        <p:sp>
          <p:nvSpPr>
            <p:cNvPr name="TextBox 12" id="12"/>
            <p:cNvSpPr txBox="true"/>
            <p:nvPr/>
          </p:nvSpPr>
          <p:spPr>
            <a:xfrm>
              <a:off x="0" y="-19050"/>
              <a:ext cx="1732280" cy="49514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6/29/2026</a:t>
              </a:r>
            </a:p>
          </p:txBody>
        </p:sp>
      </p:grpSp>
      <p:grpSp>
        <p:nvGrpSpPr>
          <p:cNvPr name="Group 13" id="13"/>
          <p:cNvGrpSpPr/>
          <p:nvPr/>
        </p:nvGrpSpPr>
        <p:grpSpPr>
          <a:xfrm rot="0">
            <a:off x="9843976" y="0"/>
            <a:ext cx="8126885" cy="10287000"/>
            <a:chOff x="0" y="0"/>
            <a:chExt cx="12350820" cy="15633650"/>
          </a:xfrm>
        </p:grpSpPr>
        <p:sp>
          <p:nvSpPr>
            <p:cNvPr name="Freeform 14" id="14"/>
            <p:cNvSpPr/>
            <p:nvPr/>
          </p:nvSpPr>
          <p:spPr>
            <a:xfrm flipH="false" flipV="false" rot="0">
              <a:off x="0" y="0"/>
              <a:ext cx="12350845" cy="15633650"/>
            </a:xfrm>
            <a:custGeom>
              <a:avLst/>
              <a:gdLst/>
              <a:ahLst/>
              <a:cxnLst/>
              <a:rect r="r" b="b" t="t" l="l"/>
              <a:pathLst>
                <a:path h="15633650" w="12350845">
                  <a:moveTo>
                    <a:pt x="0" y="0"/>
                  </a:moveTo>
                  <a:lnTo>
                    <a:pt x="12350845" y="0"/>
                  </a:lnTo>
                  <a:lnTo>
                    <a:pt x="12350845" y="15633650"/>
                  </a:lnTo>
                  <a:lnTo>
                    <a:pt x="0" y="15633650"/>
                  </a:lnTo>
                  <a:lnTo>
                    <a:pt x="0" y="0"/>
                  </a:lnTo>
                  <a:close/>
                </a:path>
              </a:pathLst>
            </a:custGeom>
            <a:blipFill>
              <a:blip r:embed="rId4"/>
              <a:stretch>
                <a:fillRect l="0" t="-9427" r="0" b="-4068"/>
              </a:stretch>
            </a:blipFill>
          </p:spPr>
        </p:sp>
      </p:grpSp>
      <p:sp>
        <p:nvSpPr>
          <p:cNvPr name="TextBox 15" id="15"/>
          <p:cNvSpPr txBox="true"/>
          <p:nvPr/>
        </p:nvSpPr>
        <p:spPr>
          <a:xfrm rot="0">
            <a:off x="1028700" y="1747209"/>
            <a:ext cx="5880034" cy="723900"/>
          </a:xfrm>
          <a:prstGeom prst="rect">
            <a:avLst/>
          </a:prstGeom>
        </p:spPr>
        <p:txBody>
          <a:bodyPr anchor="t" rtlCol="false" tIns="0" lIns="0" bIns="0" rIns="0">
            <a:spAutoFit/>
          </a:bodyPr>
          <a:lstStyle/>
          <a:p>
            <a:pPr algn="l">
              <a:lnSpc>
                <a:spcPts val="5639"/>
              </a:lnSpc>
            </a:pPr>
            <a:r>
              <a:rPr lang="en-US" b="true" sz="4699" spc="-33">
                <a:solidFill>
                  <a:srgbClr val="E6E7E8"/>
                </a:solidFill>
                <a:latin typeface="Work Sans Medium"/>
                <a:ea typeface="Work Sans Medium"/>
                <a:cs typeface="Work Sans Medium"/>
                <a:sym typeface="Work Sans Medium"/>
              </a:rPr>
              <a:t>Dashboard</a:t>
            </a:r>
          </a:p>
        </p:txBody>
      </p:sp>
      <p:sp>
        <p:nvSpPr>
          <p:cNvPr name="TextBox 16" id="16"/>
          <p:cNvSpPr txBox="true"/>
          <p:nvPr/>
        </p:nvSpPr>
        <p:spPr>
          <a:xfrm rot="0">
            <a:off x="1026319" y="689144"/>
            <a:ext cx="5377987" cy="967787"/>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a:t>
            </a:r>
            <a:r>
              <a:rPr lang="en-US" sz="2095" b="true">
                <a:solidFill>
                  <a:srgbClr val="FFFFFF"/>
                </a:solidFill>
                <a:latin typeface="Work Sans Medium"/>
                <a:ea typeface="Work Sans Medium"/>
                <a:cs typeface="Work Sans Medium"/>
                <a:sym typeface="Work Sans Medium"/>
              </a:rPr>
              <a:t>EM IMPLEMENTATION </a:t>
            </a:r>
          </a:p>
          <a:p>
            <a:pPr algn="l">
              <a:lnSpc>
                <a:spcPts val="2515"/>
              </a:lnSpc>
            </a:pPr>
            <a:r>
              <a:rPr lang="en-US" sz="2095" b="true">
                <a:solidFill>
                  <a:srgbClr val="FFFFFF"/>
                </a:solidFill>
                <a:latin typeface="Work Sans Medium"/>
                <a:ea typeface="Work Sans Medium"/>
                <a:cs typeface="Work Sans Medium"/>
                <a:sym typeface="Work Sans Medium"/>
              </a:rPr>
              <a:t>· LOW-LEVEL DESIGN</a:t>
            </a:r>
          </a:p>
          <a:p>
            <a:pPr algn="l">
              <a:lnSpc>
                <a:spcPts val="2515"/>
              </a:lnSpc>
            </a:pPr>
          </a:p>
        </p:txBody>
      </p:sp>
      <p:sp>
        <p:nvSpPr>
          <p:cNvPr name="TextBox 17" id="17"/>
          <p:cNvSpPr txBox="true"/>
          <p:nvPr/>
        </p:nvSpPr>
        <p:spPr>
          <a:xfrm rot="0">
            <a:off x="1033462" y="2785434"/>
            <a:ext cx="7131038" cy="141358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dashboard provides a real-time visualization of vehicle data by receiving, decoding, processing, and presenting CAN messages through an interactive web interface.</a:t>
            </a:r>
          </a:p>
        </p:txBody>
      </p:sp>
      <p:graphicFrame>
        <p:nvGraphicFramePr>
          <p:cNvPr name="Table 18" id="18"/>
          <p:cNvGraphicFramePr>
            <a:graphicFrameLocks noGrp="true"/>
          </p:cNvGraphicFramePr>
          <p:nvPr/>
        </p:nvGraphicFramePr>
        <p:xfrm>
          <a:off x="1033462" y="4562709"/>
          <a:ext cx="7131038" cy="719138"/>
        </p:xfrm>
        <a:graphic>
          <a:graphicData uri="http://schemas.openxmlformats.org/drawingml/2006/table">
            <a:tbl>
              <a:tblPr/>
              <a:tblGrid>
                <a:gridCol w="7131038"/>
              </a:tblGrid>
              <a:tr h="719138">
                <a:tc>
                  <a:txBody>
                    <a:bodyPr anchor="t" rtlCol="false"/>
                    <a:lstStyle/>
                    <a:p>
                      <a:pPr algn="l">
                        <a:lnSpc>
                          <a:spcPts val="2759"/>
                        </a:lnSpc>
                        <a:defRPr/>
                      </a:pPr>
                      <a:r>
                        <a:rPr lang="en-US" b="true" sz="2299">
                          <a:solidFill>
                            <a:srgbClr val="000000"/>
                          </a:solidFill>
                          <a:latin typeface="Work Sans Bold"/>
                          <a:ea typeface="Work Sans Bold"/>
                          <a:cs typeface="Work Sans Bold"/>
                          <a:sym typeface="Work Sans Bold"/>
                        </a:rPr>
                        <a:t>Client → ECU</a:t>
                      </a:r>
                      <a:endParaRPr lang="en-US" sz="1100"/>
                    </a:p>
                  </a:txBody>
                  <a:tcPr marL="113580" marR="113580" marT="113580" marB="11358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r>
            </a:tbl>
          </a:graphicData>
        </a:graphic>
      </p:graphicFrame>
      <p:sp>
        <p:nvSpPr>
          <p:cNvPr name="TextBox 19" id="19"/>
          <p:cNvSpPr txBox="true"/>
          <p:nvPr/>
        </p:nvSpPr>
        <p:spPr>
          <a:xfrm rot="0">
            <a:off x="1033462" y="5393532"/>
            <a:ext cx="7686244" cy="356311"/>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Diagnostic requests are transmitted over the CAN network.</a:t>
            </a:r>
          </a:p>
        </p:txBody>
      </p:sp>
      <p:graphicFrame>
        <p:nvGraphicFramePr>
          <p:cNvPr name="Table 20" id="20"/>
          <p:cNvGraphicFramePr>
            <a:graphicFrameLocks noGrp="true"/>
          </p:cNvGraphicFramePr>
          <p:nvPr/>
        </p:nvGraphicFramePr>
        <p:xfrm>
          <a:off x="1028700" y="5911768"/>
          <a:ext cx="7135800" cy="719137"/>
        </p:xfrm>
        <a:graphic>
          <a:graphicData uri="http://schemas.openxmlformats.org/drawingml/2006/table">
            <a:tbl>
              <a:tblPr/>
              <a:tblGrid>
                <a:gridCol w="7135800"/>
              </a:tblGrid>
              <a:tr h="719137">
                <a:tc>
                  <a:txBody>
                    <a:bodyPr anchor="t" rtlCol="false"/>
                    <a:lstStyle/>
                    <a:p>
                      <a:pPr algn="l">
                        <a:lnSpc>
                          <a:spcPts val="2759"/>
                        </a:lnSpc>
                        <a:defRPr/>
                      </a:pPr>
                      <a:r>
                        <a:rPr lang="en-US" b="true" sz="2299">
                          <a:solidFill>
                            <a:srgbClr val="000000"/>
                          </a:solidFill>
                          <a:latin typeface="Work Sans Bold"/>
                          <a:ea typeface="Work Sans Bold"/>
                          <a:cs typeface="Work Sans Bold"/>
                          <a:sym typeface="Work Sans Bold"/>
                        </a:rPr>
                        <a:t>ISO-TP Layer</a:t>
                      </a:r>
                      <a:endParaRPr lang="en-US" sz="1100"/>
                    </a:p>
                  </a:txBody>
                  <a:tcPr marL="113580" marR="113580" marT="113580" marB="11358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8FDB00"/>
                    </a:solidFill>
                  </a:tcPr>
                </a:tc>
              </a:tr>
            </a:tbl>
          </a:graphicData>
        </a:graphic>
      </p:graphicFrame>
      <p:sp>
        <p:nvSpPr>
          <p:cNvPr name="TextBox 21" id="21"/>
          <p:cNvSpPr txBox="true"/>
          <p:nvPr/>
        </p:nvSpPr>
        <p:spPr>
          <a:xfrm rot="0">
            <a:off x="1028700" y="6745205"/>
            <a:ext cx="7686244" cy="70873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Large messages are segmented, transmitted, and reassembled transparently.</a:t>
            </a:r>
          </a:p>
        </p:txBody>
      </p:sp>
      <p:graphicFrame>
        <p:nvGraphicFramePr>
          <p:cNvPr name="Table 22" id="22"/>
          <p:cNvGraphicFramePr>
            <a:graphicFrameLocks noGrp="true"/>
          </p:cNvGraphicFramePr>
          <p:nvPr/>
        </p:nvGraphicFramePr>
        <p:xfrm>
          <a:off x="1026319" y="7615866"/>
          <a:ext cx="7140563" cy="719886"/>
        </p:xfrm>
        <a:graphic>
          <a:graphicData uri="http://schemas.openxmlformats.org/drawingml/2006/table">
            <a:tbl>
              <a:tblPr/>
              <a:tblGrid>
                <a:gridCol w="7140563"/>
              </a:tblGrid>
              <a:tr h="719886">
                <a:tc>
                  <a:txBody>
                    <a:bodyPr anchor="t" rtlCol="false"/>
                    <a:lstStyle/>
                    <a:p>
                      <a:pPr algn="l">
                        <a:lnSpc>
                          <a:spcPts val="2759"/>
                        </a:lnSpc>
                        <a:defRPr/>
                      </a:pPr>
                      <a:r>
                        <a:rPr lang="en-US" b="true" sz="2299">
                          <a:solidFill>
                            <a:srgbClr val="FFFFFF"/>
                          </a:solidFill>
                          <a:latin typeface="Work Sans Bold"/>
                          <a:ea typeface="Work Sans Bold"/>
                          <a:cs typeface="Work Sans Bold"/>
                          <a:sym typeface="Work Sans Bold"/>
                        </a:rPr>
                        <a:t>ECU Response</a:t>
                      </a:r>
                      <a:endParaRPr lang="en-US" sz="1100"/>
                    </a:p>
                  </a:txBody>
                  <a:tcPr marL="113580" marR="113580" marT="113580" marB="11358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22AD8"/>
                    </a:solidFill>
                  </a:tcPr>
                </a:tc>
              </a:tr>
            </a:tbl>
          </a:graphicData>
        </a:graphic>
      </p:graphicFrame>
      <p:sp>
        <p:nvSpPr>
          <p:cNvPr name="TextBox 23" id="23"/>
          <p:cNvSpPr txBox="true"/>
          <p:nvPr/>
        </p:nvSpPr>
        <p:spPr>
          <a:xfrm rot="0">
            <a:off x="1033462" y="8364327"/>
            <a:ext cx="7686244" cy="70873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ECU executes the requested service and returns a positive or negative response.</a:t>
            </a:r>
          </a:p>
        </p:txBody>
      </p:sp>
      <p:grpSp>
        <p:nvGrpSpPr>
          <p:cNvPr name="Group 24" id="24"/>
          <p:cNvGrpSpPr/>
          <p:nvPr/>
        </p:nvGrpSpPr>
        <p:grpSpPr>
          <a:xfrm rot="0">
            <a:off x="926309" y="9491358"/>
            <a:ext cx="2807304" cy="493053"/>
            <a:chOff x="0" y="0"/>
            <a:chExt cx="3743072" cy="657404"/>
          </a:xfrm>
        </p:grpSpPr>
        <p:sp>
          <p:nvSpPr>
            <p:cNvPr name="Freeform 25" id="25"/>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7" id="27"/>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6813484" y="0"/>
            <a:ext cx="11474516" cy="10328300"/>
            <a:chOff x="0" y="0"/>
            <a:chExt cx="15299354" cy="13771067"/>
          </a:xfrm>
        </p:grpSpPr>
        <p:grpSp>
          <p:nvGrpSpPr>
            <p:cNvPr name="Group 4" id="4"/>
            <p:cNvGrpSpPr/>
            <p:nvPr/>
          </p:nvGrpSpPr>
          <p:grpSpPr>
            <a:xfrm rot="0">
              <a:off x="0" y="0"/>
              <a:ext cx="15299354" cy="13771067"/>
              <a:chOff x="0" y="0"/>
              <a:chExt cx="15299354" cy="13771067"/>
            </a:xfrm>
          </p:grpSpPr>
          <p:sp>
            <p:nvSpPr>
              <p:cNvPr name="Freeform 5" id="5"/>
              <p:cNvSpPr/>
              <p:nvPr/>
            </p:nvSpPr>
            <p:spPr>
              <a:xfrm flipH="false" flipV="false" rot="0">
                <a:off x="0" y="0"/>
                <a:ext cx="15299392" cy="13771068"/>
              </a:xfrm>
              <a:custGeom>
                <a:avLst/>
                <a:gdLst/>
                <a:ahLst/>
                <a:cxnLst/>
                <a:rect r="r" b="b" t="t" l="l"/>
                <a:pathLst>
                  <a:path h="13771068" w="15299392">
                    <a:moveTo>
                      <a:pt x="0" y="0"/>
                    </a:moveTo>
                    <a:lnTo>
                      <a:pt x="15299392" y="0"/>
                    </a:lnTo>
                    <a:lnTo>
                      <a:pt x="15299392" y="13771068"/>
                    </a:lnTo>
                    <a:lnTo>
                      <a:pt x="0" y="13771068"/>
                    </a:lnTo>
                    <a:close/>
                  </a:path>
                </a:pathLst>
              </a:custGeom>
              <a:solidFill>
                <a:srgbClr val="4D5154"/>
              </a:solidFill>
            </p:spPr>
          </p:sp>
        </p:grpSp>
        <p:sp>
          <p:nvSpPr>
            <p:cNvPr name="TextBox 6" id="6"/>
            <p:cNvSpPr txBox="true"/>
            <p:nvPr/>
          </p:nvSpPr>
          <p:spPr>
            <a:xfrm rot="0">
              <a:off x="159679" y="32385"/>
              <a:ext cx="14979996"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7" id="7"/>
          <p:cNvSpPr txBox="true"/>
          <p:nvPr/>
        </p:nvSpPr>
        <p:spPr>
          <a:xfrm rot="0">
            <a:off x="933450" y="2410201"/>
            <a:ext cx="5880034" cy="752475"/>
          </a:xfrm>
          <a:prstGeom prst="rect">
            <a:avLst/>
          </a:prstGeom>
        </p:spPr>
        <p:txBody>
          <a:bodyPr anchor="t" rtlCol="false" tIns="0" lIns="0" bIns="0" rIns="0">
            <a:spAutoFit/>
          </a:bodyPr>
          <a:lstStyle/>
          <a:p>
            <a:pPr algn="l">
              <a:lnSpc>
                <a:spcPts val="5879"/>
              </a:lnSpc>
            </a:pPr>
            <a:r>
              <a:rPr lang="en-US" b="true" sz="4899" spc="-34">
                <a:solidFill>
                  <a:srgbClr val="E6E7E8"/>
                </a:solidFill>
                <a:latin typeface="Work Sans Medium"/>
                <a:ea typeface="Work Sans Medium"/>
                <a:cs typeface="Work Sans Medium"/>
                <a:sym typeface="Work Sans Medium"/>
              </a:rPr>
              <a:t>Listener</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20</a:t>
              </a:r>
            </a:p>
          </p:txBody>
        </p:sp>
      </p:grpSp>
      <p:sp>
        <p:nvSpPr>
          <p:cNvPr name="TextBox 11" id="11"/>
          <p:cNvSpPr txBox="true"/>
          <p:nvPr/>
        </p:nvSpPr>
        <p:spPr>
          <a:xfrm rot="0">
            <a:off x="897626" y="859465"/>
            <a:ext cx="5216674" cy="64836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a:t>
            </a:r>
            <a:r>
              <a:rPr lang="en-US" sz="2095" b="true">
                <a:solidFill>
                  <a:srgbClr val="FFFFFF"/>
                </a:solidFill>
                <a:latin typeface="Work Sans Medium"/>
                <a:ea typeface="Work Sans Medium"/>
                <a:cs typeface="Work Sans Medium"/>
                <a:sym typeface="Work Sans Medium"/>
              </a:rPr>
              <a:t>EM IMPLEMENTATION </a:t>
            </a:r>
          </a:p>
          <a:p>
            <a:pPr algn="l">
              <a:lnSpc>
                <a:spcPts val="2515"/>
              </a:lnSpc>
            </a:pPr>
            <a:r>
              <a:rPr lang="en-US" sz="2095" b="true">
                <a:solidFill>
                  <a:srgbClr val="FFFFFF"/>
                </a:solidFill>
                <a:latin typeface="Work Sans Medium"/>
                <a:ea typeface="Work Sans Medium"/>
                <a:cs typeface="Work Sans Medium"/>
                <a:sym typeface="Work Sans Medium"/>
              </a:rPr>
              <a:t>· LOW-LEVEL DESIGN</a:t>
            </a:r>
          </a:p>
        </p:txBody>
      </p:sp>
      <p:sp>
        <p:nvSpPr>
          <p:cNvPr name="TextBox 12" id="12"/>
          <p:cNvSpPr txBox="true"/>
          <p:nvPr/>
        </p:nvSpPr>
        <p:spPr>
          <a:xfrm rot="0">
            <a:off x="897626" y="4521741"/>
            <a:ext cx="4740087" cy="282328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Listener module continuously monitors the CAN bus, receives incoming CAN and UDS frames, classifies them, and forwards them to the appropriate processing modules while coordinating transmission, logging, and timeout management.</a:t>
            </a:r>
          </a:p>
        </p:txBody>
      </p:sp>
      <p:grpSp>
        <p:nvGrpSpPr>
          <p:cNvPr name="Group 13" id="13"/>
          <p:cNvGrpSpPr/>
          <p:nvPr/>
        </p:nvGrpSpPr>
        <p:grpSpPr>
          <a:xfrm rot="0">
            <a:off x="5845116" y="868990"/>
            <a:ext cx="12955676" cy="8245802"/>
            <a:chOff x="0" y="0"/>
            <a:chExt cx="17274235" cy="10994403"/>
          </a:xfrm>
        </p:grpSpPr>
        <p:sp>
          <p:nvSpPr>
            <p:cNvPr name="Freeform 14" id="14"/>
            <p:cNvSpPr/>
            <p:nvPr/>
          </p:nvSpPr>
          <p:spPr>
            <a:xfrm flipH="false" flipV="false" rot="0">
              <a:off x="0" y="0"/>
              <a:ext cx="17274287" cy="10994390"/>
            </a:xfrm>
            <a:custGeom>
              <a:avLst/>
              <a:gdLst/>
              <a:ahLst/>
              <a:cxnLst/>
              <a:rect r="r" b="b" t="t" l="l"/>
              <a:pathLst>
                <a:path h="10994390" w="17274287">
                  <a:moveTo>
                    <a:pt x="0" y="0"/>
                  </a:moveTo>
                  <a:lnTo>
                    <a:pt x="17274287" y="0"/>
                  </a:lnTo>
                  <a:lnTo>
                    <a:pt x="17274287" y="10994390"/>
                  </a:lnTo>
                  <a:lnTo>
                    <a:pt x="0" y="10994390"/>
                  </a:lnTo>
                  <a:lnTo>
                    <a:pt x="0" y="0"/>
                  </a:lnTo>
                  <a:close/>
                </a:path>
              </a:pathLst>
            </a:custGeom>
            <a:blipFill>
              <a:blip r:embed="rId4"/>
              <a:stretch>
                <a:fillRect l="0" t="-3" r="0" b="-3"/>
              </a:stretch>
            </a:blipFill>
          </p:spPr>
        </p:sp>
      </p:grpSp>
      <p:grpSp>
        <p:nvGrpSpPr>
          <p:cNvPr name="Group 15" id="15"/>
          <p:cNvGrpSpPr/>
          <p:nvPr/>
        </p:nvGrpSpPr>
        <p:grpSpPr>
          <a:xfrm rot="0">
            <a:off x="14549864" y="38108"/>
            <a:ext cx="3531112" cy="688007"/>
            <a:chOff x="0" y="0"/>
            <a:chExt cx="4708150" cy="917342"/>
          </a:xfrm>
        </p:grpSpPr>
        <p:sp>
          <p:nvSpPr>
            <p:cNvPr name="Freeform 16" id="16"/>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5"/>
              <a:stretch>
                <a:fillRect l="0" t="-1644" r="0" b="-1644"/>
              </a:stretch>
            </a:blipFill>
            <a:ln cap="sq">
              <a:noFill/>
              <a:prstDash val="solid"/>
              <a:miter/>
            </a:ln>
          </p:spPr>
        </p:sp>
        <p:sp>
          <p:nvSpPr>
            <p:cNvPr name="TextBox 17" id="17"/>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4/8</a:t>
              </a:r>
            </a:p>
          </p:txBody>
        </p:sp>
      </p:grpSp>
      <p:grpSp>
        <p:nvGrpSpPr>
          <p:cNvPr name="Group 18" id="18"/>
          <p:cNvGrpSpPr/>
          <p:nvPr/>
        </p:nvGrpSpPr>
        <p:grpSpPr>
          <a:xfrm rot="0">
            <a:off x="15325725" y="9491367"/>
            <a:ext cx="1299210" cy="357077"/>
            <a:chOff x="0" y="0"/>
            <a:chExt cx="1732280" cy="476102"/>
          </a:xfrm>
        </p:grpSpPr>
        <p:sp>
          <p:nvSpPr>
            <p:cNvPr name="Freeform 19" id="19"/>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0" id="20"/>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1" id="21"/>
          <p:cNvGrpSpPr/>
          <p:nvPr/>
        </p:nvGrpSpPr>
        <p:grpSpPr>
          <a:xfrm rot="0">
            <a:off x="926309" y="9491358"/>
            <a:ext cx="2807304" cy="493053"/>
            <a:chOff x="0" y="0"/>
            <a:chExt cx="3743072" cy="657404"/>
          </a:xfrm>
        </p:grpSpPr>
        <p:sp>
          <p:nvSpPr>
            <p:cNvPr name="Freeform 22" id="22"/>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4" id="24"/>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6813484" y="0"/>
            <a:ext cx="11474516" cy="10328300"/>
            <a:chOff x="0" y="0"/>
            <a:chExt cx="15299354" cy="13771067"/>
          </a:xfrm>
        </p:grpSpPr>
        <p:grpSp>
          <p:nvGrpSpPr>
            <p:cNvPr name="Group 4" id="4"/>
            <p:cNvGrpSpPr/>
            <p:nvPr/>
          </p:nvGrpSpPr>
          <p:grpSpPr>
            <a:xfrm rot="0">
              <a:off x="0" y="0"/>
              <a:ext cx="15299354" cy="13771067"/>
              <a:chOff x="0" y="0"/>
              <a:chExt cx="15299354" cy="13771067"/>
            </a:xfrm>
          </p:grpSpPr>
          <p:sp>
            <p:nvSpPr>
              <p:cNvPr name="Freeform 5" id="5"/>
              <p:cNvSpPr/>
              <p:nvPr/>
            </p:nvSpPr>
            <p:spPr>
              <a:xfrm flipH="false" flipV="false" rot="0">
                <a:off x="0" y="0"/>
                <a:ext cx="15299392" cy="13771068"/>
              </a:xfrm>
              <a:custGeom>
                <a:avLst/>
                <a:gdLst/>
                <a:ahLst/>
                <a:cxnLst/>
                <a:rect r="r" b="b" t="t" l="l"/>
                <a:pathLst>
                  <a:path h="13771068" w="15299392">
                    <a:moveTo>
                      <a:pt x="0" y="0"/>
                    </a:moveTo>
                    <a:lnTo>
                      <a:pt x="15299392" y="0"/>
                    </a:lnTo>
                    <a:lnTo>
                      <a:pt x="15299392" y="13771068"/>
                    </a:lnTo>
                    <a:lnTo>
                      <a:pt x="0" y="13771068"/>
                    </a:lnTo>
                    <a:close/>
                  </a:path>
                </a:pathLst>
              </a:custGeom>
              <a:solidFill>
                <a:srgbClr val="4D5154"/>
              </a:solidFill>
            </p:spPr>
          </p:sp>
        </p:grpSp>
        <p:sp>
          <p:nvSpPr>
            <p:cNvPr name="TextBox 6" id="6"/>
            <p:cNvSpPr txBox="true"/>
            <p:nvPr/>
          </p:nvSpPr>
          <p:spPr>
            <a:xfrm rot="0">
              <a:off x="159679" y="32385"/>
              <a:ext cx="14979996"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7" id="7"/>
          <p:cNvSpPr txBox="true"/>
          <p:nvPr/>
        </p:nvSpPr>
        <p:spPr>
          <a:xfrm rot="0">
            <a:off x="933450" y="2410201"/>
            <a:ext cx="5880034" cy="752475"/>
          </a:xfrm>
          <a:prstGeom prst="rect">
            <a:avLst/>
          </a:prstGeom>
        </p:spPr>
        <p:txBody>
          <a:bodyPr anchor="t" rtlCol="false" tIns="0" lIns="0" bIns="0" rIns="0">
            <a:spAutoFit/>
          </a:bodyPr>
          <a:lstStyle/>
          <a:p>
            <a:pPr algn="l">
              <a:lnSpc>
                <a:spcPts val="5879"/>
              </a:lnSpc>
            </a:pPr>
            <a:r>
              <a:rPr lang="en-US" b="true" sz="4899" spc="-34">
                <a:solidFill>
                  <a:srgbClr val="E6E7E8"/>
                </a:solidFill>
                <a:latin typeface="Work Sans Medium"/>
                <a:ea typeface="Work Sans Medium"/>
                <a:cs typeface="Work Sans Medium"/>
                <a:sym typeface="Work Sans Medium"/>
              </a:rPr>
              <a:t>Logger</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21</a:t>
              </a:r>
            </a:p>
          </p:txBody>
        </p:sp>
      </p:grpSp>
      <p:sp>
        <p:nvSpPr>
          <p:cNvPr name="TextBox 11" id="11"/>
          <p:cNvSpPr txBox="true"/>
          <p:nvPr/>
        </p:nvSpPr>
        <p:spPr>
          <a:xfrm rot="0">
            <a:off x="897626" y="859465"/>
            <a:ext cx="5216674" cy="64836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a:t>
            </a:r>
            <a:r>
              <a:rPr lang="en-US" sz="2095" b="true">
                <a:solidFill>
                  <a:srgbClr val="FFFFFF"/>
                </a:solidFill>
                <a:latin typeface="Work Sans Medium"/>
                <a:ea typeface="Work Sans Medium"/>
                <a:cs typeface="Work Sans Medium"/>
                <a:sym typeface="Work Sans Medium"/>
              </a:rPr>
              <a:t>EM IMPLEMENTATION </a:t>
            </a:r>
          </a:p>
          <a:p>
            <a:pPr algn="l">
              <a:lnSpc>
                <a:spcPts val="2515"/>
              </a:lnSpc>
            </a:pPr>
            <a:r>
              <a:rPr lang="en-US" sz="2095" b="true">
                <a:solidFill>
                  <a:srgbClr val="FFFFFF"/>
                </a:solidFill>
                <a:latin typeface="Work Sans Medium"/>
                <a:ea typeface="Work Sans Medium"/>
                <a:cs typeface="Work Sans Medium"/>
                <a:sym typeface="Work Sans Medium"/>
              </a:rPr>
              <a:t>· LOW-LEVEL DESIGN</a:t>
            </a:r>
          </a:p>
        </p:txBody>
      </p:sp>
      <p:sp>
        <p:nvSpPr>
          <p:cNvPr name="TextBox 12" id="12"/>
          <p:cNvSpPr txBox="true"/>
          <p:nvPr/>
        </p:nvSpPr>
        <p:spPr>
          <a:xfrm rot="0">
            <a:off x="897626" y="4521741"/>
            <a:ext cx="4740087" cy="282328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Logger module records decoded CAN messages and system events using a ring buffer to minimize I/O overhead. It periodically writes buffered data to CSV files, performs automatic log rotation, and ensures reliable storage for post-analysis and debugging.</a:t>
            </a:r>
          </a:p>
        </p:txBody>
      </p:sp>
      <p:grpSp>
        <p:nvGrpSpPr>
          <p:cNvPr name="Group 13" id="13"/>
          <p:cNvGrpSpPr/>
          <p:nvPr/>
        </p:nvGrpSpPr>
        <p:grpSpPr>
          <a:xfrm rot="0">
            <a:off x="6114301" y="868990"/>
            <a:ext cx="12686492" cy="8245802"/>
            <a:chOff x="0" y="0"/>
            <a:chExt cx="16915322" cy="10994403"/>
          </a:xfrm>
        </p:grpSpPr>
        <p:sp>
          <p:nvSpPr>
            <p:cNvPr name="Freeform 14" id="14"/>
            <p:cNvSpPr/>
            <p:nvPr/>
          </p:nvSpPr>
          <p:spPr>
            <a:xfrm flipH="false" flipV="false" rot="0">
              <a:off x="0" y="0"/>
              <a:ext cx="16915374" cy="10994390"/>
            </a:xfrm>
            <a:custGeom>
              <a:avLst/>
              <a:gdLst/>
              <a:ahLst/>
              <a:cxnLst/>
              <a:rect r="r" b="b" t="t" l="l"/>
              <a:pathLst>
                <a:path h="10994390" w="16915374">
                  <a:moveTo>
                    <a:pt x="0" y="0"/>
                  </a:moveTo>
                  <a:lnTo>
                    <a:pt x="16915374" y="0"/>
                  </a:lnTo>
                  <a:lnTo>
                    <a:pt x="16915374" y="10994390"/>
                  </a:lnTo>
                  <a:lnTo>
                    <a:pt x="0" y="10994390"/>
                  </a:lnTo>
                  <a:lnTo>
                    <a:pt x="0" y="0"/>
                  </a:lnTo>
                  <a:close/>
                </a:path>
              </a:pathLst>
            </a:custGeom>
            <a:blipFill>
              <a:blip r:embed="rId3"/>
              <a:stretch>
                <a:fillRect l="-32332" t="0" r="-34453" b="0"/>
              </a:stretch>
            </a:blipFill>
          </p:spPr>
        </p:sp>
      </p:grpSp>
      <p:grpSp>
        <p:nvGrpSpPr>
          <p:cNvPr name="Group 15" id="15"/>
          <p:cNvGrpSpPr/>
          <p:nvPr/>
        </p:nvGrpSpPr>
        <p:grpSpPr>
          <a:xfrm rot="0">
            <a:off x="14549864" y="38108"/>
            <a:ext cx="3531112" cy="688007"/>
            <a:chOff x="0" y="0"/>
            <a:chExt cx="4708150" cy="917342"/>
          </a:xfrm>
        </p:grpSpPr>
        <p:sp>
          <p:nvSpPr>
            <p:cNvPr name="Freeform 16" id="16"/>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7" id="17"/>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4/8</a:t>
              </a:r>
            </a:p>
          </p:txBody>
        </p:sp>
      </p:grpSp>
      <p:grpSp>
        <p:nvGrpSpPr>
          <p:cNvPr name="Group 18" id="18"/>
          <p:cNvGrpSpPr/>
          <p:nvPr/>
        </p:nvGrpSpPr>
        <p:grpSpPr>
          <a:xfrm rot="0">
            <a:off x="6114301" y="868990"/>
            <a:ext cx="12173699" cy="8245802"/>
            <a:chOff x="0" y="0"/>
            <a:chExt cx="15494502" cy="10495133"/>
          </a:xfrm>
        </p:grpSpPr>
        <p:sp>
          <p:nvSpPr>
            <p:cNvPr name="Freeform 19" id="19"/>
            <p:cNvSpPr/>
            <p:nvPr/>
          </p:nvSpPr>
          <p:spPr>
            <a:xfrm flipH="false" flipV="false" rot="0">
              <a:off x="0" y="0"/>
              <a:ext cx="15494540" cy="10495133"/>
            </a:xfrm>
            <a:custGeom>
              <a:avLst/>
              <a:gdLst/>
              <a:ahLst/>
              <a:cxnLst/>
              <a:rect r="r" b="b" t="t" l="l"/>
              <a:pathLst>
                <a:path h="10495133" w="15494540">
                  <a:moveTo>
                    <a:pt x="0" y="0"/>
                  </a:moveTo>
                  <a:lnTo>
                    <a:pt x="15494540" y="0"/>
                  </a:lnTo>
                  <a:lnTo>
                    <a:pt x="15494540" y="10495133"/>
                  </a:lnTo>
                  <a:lnTo>
                    <a:pt x="0" y="10495133"/>
                  </a:lnTo>
                  <a:lnTo>
                    <a:pt x="0" y="0"/>
                  </a:lnTo>
                  <a:close/>
                </a:path>
              </a:pathLst>
            </a:custGeom>
            <a:blipFill>
              <a:blip r:embed="rId5"/>
              <a:stretch>
                <a:fillRect l="-1417" t="0" r="-1417" b="0"/>
              </a:stretch>
            </a:blipFill>
          </p:spPr>
        </p:sp>
      </p:grpSp>
      <p:grpSp>
        <p:nvGrpSpPr>
          <p:cNvPr name="Group 20" id="20"/>
          <p:cNvGrpSpPr/>
          <p:nvPr/>
        </p:nvGrpSpPr>
        <p:grpSpPr>
          <a:xfrm rot="0">
            <a:off x="15325725" y="9491367"/>
            <a:ext cx="1299210" cy="357077"/>
            <a:chOff x="0" y="0"/>
            <a:chExt cx="1732280" cy="476102"/>
          </a:xfrm>
        </p:grpSpPr>
        <p:sp>
          <p:nvSpPr>
            <p:cNvPr name="Freeform 21" id="21"/>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2" id="22"/>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3" id="23"/>
          <p:cNvGrpSpPr/>
          <p:nvPr/>
        </p:nvGrpSpPr>
        <p:grpSpPr>
          <a:xfrm rot="0">
            <a:off x="926309" y="9491358"/>
            <a:ext cx="2807304" cy="493053"/>
            <a:chOff x="0" y="0"/>
            <a:chExt cx="3743072" cy="657404"/>
          </a:xfrm>
        </p:grpSpPr>
        <p:sp>
          <p:nvSpPr>
            <p:cNvPr name="Freeform 24" id="24"/>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6" id="26"/>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6813484" y="0"/>
            <a:ext cx="11474516" cy="10328300"/>
            <a:chOff x="0" y="0"/>
            <a:chExt cx="15299354" cy="13771067"/>
          </a:xfrm>
        </p:grpSpPr>
        <p:grpSp>
          <p:nvGrpSpPr>
            <p:cNvPr name="Group 4" id="4"/>
            <p:cNvGrpSpPr/>
            <p:nvPr/>
          </p:nvGrpSpPr>
          <p:grpSpPr>
            <a:xfrm rot="0">
              <a:off x="0" y="0"/>
              <a:ext cx="15299354" cy="13771067"/>
              <a:chOff x="0" y="0"/>
              <a:chExt cx="15299354" cy="13771067"/>
            </a:xfrm>
          </p:grpSpPr>
          <p:sp>
            <p:nvSpPr>
              <p:cNvPr name="Freeform 5" id="5"/>
              <p:cNvSpPr/>
              <p:nvPr/>
            </p:nvSpPr>
            <p:spPr>
              <a:xfrm flipH="false" flipV="false" rot="0">
                <a:off x="0" y="0"/>
                <a:ext cx="15299392" cy="13771068"/>
              </a:xfrm>
              <a:custGeom>
                <a:avLst/>
                <a:gdLst/>
                <a:ahLst/>
                <a:cxnLst/>
                <a:rect r="r" b="b" t="t" l="l"/>
                <a:pathLst>
                  <a:path h="13771068" w="15299392">
                    <a:moveTo>
                      <a:pt x="0" y="0"/>
                    </a:moveTo>
                    <a:lnTo>
                      <a:pt x="15299392" y="0"/>
                    </a:lnTo>
                    <a:lnTo>
                      <a:pt x="15299392" y="13771068"/>
                    </a:lnTo>
                    <a:lnTo>
                      <a:pt x="0" y="13771068"/>
                    </a:lnTo>
                    <a:close/>
                  </a:path>
                </a:pathLst>
              </a:custGeom>
              <a:solidFill>
                <a:srgbClr val="4D5154"/>
              </a:solidFill>
            </p:spPr>
          </p:sp>
        </p:grpSp>
        <p:sp>
          <p:nvSpPr>
            <p:cNvPr name="TextBox 6" id="6"/>
            <p:cNvSpPr txBox="true"/>
            <p:nvPr/>
          </p:nvSpPr>
          <p:spPr>
            <a:xfrm rot="0">
              <a:off x="159679" y="32385"/>
              <a:ext cx="14979996"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7" id="7"/>
          <p:cNvSpPr txBox="true"/>
          <p:nvPr/>
        </p:nvSpPr>
        <p:spPr>
          <a:xfrm rot="0">
            <a:off x="933450" y="2410201"/>
            <a:ext cx="5880034" cy="752475"/>
          </a:xfrm>
          <a:prstGeom prst="rect">
            <a:avLst/>
          </a:prstGeom>
        </p:spPr>
        <p:txBody>
          <a:bodyPr anchor="t" rtlCol="false" tIns="0" lIns="0" bIns="0" rIns="0">
            <a:spAutoFit/>
          </a:bodyPr>
          <a:lstStyle/>
          <a:p>
            <a:pPr algn="l">
              <a:lnSpc>
                <a:spcPts val="5879"/>
              </a:lnSpc>
            </a:pPr>
            <a:r>
              <a:rPr lang="en-US" b="true" sz="4899" spc="-34">
                <a:solidFill>
                  <a:srgbClr val="E6E7E8"/>
                </a:solidFill>
                <a:latin typeface="Work Sans Medium"/>
                <a:ea typeface="Work Sans Medium"/>
                <a:cs typeface="Work Sans Medium"/>
                <a:sym typeface="Work Sans Medium"/>
              </a:rPr>
              <a:t>UDS</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22</a:t>
              </a:r>
            </a:p>
          </p:txBody>
        </p:sp>
      </p:grpSp>
      <p:grpSp>
        <p:nvGrpSpPr>
          <p:cNvPr name="Group 11" id="11"/>
          <p:cNvGrpSpPr/>
          <p:nvPr/>
        </p:nvGrpSpPr>
        <p:grpSpPr>
          <a:xfrm rot="0">
            <a:off x="6114301" y="868990"/>
            <a:ext cx="12686492" cy="8245802"/>
            <a:chOff x="0" y="0"/>
            <a:chExt cx="16915322" cy="10994403"/>
          </a:xfrm>
        </p:grpSpPr>
        <p:sp>
          <p:nvSpPr>
            <p:cNvPr name="Freeform 12" id="12"/>
            <p:cNvSpPr/>
            <p:nvPr/>
          </p:nvSpPr>
          <p:spPr>
            <a:xfrm flipH="false" flipV="false" rot="0">
              <a:off x="0" y="0"/>
              <a:ext cx="16915374" cy="10994390"/>
            </a:xfrm>
            <a:custGeom>
              <a:avLst/>
              <a:gdLst/>
              <a:ahLst/>
              <a:cxnLst/>
              <a:rect r="r" b="b" t="t" l="l"/>
              <a:pathLst>
                <a:path h="10994390" w="16915374">
                  <a:moveTo>
                    <a:pt x="0" y="0"/>
                  </a:moveTo>
                  <a:lnTo>
                    <a:pt x="16915374" y="0"/>
                  </a:lnTo>
                  <a:lnTo>
                    <a:pt x="16915374" y="10994390"/>
                  </a:lnTo>
                  <a:lnTo>
                    <a:pt x="0" y="10994390"/>
                  </a:lnTo>
                  <a:lnTo>
                    <a:pt x="0" y="0"/>
                  </a:lnTo>
                  <a:close/>
                </a:path>
              </a:pathLst>
            </a:custGeom>
            <a:blipFill>
              <a:blip r:embed="rId3"/>
              <a:stretch>
                <a:fillRect l="-32332" t="0" r="-34453" b="0"/>
              </a:stretch>
            </a:blipFill>
          </p:spPr>
        </p:sp>
      </p:grpSp>
      <p:grpSp>
        <p:nvGrpSpPr>
          <p:cNvPr name="Group 13" id="13"/>
          <p:cNvGrpSpPr/>
          <p:nvPr/>
        </p:nvGrpSpPr>
        <p:grpSpPr>
          <a:xfrm rot="0">
            <a:off x="14549864" y="38108"/>
            <a:ext cx="3531112" cy="688007"/>
            <a:chOff x="0" y="0"/>
            <a:chExt cx="4708150" cy="917342"/>
          </a:xfrm>
        </p:grpSpPr>
        <p:sp>
          <p:nvSpPr>
            <p:cNvPr name="Freeform 14" id="14"/>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5" id="15"/>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4/8</a:t>
              </a:r>
            </a:p>
          </p:txBody>
        </p:sp>
      </p:grpSp>
      <p:grpSp>
        <p:nvGrpSpPr>
          <p:cNvPr name="Group 16" id="16"/>
          <p:cNvGrpSpPr/>
          <p:nvPr/>
        </p:nvGrpSpPr>
        <p:grpSpPr>
          <a:xfrm rot="0">
            <a:off x="2749772" y="726115"/>
            <a:ext cx="15538228" cy="8458854"/>
            <a:chOff x="0" y="0"/>
            <a:chExt cx="19776823" cy="10766303"/>
          </a:xfrm>
        </p:grpSpPr>
        <p:sp>
          <p:nvSpPr>
            <p:cNvPr name="Freeform 17" id="17"/>
            <p:cNvSpPr/>
            <p:nvPr/>
          </p:nvSpPr>
          <p:spPr>
            <a:xfrm flipH="false" flipV="false" rot="0">
              <a:off x="0" y="0"/>
              <a:ext cx="19776861" cy="10766303"/>
            </a:xfrm>
            <a:custGeom>
              <a:avLst/>
              <a:gdLst/>
              <a:ahLst/>
              <a:cxnLst/>
              <a:rect r="r" b="b" t="t" l="l"/>
              <a:pathLst>
                <a:path h="10766303" w="19776861">
                  <a:moveTo>
                    <a:pt x="0" y="0"/>
                  </a:moveTo>
                  <a:lnTo>
                    <a:pt x="19776861" y="0"/>
                  </a:lnTo>
                  <a:lnTo>
                    <a:pt x="19776861" y="10766303"/>
                  </a:lnTo>
                  <a:lnTo>
                    <a:pt x="0" y="10766303"/>
                  </a:lnTo>
                  <a:lnTo>
                    <a:pt x="0" y="0"/>
                  </a:lnTo>
                  <a:close/>
                </a:path>
              </a:pathLst>
            </a:custGeom>
            <a:blipFill>
              <a:blip r:embed="rId5"/>
              <a:stretch>
                <a:fillRect l="-1784" t="0" r="-1784" b="0"/>
              </a:stretch>
            </a:blipFill>
          </p:spPr>
        </p:sp>
      </p:grpSp>
      <p:sp>
        <p:nvSpPr>
          <p:cNvPr name="TextBox 18" id="18"/>
          <p:cNvSpPr txBox="true"/>
          <p:nvPr/>
        </p:nvSpPr>
        <p:spPr>
          <a:xfrm rot="0">
            <a:off x="897626" y="859465"/>
            <a:ext cx="4364020" cy="64836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a:t>
            </a:r>
            <a:r>
              <a:rPr lang="en-US" sz="2095" b="true">
                <a:solidFill>
                  <a:srgbClr val="FFFFFF"/>
                </a:solidFill>
                <a:latin typeface="Work Sans Medium"/>
                <a:ea typeface="Work Sans Medium"/>
                <a:cs typeface="Work Sans Medium"/>
                <a:sym typeface="Work Sans Medium"/>
              </a:rPr>
              <a:t>EM IMPLEMENTATION </a:t>
            </a:r>
          </a:p>
          <a:p>
            <a:pPr algn="l">
              <a:lnSpc>
                <a:spcPts val="2515"/>
              </a:lnSpc>
            </a:pPr>
            <a:r>
              <a:rPr lang="en-US" sz="2095" b="true">
                <a:solidFill>
                  <a:srgbClr val="FFFFFF"/>
                </a:solidFill>
                <a:latin typeface="Work Sans Medium"/>
                <a:ea typeface="Work Sans Medium"/>
                <a:cs typeface="Work Sans Medium"/>
                <a:sym typeface="Work Sans Medium"/>
              </a:rPr>
              <a:t>· HIGH-LEVEL DESIGN</a:t>
            </a:r>
          </a:p>
        </p:txBody>
      </p:sp>
      <p:grpSp>
        <p:nvGrpSpPr>
          <p:cNvPr name="Group 19" id="19"/>
          <p:cNvGrpSpPr/>
          <p:nvPr/>
        </p:nvGrpSpPr>
        <p:grpSpPr>
          <a:xfrm rot="0">
            <a:off x="15325725" y="9491367"/>
            <a:ext cx="1299210" cy="357077"/>
            <a:chOff x="0" y="0"/>
            <a:chExt cx="1732280" cy="476102"/>
          </a:xfrm>
        </p:grpSpPr>
        <p:sp>
          <p:nvSpPr>
            <p:cNvPr name="Freeform 20" id="20"/>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1" id="21"/>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2" id="22"/>
          <p:cNvGrpSpPr/>
          <p:nvPr/>
        </p:nvGrpSpPr>
        <p:grpSpPr>
          <a:xfrm rot="0">
            <a:off x="926309" y="9491358"/>
            <a:ext cx="2807304" cy="493053"/>
            <a:chOff x="0" y="0"/>
            <a:chExt cx="3743072" cy="657404"/>
          </a:xfrm>
        </p:grpSpPr>
        <p:sp>
          <p:nvSpPr>
            <p:cNvPr name="Freeform 23" id="23"/>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5" id="25"/>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UDS Di</a:t>
            </a:r>
            <a:r>
              <a:rPr lang="en-US" b="true" sz="4200" spc="-30">
                <a:solidFill>
                  <a:srgbClr val="E6E7E8"/>
                </a:solidFill>
                <a:latin typeface="Work Sans Medium"/>
                <a:ea typeface="Work Sans Medium"/>
                <a:cs typeface="Work Sans Medium"/>
                <a:sym typeface="Work Sans Medium"/>
              </a:rPr>
              <a:t>agnostic Session State Machine</a:t>
            </a:r>
          </a:p>
        </p:txBody>
      </p:sp>
      <p:sp>
        <p:nvSpPr>
          <p:cNvPr name="TextBox 4" id="4"/>
          <p:cNvSpPr txBox="true"/>
          <p:nvPr/>
        </p:nvSpPr>
        <p:spPr>
          <a:xfrm rot="0">
            <a:off x="896036" y="1550356"/>
            <a:ext cx="16319182" cy="446989"/>
          </a:xfrm>
          <a:prstGeom prst="rect">
            <a:avLst/>
          </a:prstGeom>
        </p:spPr>
        <p:txBody>
          <a:bodyPr anchor="t" rtlCol="false" tIns="0" lIns="0" bIns="0" rIns="0">
            <a:spAutoFit/>
          </a:bodyPr>
          <a:lstStyle/>
          <a:p>
            <a:pPr algn="l">
              <a:lnSpc>
                <a:spcPts val="3650"/>
              </a:lnSpc>
            </a:pPr>
            <a:r>
              <a:rPr lang="en-US" sz="2600">
                <a:solidFill>
                  <a:srgbClr val="FFFFFF"/>
                </a:solidFill>
                <a:latin typeface="Work Sans Light"/>
                <a:ea typeface="Work Sans Light"/>
                <a:cs typeface="Work Sans Light"/>
                <a:sym typeface="Work Sans Light"/>
              </a:rPr>
              <a:t>Al</a:t>
            </a:r>
            <a:r>
              <a:rPr lang="en-US" sz="2600">
                <a:solidFill>
                  <a:srgbClr val="FFFFFF"/>
                </a:solidFill>
                <a:latin typeface="Work Sans Light"/>
                <a:ea typeface="Work Sans Light"/>
                <a:cs typeface="Work Sans Light"/>
                <a:sym typeface="Work Sans Light"/>
              </a:rPr>
              <a:t>lowed Functions for each Session</a:t>
            </a:r>
          </a:p>
        </p:txBody>
      </p:sp>
      <p:graphicFrame>
        <p:nvGraphicFramePr>
          <p:cNvPr name="Table 5" id="5"/>
          <p:cNvGraphicFramePr>
            <a:graphicFrameLocks noGrp="true"/>
          </p:cNvGraphicFramePr>
          <p:nvPr/>
        </p:nvGraphicFramePr>
        <p:xfrm>
          <a:off x="590850" y="2797738"/>
          <a:ext cx="17555036" cy="5039150"/>
        </p:xfrm>
        <a:graphic>
          <a:graphicData uri="http://schemas.openxmlformats.org/drawingml/2006/table">
            <a:tbl>
              <a:tblPr/>
              <a:tblGrid>
                <a:gridCol w="2590161"/>
                <a:gridCol w="1437801"/>
                <a:gridCol w="2751303"/>
                <a:gridCol w="3203687"/>
                <a:gridCol w="1970190"/>
                <a:gridCol w="1947268"/>
                <a:gridCol w="1850382"/>
                <a:gridCol w="1804243"/>
              </a:tblGrid>
              <a:tr h="1163149">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Sessi</a:t>
                      </a:r>
                      <a:r>
                        <a:rPr lang="en-US" b="true" sz="2250">
                          <a:solidFill>
                            <a:srgbClr val="000000"/>
                          </a:solidFill>
                          <a:latin typeface="Work Sans Bold"/>
                          <a:ea typeface="Work Sans Bold"/>
                          <a:cs typeface="Work Sans Bold"/>
                          <a:sym typeface="Work Sans Bold"/>
                        </a:rPr>
                        <a:t>on</a:t>
                      </a:r>
                      <a:endParaRPr lang="en-US" sz="1100"/>
                    </a:p>
                  </a:txBody>
                  <a:tcPr marL="171720" marR="171720" marT="171720" marB="171720" anchor="ctr">
                    <a:lnL cmpd="sng" algn="ctr" cap="flat" w="19050">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Re</a:t>
                      </a:r>
                      <a:r>
                        <a:rPr lang="en-US" b="true" sz="2250">
                          <a:solidFill>
                            <a:srgbClr val="000000"/>
                          </a:solidFill>
                          <a:latin typeface="Work Sans Bold"/>
                          <a:ea typeface="Work Sans Bold"/>
                          <a:cs typeface="Work Sans Bold"/>
                          <a:sym typeface="Work Sans Bold"/>
                        </a:rPr>
                        <a:t>ad DID</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W</a:t>
                      </a:r>
                      <a:r>
                        <a:rPr lang="en-US" b="true" sz="2250">
                          <a:solidFill>
                            <a:srgbClr val="000000"/>
                          </a:solidFill>
                          <a:latin typeface="Work Sans Bold"/>
                          <a:ea typeface="Work Sans Bold"/>
                          <a:cs typeface="Work Sans Bold"/>
                          <a:sym typeface="Work Sans Bold"/>
                        </a:rPr>
                        <a:t>rite DID</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Upload/ Download F</a:t>
                      </a:r>
                      <a:r>
                        <a:rPr lang="en-US" b="true" sz="2250">
                          <a:solidFill>
                            <a:srgbClr val="000000"/>
                          </a:solidFill>
                          <a:latin typeface="Work Sans Bold"/>
                          <a:ea typeface="Work Sans Bold"/>
                          <a:cs typeface="Work Sans Bold"/>
                          <a:sym typeface="Work Sans Bold"/>
                        </a:rPr>
                        <a:t>irmware</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Downlo</a:t>
                      </a:r>
                      <a:r>
                        <a:rPr lang="en-US" b="true" sz="2250">
                          <a:solidFill>
                            <a:srgbClr val="000000"/>
                          </a:solidFill>
                          <a:latin typeface="Work Sans Bold"/>
                          <a:ea typeface="Work Sans Bold"/>
                          <a:cs typeface="Work Sans Bold"/>
                          <a:sym typeface="Work Sans Bold"/>
                        </a:rPr>
                        <a:t>ad Logs</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 </a:t>
                      </a:r>
                      <a:r>
                        <a:rPr lang="en-US" sz="2250" b="true">
                          <a:solidFill>
                            <a:srgbClr val="000000"/>
                          </a:solidFill>
                          <a:latin typeface="Work Sans Bold"/>
                          <a:ea typeface="Work Sans Bold"/>
                          <a:cs typeface="Work Sans Bold"/>
                          <a:sym typeface="Work Sans Bold"/>
                        </a:rPr>
                        <a:t>Read DTCs</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 </a:t>
                      </a:r>
                      <a:r>
                        <a:rPr lang="en-US" sz="2250" b="true">
                          <a:solidFill>
                            <a:srgbClr val="000000"/>
                          </a:solidFill>
                          <a:latin typeface="Work Sans Bold"/>
                          <a:ea typeface="Work Sans Bold"/>
                          <a:cs typeface="Work Sans Bold"/>
                          <a:sym typeface="Work Sans Bold"/>
                        </a:rPr>
                        <a:t>Clear DTCs</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c>
                  <a:txBody>
                    <a:bodyPr anchor="t" rtlCol="false"/>
                    <a:lstStyle/>
                    <a:p>
                      <a:pPr algn="l">
                        <a:lnSpc>
                          <a:spcPts val="2700"/>
                        </a:lnSpc>
                        <a:defRPr/>
                      </a:pPr>
                      <a:r>
                        <a:rPr lang="en-US" sz="2250" b="true">
                          <a:solidFill>
                            <a:srgbClr val="000000"/>
                          </a:solidFill>
                          <a:latin typeface="Work Sans Bold"/>
                          <a:ea typeface="Work Sans Bold"/>
                          <a:cs typeface="Work Sans Bold"/>
                          <a:sym typeface="Work Sans Bold"/>
                        </a:rPr>
                        <a:t> </a:t>
                      </a:r>
                      <a:r>
                        <a:rPr lang="en-US" sz="2250" b="true">
                          <a:solidFill>
                            <a:srgbClr val="000000"/>
                          </a:solidFill>
                          <a:latin typeface="Work Sans Bold"/>
                          <a:ea typeface="Work Sans Bold"/>
                          <a:cs typeface="Work Sans Bold"/>
                          <a:sym typeface="Work Sans Bold"/>
                        </a:rPr>
                        <a:t>IO Control</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r>
              <a:tr h="863253">
                <a:tc>
                  <a:txBody>
                    <a:bodyPr anchor="t" rtlCol="false"/>
                    <a:lstStyle/>
                    <a:p>
                      <a:pPr algn="l">
                        <a:lnSpc>
                          <a:spcPts val="2700"/>
                        </a:lnSpc>
                        <a:defRPr/>
                      </a:pPr>
                      <a:r>
                        <a:rPr lang="en-US" sz="2250">
                          <a:solidFill>
                            <a:srgbClr val="FFFFFF"/>
                          </a:solidFill>
                          <a:latin typeface="Work Sans"/>
                          <a:ea typeface="Work Sans"/>
                          <a:cs typeface="Work Sans"/>
                          <a:sym typeface="Work Sans"/>
                        </a:rPr>
                        <a:t>Default</a:t>
                      </a:r>
                      <a:endParaRPr lang="en-US" sz="1100"/>
                    </a:p>
                  </a:txBody>
                  <a:tcPr marL="171720" marR="171720" marT="171720" marB="171720" anchor="ctr">
                    <a:lnL cmpd="sng" algn="ctr" cap="flat" w="19050">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506374">
                <a:tc>
                  <a:txBody>
                    <a:bodyPr anchor="t" rtlCol="false"/>
                    <a:lstStyle/>
                    <a:p>
                      <a:pPr algn="l">
                        <a:lnSpc>
                          <a:spcPts val="2700"/>
                        </a:lnSpc>
                        <a:defRPr/>
                      </a:pPr>
                      <a:r>
                        <a:rPr lang="en-US" sz="2250">
                          <a:solidFill>
                            <a:srgbClr val="FFFFFF"/>
                          </a:solidFill>
                          <a:latin typeface="Work Sans"/>
                          <a:ea typeface="Work Sans"/>
                          <a:cs typeface="Work Sans"/>
                          <a:sym typeface="Work Sans"/>
                        </a:rPr>
                        <a:t>Extended</a:t>
                      </a:r>
                      <a:endParaRPr lang="en-US" sz="1100"/>
                    </a:p>
                  </a:txBody>
                  <a:tcPr marL="171720" marR="171720" marT="171720" marB="171720" anchor="ctr">
                    <a:lnL cmpd="sng" algn="ctr" cap="flat" w="19050">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requires security</a:t>
                      </a:r>
                      <a:endParaRPr lang="en-US" sz="1100"/>
                    </a:p>
                    <a:p>
                      <a:pPr algn="l">
                        <a:lnSpc>
                          <a:spcPts val="2700"/>
                        </a:lnSpc>
                      </a:pPr>
                      <a:r>
                        <a:rPr lang="en-US" sz="2250">
                          <a:solidFill>
                            <a:srgbClr val="FFFFFF"/>
                          </a:solidFill>
                          <a:latin typeface="Work Sans"/>
                          <a:ea typeface="Work Sans"/>
                          <a:cs typeface="Work Sans"/>
                          <a:sym typeface="Work Sans"/>
                        </a:rPr>
                        <a:t>access </a:t>
                      </a:r>
                    </a:p>
                    <a:p>
                      <a:pPr algn="l">
                        <a:lnSpc>
                          <a:spcPts val="2700"/>
                        </a:lnSpc>
                      </a:pPr>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506374">
                <a:tc>
                  <a:txBody>
                    <a:bodyPr anchor="t" rtlCol="false"/>
                    <a:lstStyle/>
                    <a:p>
                      <a:pPr algn="l">
                        <a:lnSpc>
                          <a:spcPts val="2700"/>
                        </a:lnSpc>
                        <a:defRPr/>
                      </a:pPr>
                      <a:r>
                        <a:rPr lang="en-US" sz="2250">
                          <a:solidFill>
                            <a:srgbClr val="FFFFFF"/>
                          </a:solidFill>
                          <a:latin typeface="Work Sans"/>
                          <a:ea typeface="Work Sans"/>
                          <a:cs typeface="Work Sans"/>
                          <a:sym typeface="Work Sans"/>
                        </a:rPr>
                        <a:t>Progr</a:t>
                      </a:r>
                      <a:r>
                        <a:rPr lang="en-US" sz="2250">
                          <a:solidFill>
                            <a:srgbClr val="FFFFFF"/>
                          </a:solidFill>
                          <a:latin typeface="Work Sans"/>
                          <a:ea typeface="Work Sans"/>
                          <a:cs typeface="Work Sans"/>
                          <a:sym typeface="Work Sans"/>
                        </a:rPr>
                        <a:t>amming</a:t>
                      </a:r>
                      <a:endParaRPr lang="en-US" sz="1100"/>
                    </a:p>
                  </a:txBody>
                  <a:tcPr marL="171720" marR="171720" marT="171720" marB="171720" anchor="ctr">
                    <a:lnL cmpd="sng" algn="ctr" cap="flat" w="19050">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requires security</a:t>
                      </a:r>
                      <a:endParaRPr lang="en-US" sz="1100"/>
                    </a:p>
                    <a:p>
                      <a:pPr algn="l">
                        <a:lnSpc>
                          <a:spcPts val="2700"/>
                        </a:lnSpc>
                      </a:pPr>
                      <a:r>
                        <a:rPr lang="en-US" sz="2250">
                          <a:solidFill>
                            <a:srgbClr val="FFFFFF"/>
                          </a:solidFill>
                          <a:latin typeface="Work Sans"/>
                          <a:ea typeface="Work Sans"/>
                          <a:cs typeface="Work Sans"/>
                          <a:sym typeface="Work Sans"/>
                        </a:rPr>
                        <a:t>access </a:t>
                      </a:r>
                    </a:p>
                    <a:p>
                      <a:pPr algn="l">
                        <a:lnSpc>
                          <a:spcPts val="2700"/>
                        </a:lnSpc>
                      </a:pPr>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2700"/>
                        </a:lnSpc>
                        <a:defRPr/>
                      </a:pPr>
                      <a:r>
                        <a:rPr lang="en-US" sz="2250">
                          <a:solidFill>
                            <a:srgbClr val="FFFFFF"/>
                          </a:solidFill>
                          <a:latin typeface="Work Sans"/>
                          <a:ea typeface="Work Sans"/>
                          <a:cs typeface="Work Sans"/>
                          <a:sym typeface="Work Sans"/>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2939"/>
                        </a:lnSpc>
                        <a:defRPr/>
                      </a:pPr>
                      <a:r>
                        <a:rPr lang="en-US" sz="2099">
                          <a:solidFill>
                            <a:srgbClr val="FFFFFF"/>
                          </a:solidFill>
                          <a:latin typeface="Arimo"/>
                          <a:ea typeface="Arimo"/>
                          <a:cs typeface="Arimo"/>
                          <a:sym typeface="Arimo"/>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c>
                  <a:txBody>
                    <a:bodyPr anchor="t" rtlCol="false"/>
                    <a:lstStyle/>
                    <a:p>
                      <a:pPr algn="l">
                        <a:lnSpc>
                          <a:spcPts val="3359"/>
                        </a:lnSpc>
                        <a:defRPr/>
                      </a:pPr>
                      <a:r>
                        <a:rPr lang="en-US" sz="2399">
                          <a:solidFill>
                            <a:srgbClr val="FFFFFF"/>
                          </a:solidFill>
                          <a:latin typeface="Arimo"/>
                          <a:ea typeface="Arimo"/>
                          <a:cs typeface="Arimo"/>
                          <a:sym typeface="Arimo"/>
                        </a:rPr>
                        <a:t>✓</a:t>
                      </a:r>
                      <a:endParaRPr lang="en-US" sz="1100"/>
                    </a:p>
                  </a:txBody>
                  <a:tcPr marL="171720" marR="171720" marT="171720" marB="171720" anchor="ctr">
                    <a:lnL cmpd="sng" algn="ctr" cap="flat" w="4762">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D5154"/>
                    </a:solidFill>
                  </a:tcPr>
                </a:tc>
              </a:tr>
            </a:tbl>
          </a:graphicData>
        </a:graphic>
      </p:graphicFrame>
      <p:grpSp>
        <p:nvGrpSpPr>
          <p:cNvPr name="Group 6" id="6"/>
          <p:cNvGrpSpPr/>
          <p:nvPr/>
        </p:nvGrpSpPr>
        <p:grpSpPr>
          <a:xfrm rot="0">
            <a:off x="16784479" y="9491358"/>
            <a:ext cx="697335" cy="357088"/>
            <a:chOff x="0" y="0"/>
            <a:chExt cx="929780" cy="476118"/>
          </a:xfrm>
        </p:grpSpPr>
        <p:sp>
          <p:nvSpPr>
            <p:cNvPr name="Freeform 7" id="7"/>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8" id="8"/>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23</a:t>
              </a:r>
            </a:p>
          </p:txBody>
        </p:sp>
      </p:grpSp>
      <p:sp>
        <p:nvSpPr>
          <p:cNvPr name="AutoShape 9" id="9"/>
          <p:cNvSpPr/>
          <p:nvPr/>
        </p:nvSpPr>
        <p:spPr>
          <a:xfrm flipV="true">
            <a:off x="896036" y="1476137"/>
            <a:ext cx="5429263" cy="0"/>
          </a:xfrm>
          <a:prstGeom prst="line">
            <a:avLst/>
          </a:prstGeom>
          <a:ln cap="flat" w="38100">
            <a:solidFill>
              <a:srgbClr val="622AD8"/>
            </a:solidFill>
            <a:prstDash val="solid"/>
            <a:headEnd type="none" len="sm" w="sm"/>
            <a:tailEnd type="oval" len="lg" w="lg"/>
          </a:ln>
        </p:spPr>
      </p:sp>
      <p:grpSp>
        <p:nvGrpSpPr>
          <p:cNvPr name="Group 10" id="10"/>
          <p:cNvGrpSpPr/>
          <p:nvPr/>
        </p:nvGrpSpPr>
        <p:grpSpPr>
          <a:xfrm rot="0">
            <a:off x="14549864" y="38108"/>
            <a:ext cx="3531112" cy="688007"/>
            <a:chOff x="0" y="0"/>
            <a:chExt cx="4708150" cy="917342"/>
          </a:xfrm>
        </p:grpSpPr>
        <p:sp>
          <p:nvSpPr>
            <p:cNvPr name="Freeform 11" id="11"/>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2" id="12"/>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5/8</a:t>
              </a:r>
            </a:p>
          </p:txBody>
        </p:sp>
      </p:grpSp>
      <p:grpSp>
        <p:nvGrpSpPr>
          <p:cNvPr name="Group 13" id="13"/>
          <p:cNvGrpSpPr/>
          <p:nvPr/>
        </p:nvGrpSpPr>
        <p:grpSpPr>
          <a:xfrm rot="0">
            <a:off x="15325725" y="9491367"/>
            <a:ext cx="1299210" cy="357077"/>
            <a:chOff x="0" y="0"/>
            <a:chExt cx="1732280" cy="476102"/>
          </a:xfrm>
        </p:grpSpPr>
        <p:sp>
          <p:nvSpPr>
            <p:cNvPr name="Freeform 14" id="14"/>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15" id="15"/>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16" id="16"/>
          <p:cNvGrpSpPr/>
          <p:nvPr/>
        </p:nvGrpSpPr>
        <p:grpSpPr>
          <a:xfrm rot="0">
            <a:off x="926309" y="9491358"/>
            <a:ext cx="2807304" cy="493053"/>
            <a:chOff x="0" y="0"/>
            <a:chExt cx="3743072" cy="657404"/>
          </a:xfrm>
        </p:grpSpPr>
        <p:sp>
          <p:nvSpPr>
            <p:cNvPr name="Freeform 17" id="17"/>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19" id="19"/>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0" y="0"/>
            <a:ext cx="18288000" cy="6377940"/>
            <a:chOff x="0" y="0"/>
            <a:chExt cx="24384000" cy="8503920"/>
          </a:xfrm>
        </p:grpSpPr>
        <p:sp>
          <p:nvSpPr>
            <p:cNvPr name="Freeform 4" id="4"/>
            <p:cNvSpPr/>
            <p:nvPr/>
          </p:nvSpPr>
          <p:spPr>
            <a:xfrm flipH="false" flipV="false" rot="0">
              <a:off x="0" y="0"/>
              <a:ext cx="24384000" cy="8503920"/>
            </a:xfrm>
            <a:custGeom>
              <a:avLst/>
              <a:gdLst/>
              <a:ahLst/>
              <a:cxnLst/>
              <a:rect r="r" b="b" t="t" l="l"/>
              <a:pathLst>
                <a:path h="8503920" w="24384000">
                  <a:moveTo>
                    <a:pt x="0" y="0"/>
                  </a:moveTo>
                  <a:lnTo>
                    <a:pt x="24384000" y="0"/>
                  </a:lnTo>
                  <a:lnTo>
                    <a:pt x="24384000" y="8503920"/>
                  </a:lnTo>
                  <a:lnTo>
                    <a:pt x="0" y="8503920"/>
                  </a:lnTo>
                  <a:close/>
                </a:path>
              </a:pathLst>
            </a:custGeom>
            <a:solidFill>
              <a:srgbClr val="4D5154"/>
            </a:solidFill>
          </p:spPr>
        </p:sp>
      </p:grpSp>
      <p:sp>
        <p:nvSpPr>
          <p:cNvPr name="Freeform 5" id="5"/>
          <p:cNvSpPr/>
          <p:nvPr/>
        </p:nvSpPr>
        <p:spPr>
          <a:xfrm flipH="false" flipV="false" rot="0">
            <a:off x="4478760" y="3968620"/>
            <a:ext cx="1421006" cy="1421006"/>
          </a:xfrm>
          <a:custGeom>
            <a:avLst/>
            <a:gdLst/>
            <a:ahLst/>
            <a:cxnLst/>
            <a:rect r="r" b="b" t="t" l="l"/>
            <a:pathLst>
              <a:path h="1421006" w="1421006">
                <a:moveTo>
                  <a:pt x="0" y="0"/>
                </a:moveTo>
                <a:lnTo>
                  <a:pt x="1421006" y="0"/>
                </a:lnTo>
                <a:lnTo>
                  <a:pt x="1421006" y="1421006"/>
                </a:lnTo>
                <a:lnTo>
                  <a:pt x="0" y="1421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494390" y="949709"/>
            <a:ext cx="1421006" cy="1421006"/>
          </a:xfrm>
          <a:custGeom>
            <a:avLst/>
            <a:gdLst/>
            <a:ahLst/>
            <a:cxnLst/>
            <a:rect r="r" b="b" t="t" l="l"/>
            <a:pathLst>
              <a:path h="1421006" w="1421006">
                <a:moveTo>
                  <a:pt x="0" y="0"/>
                </a:moveTo>
                <a:lnTo>
                  <a:pt x="1421006" y="0"/>
                </a:lnTo>
                <a:lnTo>
                  <a:pt x="1421006" y="1421006"/>
                </a:lnTo>
                <a:lnTo>
                  <a:pt x="0" y="14210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2372327" y="949709"/>
            <a:ext cx="1421006" cy="1421006"/>
          </a:xfrm>
          <a:custGeom>
            <a:avLst/>
            <a:gdLst/>
            <a:ahLst/>
            <a:cxnLst/>
            <a:rect r="r" b="b" t="t" l="l"/>
            <a:pathLst>
              <a:path h="1421006" w="1421006">
                <a:moveTo>
                  <a:pt x="0" y="0"/>
                </a:moveTo>
                <a:lnTo>
                  <a:pt x="1421006" y="0"/>
                </a:lnTo>
                <a:lnTo>
                  <a:pt x="1421006" y="1421006"/>
                </a:lnTo>
                <a:lnTo>
                  <a:pt x="0" y="14210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2390711" y="3968620"/>
            <a:ext cx="1421006" cy="1421006"/>
          </a:xfrm>
          <a:custGeom>
            <a:avLst/>
            <a:gdLst/>
            <a:ahLst/>
            <a:cxnLst/>
            <a:rect r="r" b="b" t="t" l="l"/>
            <a:pathLst>
              <a:path h="1421006" w="1421006">
                <a:moveTo>
                  <a:pt x="0" y="0"/>
                </a:moveTo>
                <a:lnTo>
                  <a:pt x="1421006" y="0"/>
                </a:lnTo>
                <a:lnTo>
                  <a:pt x="1421006" y="1421006"/>
                </a:lnTo>
                <a:lnTo>
                  <a:pt x="0" y="14210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762371" y="7098944"/>
            <a:ext cx="5150472" cy="1276350"/>
          </a:xfrm>
          <a:prstGeom prst="rect">
            <a:avLst/>
          </a:prstGeom>
        </p:spPr>
        <p:txBody>
          <a:bodyPr anchor="t" rtlCol="false" tIns="0" lIns="0" bIns="0" rIns="0">
            <a:spAutoFit/>
          </a:bodyPr>
          <a:lstStyle/>
          <a:p>
            <a:pPr algn="r">
              <a:lnSpc>
                <a:spcPts val="5040"/>
              </a:lnSpc>
            </a:pPr>
            <a:r>
              <a:rPr lang="en-US" b="true" sz="4200" spc="-30">
                <a:solidFill>
                  <a:srgbClr val="E6E7E8"/>
                </a:solidFill>
                <a:latin typeface="Work Sans Medium"/>
                <a:ea typeface="Work Sans Medium"/>
                <a:cs typeface="Work Sans Medium"/>
                <a:sym typeface="Work Sans Medium"/>
              </a:rPr>
              <a:t>UDS D</a:t>
            </a:r>
            <a:r>
              <a:rPr lang="en-US" b="true" sz="4200" spc="-30">
                <a:solidFill>
                  <a:srgbClr val="E6E7E8"/>
                </a:solidFill>
                <a:latin typeface="Work Sans Medium"/>
                <a:ea typeface="Work Sans Medium"/>
                <a:cs typeface="Work Sans Medium"/>
                <a:sym typeface="Work Sans Medium"/>
              </a:rPr>
              <a:t>iagnostic Session State</a:t>
            </a:r>
          </a:p>
        </p:txBody>
      </p:sp>
      <p:sp>
        <p:nvSpPr>
          <p:cNvPr name="TextBox 10" id="10"/>
          <p:cNvSpPr txBox="true"/>
          <p:nvPr/>
        </p:nvSpPr>
        <p:spPr>
          <a:xfrm rot="0">
            <a:off x="6622913" y="7187584"/>
            <a:ext cx="11159309" cy="1171194"/>
          </a:xfrm>
          <a:prstGeom prst="rect">
            <a:avLst/>
          </a:prstGeom>
        </p:spPr>
        <p:txBody>
          <a:bodyPr anchor="t" rtlCol="false" tIns="0" lIns="0" bIns="0" rIns="0">
            <a:spAutoFit/>
          </a:bodyPr>
          <a:lstStyle/>
          <a:p>
            <a:pPr algn="l">
              <a:lnSpc>
                <a:spcPts val="3078"/>
              </a:lnSpc>
            </a:pPr>
            <a:r>
              <a:rPr lang="en-US" sz="2250">
                <a:solidFill>
                  <a:srgbClr val="FFFFFF"/>
                </a:solidFill>
                <a:latin typeface="Work Sans"/>
                <a:ea typeface="Work Sans"/>
                <a:cs typeface="Work Sans"/>
                <a:sym typeface="Work Sans"/>
              </a:rPr>
              <a:t>UDS</a:t>
            </a:r>
            <a:r>
              <a:rPr lang="en-US" sz="2250">
                <a:solidFill>
                  <a:srgbClr val="FFFFFF"/>
                </a:solidFill>
                <a:latin typeface="Work Sans"/>
                <a:ea typeface="Work Sans"/>
                <a:cs typeface="Work Sans"/>
                <a:sym typeface="Work Sans"/>
              </a:rPr>
              <a:t> defines multiple diagnostic sessions that control the level of access available to the tester. Each session enables a different set of diagnostic services while ensuring secure and controlled communication with the ECU.</a:t>
            </a:r>
          </a:p>
        </p:txBody>
      </p:sp>
      <p:sp>
        <p:nvSpPr>
          <p:cNvPr name="TextBox 11" id="11"/>
          <p:cNvSpPr txBox="true"/>
          <p:nvPr/>
        </p:nvSpPr>
        <p:spPr>
          <a:xfrm rot="0">
            <a:off x="14242847" y="4134850"/>
            <a:ext cx="2638663" cy="704850"/>
          </a:xfrm>
          <a:prstGeom prst="rect">
            <a:avLst/>
          </a:prstGeom>
        </p:spPr>
        <p:txBody>
          <a:bodyPr anchor="t" rtlCol="false" tIns="0" lIns="0" bIns="0" rIns="0">
            <a:spAutoFit/>
          </a:bodyPr>
          <a:lstStyle/>
          <a:p>
            <a:pPr algn="l">
              <a:lnSpc>
                <a:spcPts val="5400"/>
              </a:lnSpc>
            </a:pPr>
            <a:r>
              <a:rPr lang="en-US" sz="4500">
                <a:solidFill>
                  <a:srgbClr val="FFFFFF"/>
                </a:solidFill>
                <a:latin typeface="Work Sans"/>
                <a:ea typeface="Work Sans"/>
                <a:cs typeface="Work Sans"/>
                <a:sym typeface="Work Sans"/>
              </a:rPr>
              <a:t>Extended</a:t>
            </a:r>
          </a:p>
        </p:txBody>
      </p:sp>
      <p:sp>
        <p:nvSpPr>
          <p:cNvPr name="TextBox 12" id="12"/>
          <p:cNvSpPr txBox="true"/>
          <p:nvPr/>
        </p:nvSpPr>
        <p:spPr>
          <a:xfrm rot="0">
            <a:off x="14242847" y="4788494"/>
            <a:ext cx="2129876"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(0x03)</a:t>
            </a:r>
          </a:p>
        </p:txBody>
      </p:sp>
      <p:sp>
        <p:nvSpPr>
          <p:cNvPr name="TextBox 13" id="13"/>
          <p:cNvSpPr txBox="true"/>
          <p:nvPr/>
        </p:nvSpPr>
        <p:spPr>
          <a:xfrm rot="0">
            <a:off x="14242847" y="1096070"/>
            <a:ext cx="3684508" cy="704850"/>
          </a:xfrm>
          <a:prstGeom prst="rect">
            <a:avLst/>
          </a:prstGeom>
        </p:spPr>
        <p:txBody>
          <a:bodyPr anchor="t" rtlCol="false" tIns="0" lIns="0" bIns="0" rIns="0">
            <a:spAutoFit/>
          </a:bodyPr>
          <a:lstStyle/>
          <a:p>
            <a:pPr algn="l">
              <a:lnSpc>
                <a:spcPts val="5400"/>
              </a:lnSpc>
            </a:pPr>
            <a:r>
              <a:rPr lang="en-US" sz="4500">
                <a:solidFill>
                  <a:srgbClr val="FFFFFF"/>
                </a:solidFill>
                <a:latin typeface="Work Sans"/>
                <a:ea typeface="Work Sans"/>
                <a:cs typeface="Work Sans"/>
                <a:sym typeface="Work Sans"/>
              </a:rPr>
              <a:t>Programming</a:t>
            </a:r>
          </a:p>
        </p:txBody>
      </p:sp>
      <p:sp>
        <p:nvSpPr>
          <p:cNvPr name="TextBox 14" id="14"/>
          <p:cNvSpPr txBox="true"/>
          <p:nvPr/>
        </p:nvSpPr>
        <p:spPr>
          <a:xfrm rot="0">
            <a:off x="14242847" y="1749714"/>
            <a:ext cx="2129876"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(0x02)</a:t>
            </a:r>
          </a:p>
        </p:txBody>
      </p:sp>
      <p:sp>
        <p:nvSpPr>
          <p:cNvPr name="TextBox 15" id="15"/>
          <p:cNvSpPr txBox="true"/>
          <p:nvPr/>
        </p:nvSpPr>
        <p:spPr>
          <a:xfrm rot="0">
            <a:off x="1110039" y="4134850"/>
            <a:ext cx="2936438" cy="704850"/>
          </a:xfrm>
          <a:prstGeom prst="rect">
            <a:avLst/>
          </a:prstGeom>
        </p:spPr>
        <p:txBody>
          <a:bodyPr anchor="t" rtlCol="false" tIns="0" lIns="0" bIns="0" rIns="0">
            <a:spAutoFit/>
          </a:bodyPr>
          <a:lstStyle/>
          <a:p>
            <a:pPr algn="r">
              <a:lnSpc>
                <a:spcPts val="5400"/>
              </a:lnSpc>
            </a:pPr>
            <a:r>
              <a:rPr lang="en-US" sz="4500">
                <a:solidFill>
                  <a:srgbClr val="FFFFFF"/>
                </a:solidFill>
                <a:latin typeface="Work Sans"/>
                <a:ea typeface="Work Sans"/>
                <a:cs typeface="Work Sans"/>
                <a:sym typeface="Work Sans"/>
              </a:rPr>
              <a:t>ECU Reset</a:t>
            </a:r>
          </a:p>
        </p:txBody>
      </p:sp>
      <p:sp>
        <p:nvSpPr>
          <p:cNvPr name="TextBox 16" id="16"/>
          <p:cNvSpPr txBox="true"/>
          <p:nvPr/>
        </p:nvSpPr>
        <p:spPr>
          <a:xfrm rot="0">
            <a:off x="1916601" y="4788494"/>
            <a:ext cx="2129876" cy="361950"/>
          </a:xfrm>
          <a:prstGeom prst="rect">
            <a:avLst/>
          </a:prstGeom>
        </p:spPr>
        <p:txBody>
          <a:bodyPr anchor="t" rtlCol="false" tIns="0" lIns="0" bIns="0" rIns="0">
            <a:spAutoFit/>
          </a:bodyPr>
          <a:lstStyle/>
          <a:p>
            <a:pPr algn="r">
              <a:lnSpc>
                <a:spcPts val="2700"/>
              </a:lnSpc>
            </a:pPr>
            <a:r>
              <a:rPr lang="en-US" sz="2250">
                <a:solidFill>
                  <a:srgbClr val="FFFFFF"/>
                </a:solidFill>
                <a:latin typeface="Work Sans"/>
                <a:ea typeface="Work Sans"/>
                <a:cs typeface="Work Sans"/>
                <a:sym typeface="Work Sans"/>
              </a:rPr>
              <a:t>(0x11)</a:t>
            </a:r>
          </a:p>
        </p:txBody>
      </p:sp>
      <p:sp>
        <p:nvSpPr>
          <p:cNvPr name="TextBox 17" id="17"/>
          <p:cNvSpPr txBox="true"/>
          <p:nvPr/>
        </p:nvSpPr>
        <p:spPr>
          <a:xfrm rot="0">
            <a:off x="1989553" y="1096070"/>
            <a:ext cx="2056924" cy="704850"/>
          </a:xfrm>
          <a:prstGeom prst="rect">
            <a:avLst/>
          </a:prstGeom>
        </p:spPr>
        <p:txBody>
          <a:bodyPr anchor="t" rtlCol="false" tIns="0" lIns="0" bIns="0" rIns="0">
            <a:spAutoFit/>
          </a:bodyPr>
          <a:lstStyle/>
          <a:p>
            <a:pPr algn="r">
              <a:lnSpc>
                <a:spcPts val="5400"/>
              </a:lnSpc>
            </a:pPr>
            <a:r>
              <a:rPr lang="en-US" sz="4500">
                <a:solidFill>
                  <a:srgbClr val="FFFFFF"/>
                </a:solidFill>
                <a:latin typeface="Work Sans"/>
                <a:ea typeface="Work Sans"/>
                <a:cs typeface="Work Sans"/>
                <a:sym typeface="Work Sans"/>
              </a:rPr>
              <a:t>Default</a:t>
            </a:r>
          </a:p>
        </p:txBody>
      </p:sp>
      <p:sp>
        <p:nvSpPr>
          <p:cNvPr name="TextBox 18" id="18"/>
          <p:cNvSpPr txBox="true"/>
          <p:nvPr/>
        </p:nvSpPr>
        <p:spPr>
          <a:xfrm rot="0">
            <a:off x="1916601" y="1749714"/>
            <a:ext cx="2129876" cy="361950"/>
          </a:xfrm>
          <a:prstGeom prst="rect">
            <a:avLst/>
          </a:prstGeom>
        </p:spPr>
        <p:txBody>
          <a:bodyPr anchor="t" rtlCol="false" tIns="0" lIns="0" bIns="0" rIns="0">
            <a:spAutoFit/>
          </a:bodyPr>
          <a:lstStyle/>
          <a:p>
            <a:pPr algn="r">
              <a:lnSpc>
                <a:spcPts val="2700"/>
              </a:lnSpc>
            </a:pPr>
            <a:r>
              <a:rPr lang="en-US" sz="2250">
                <a:solidFill>
                  <a:srgbClr val="FFFFFF"/>
                </a:solidFill>
                <a:latin typeface="Work Sans"/>
                <a:ea typeface="Work Sans"/>
                <a:cs typeface="Work Sans"/>
                <a:sym typeface="Work Sans"/>
              </a:rPr>
              <a:t>(0x01)</a:t>
            </a:r>
          </a:p>
        </p:txBody>
      </p:sp>
      <p:pic>
        <p:nvPicPr>
          <p:cNvPr name="Picture 19" id="19"/>
          <p:cNvPicPr>
            <a:picLocks noChangeAspect="true"/>
          </p:cNvPicPr>
          <p:nvPr/>
        </p:nvPicPr>
        <p:blipFill>
          <a:blip r:embed="rId11"/>
          <a:stretch>
            <a:fillRect/>
          </a:stretch>
        </p:blipFill>
        <p:spPr>
          <a:xfrm rot="0">
            <a:off x="5918203" y="-62748"/>
            <a:ext cx="6451593" cy="6487579"/>
          </a:xfrm>
          <a:prstGeom prst="rect">
            <a:avLst/>
          </a:prstGeom>
        </p:spPr>
      </p:pic>
      <p:grpSp>
        <p:nvGrpSpPr>
          <p:cNvPr name="Group 20" id="20"/>
          <p:cNvGrpSpPr/>
          <p:nvPr/>
        </p:nvGrpSpPr>
        <p:grpSpPr>
          <a:xfrm rot="0">
            <a:off x="6988626" y="1025671"/>
            <a:ext cx="4310739" cy="4310739"/>
            <a:chOff x="0" y="0"/>
            <a:chExt cx="5747652" cy="5747652"/>
          </a:xfrm>
        </p:grpSpPr>
        <p:sp>
          <p:nvSpPr>
            <p:cNvPr name="Freeform 21" id="21"/>
            <p:cNvSpPr/>
            <p:nvPr/>
          </p:nvSpPr>
          <p:spPr>
            <a:xfrm flipH="false" flipV="false" rot="0">
              <a:off x="0" y="0"/>
              <a:ext cx="5747639" cy="5747639"/>
            </a:xfrm>
            <a:custGeom>
              <a:avLst/>
              <a:gdLst/>
              <a:ahLst/>
              <a:cxnLst/>
              <a:rect r="r" b="b" t="t" l="l"/>
              <a:pathLst>
                <a:path h="5747639" w="5747639">
                  <a:moveTo>
                    <a:pt x="0" y="2873883"/>
                  </a:moveTo>
                  <a:cubicBezTo>
                    <a:pt x="0" y="1286637"/>
                    <a:pt x="1286637" y="0"/>
                    <a:pt x="2873883" y="0"/>
                  </a:cubicBezTo>
                  <a:cubicBezTo>
                    <a:pt x="4461129" y="0"/>
                    <a:pt x="5747639" y="1286637"/>
                    <a:pt x="5747639" y="2873883"/>
                  </a:cubicBezTo>
                  <a:cubicBezTo>
                    <a:pt x="5747639" y="4461129"/>
                    <a:pt x="4461002" y="5747639"/>
                    <a:pt x="2873883" y="5747639"/>
                  </a:cubicBezTo>
                  <a:cubicBezTo>
                    <a:pt x="1286764" y="5747639"/>
                    <a:pt x="0" y="4461002"/>
                    <a:pt x="0" y="2873883"/>
                  </a:cubicBezTo>
                  <a:close/>
                </a:path>
              </a:pathLst>
            </a:custGeom>
            <a:solidFill>
              <a:srgbClr val="1B140F">
                <a:alpha val="3922"/>
              </a:srgbClr>
            </a:solidFill>
          </p:spPr>
        </p:sp>
      </p:grpSp>
      <p:sp>
        <p:nvSpPr>
          <p:cNvPr name="TextBox 22" id="22"/>
          <p:cNvSpPr txBox="true"/>
          <p:nvPr/>
        </p:nvSpPr>
        <p:spPr>
          <a:xfrm rot="0">
            <a:off x="7960400" y="2126790"/>
            <a:ext cx="2367201" cy="1390650"/>
          </a:xfrm>
          <a:prstGeom prst="rect">
            <a:avLst/>
          </a:prstGeom>
        </p:spPr>
        <p:txBody>
          <a:bodyPr anchor="t" rtlCol="false" tIns="0" lIns="0" bIns="0" rIns="0">
            <a:spAutoFit/>
          </a:bodyPr>
          <a:lstStyle/>
          <a:p>
            <a:pPr algn="ctr">
              <a:lnSpc>
                <a:spcPts val="10800"/>
              </a:lnSpc>
            </a:pPr>
            <a:r>
              <a:rPr lang="en-US" sz="9000" b="true">
                <a:solidFill>
                  <a:srgbClr val="FFFFFF"/>
                </a:solidFill>
                <a:latin typeface="Work Sans Medium"/>
                <a:ea typeface="Work Sans Medium"/>
                <a:cs typeface="Work Sans Medium"/>
                <a:sym typeface="Work Sans Medium"/>
              </a:rPr>
              <a:t>UDS</a:t>
            </a:r>
          </a:p>
        </p:txBody>
      </p:sp>
      <p:sp>
        <p:nvSpPr>
          <p:cNvPr name="TextBox 23" id="23"/>
          <p:cNvSpPr txBox="true"/>
          <p:nvPr/>
        </p:nvSpPr>
        <p:spPr>
          <a:xfrm rot="0">
            <a:off x="8193749" y="3241750"/>
            <a:ext cx="1900492" cy="541855"/>
          </a:xfrm>
          <a:prstGeom prst="rect">
            <a:avLst/>
          </a:prstGeom>
        </p:spPr>
        <p:txBody>
          <a:bodyPr anchor="t" rtlCol="false" tIns="0" lIns="0" bIns="0" rIns="0">
            <a:spAutoFit/>
          </a:bodyPr>
          <a:lstStyle/>
          <a:p>
            <a:pPr algn="ctr">
              <a:lnSpc>
                <a:spcPts val="4191"/>
              </a:lnSpc>
            </a:pPr>
            <a:r>
              <a:rPr lang="en-US" sz="3492">
                <a:solidFill>
                  <a:srgbClr val="FFFFFF"/>
                </a:solidFill>
                <a:latin typeface="Work Sans"/>
                <a:ea typeface="Work Sans"/>
                <a:cs typeface="Work Sans"/>
                <a:sym typeface="Work Sans"/>
              </a:rPr>
              <a:t>Sessions</a:t>
            </a:r>
          </a:p>
        </p:txBody>
      </p:sp>
      <p:sp>
        <p:nvSpPr>
          <p:cNvPr name="AutoShape 24" id="24"/>
          <p:cNvSpPr/>
          <p:nvPr/>
        </p:nvSpPr>
        <p:spPr>
          <a:xfrm rot="-42120">
            <a:off x="5891232" y="1670504"/>
            <a:ext cx="1554994" cy="0"/>
          </a:xfrm>
          <a:prstGeom prst="line">
            <a:avLst/>
          </a:prstGeom>
          <a:ln cap="rnd" w="9525">
            <a:solidFill>
              <a:srgbClr val="FFFFFF"/>
            </a:solidFill>
            <a:prstDash val="solid"/>
            <a:headEnd type="diamond" len="lg" w="lg"/>
            <a:tailEnd type="none" len="sm" w="sm"/>
          </a:ln>
        </p:spPr>
      </p:sp>
      <p:sp>
        <p:nvSpPr>
          <p:cNvPr name="AutoShape 25" id="25"/>
          <p:cNvSpPr/>
          <p:nvPr/>
        </p:nvSpPr>
        <p:spPr>
          <a:xfrm rot="-42120">
            <a:off x="5891232" y="4706131"/>
            <a:ext cx="1554994" cy="0"/>
          </a:xfrm>
          <a:prstGeom prst="line">
            <a:avLst/>
          </a:prstGeom>
          <a:ln cap="rnd" w="9525">
            <a:solidFill>
              <a:srgbClr val="FFFFFF"/>
            </a:solidFill>
            <a:prstDash val="solid"/>
            <a:headEnd type="diamond" len="lg" w="lg"/>
            <a:tailEnd type="none" len="sm" w="sm"/>
          </a:ln>
        </p:spPr>
      </p:sp>
      <p:sp>
        <p:nvSpPr>
          <p:cNvPr name="AutoShape 26" id="26"/>
          <p:cNvSpPr/>
          <p:nvPr/>
        </p:nvSpPr>
        <p:spPr>
          <a:xfrm rot="-42120">
            <a:off x="10834659" y="4699035"/>
            <a:ext cx="1554994" cy="0"/>
          </a:xfrm>
          <a:prstGeom prst="line">
            <a:avLst/>
          </a:prstGeom>
          <a:ln cap="rnd" w="9525">
            <a:solidFill>
              <a:srgbClr val="FFFFFF"/>
            </a:solidFill>
            <a:prstDash val="solid"/>
            <a:headEnd type="none" len="sm" w="sm"/>
            <a:tailEnd type="diamond" len="lg" w="lg"/>
          </a:ln>
        </p:spPr>
      </p:sp>
      <p:sp>
        <p:nvSpPr>
          <p:cNvPr name="AutoShape 27" id="27"/>
          <p:cNvSpPr/>
          <p:nvPr/>
        </p:nvSpPr>
        <p:spPr>
          <a:xfrm rot="-42120">
            <a:off x="10833935" y="1670504"/>
            <a:ext cx="1554994" cy="0"/>
          </a:xfrm>
          <a:prstGeom prst="line">
            <a:avLst/>
          </a:prstGeom>
          <a:ln cap="rnd" w="9525">
            <a:solidFill>
              <a:srgbClr val="FFFFFF"/>
            </a:solidFill>
            <a:prstDash val="solid"/>
            <a:headEnd type="none" len="sm" w="sm"/>
            <a:tailEnd type="diamond" len="lg" w="lg"/>
          </a:ln>
        </p:spPr>
      </p:sp>
      <p:grpSp>
        <p:nvGrpSpPr>
          <p:cNvPr name="Group 28" id="28"/>
          <p:cNvGrpSpPr/>
          <p:nvPr/>
        </p:nvGrpSpPr>
        <p:grpSpPr>
          <a:xfrm rot="0">
            <a:off x="16784479" y="9491358"/>
            <a:ext cx="697335" cy="357088"/>
            <a:chOff x="0" y="0"/>
            <a:chExt cx="929780" cy="476118"/>
          </a:xfrm>
        </p:grpSpPr>
        <p:sp>
          <p:nvSpPr>
            <p:cNvPr name="Freeform 29" id="2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12">
                <a:alphaModFix amt="0"/>
              </a:blip>
              <a:stretch>
                <a:fillRect l="-15701" t="0" r="-15702" b="-2"/>
              </a:stretch>
            </a:blipFill>
          </p:spPr>
        </p:sp>
        <p:sp>
          <p:nvSpPr>
            <p:cNvPr name="TextBox 30" id="3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24</a:t>
              </a:r>
            </a:p>
          </p:txBody>
        </p:sp>
      </p:grpSp>
      <p:grpSp>
        <p:nvGrpSpPr>
          <p:cNvPr name="Group 31" id="31"/>
          <p:cNvGrpSpPr/>
          <p:nvPr/>
        </p:nvGrpSpPr>
        <p:grpSpPr>
          <a:xfrm rot="0">
            <a:off x="15325725" y="9491367"/>
            <a:ext cx="1299210" cy="357077"/>
            <a:chOff x="0" y="0"/>
            <a:chExt cx="1732280" cy="476102"/>
          </a:xfrm>
        </p:grpSpPr>
        <p:sp>
          <p:nvSpPr>
            <p:cNvPr name="Freeform 32" id="32"/>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12">
                <a:alphaModFix amt="0"/>
              </a:blip>
              <a:stretch>
                <a:fillRect l="0" t="-20895" r="0" b="-20894"/>
              </a:stretch>
            </a:blipFill>
          </p:spPr>
        </p:sp>
        <p:sp>
          <p:nvSpPr>
            <p:cNvPr name="TextBox 33" id="33"/>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34" id="34"/>
          <p:cNvGrpSpPr/>
          <p:nvPr/>
        </p:nvGrpSpPr>
        <p:grpSpPr>
          <a:xfrm rot="0">
            <a:off x="926309" y="9491358"/>
            <a:ext cx="2807304" cy="493053"/>
            <a:chOff x="0" y="0"/>
            <a:chExt cx="3743072" cy="657404"/>
          </a:xfrm>
        </p:grpSpPr>
        <p:sp>
          <p:nvSpPr>
            <p:cNvPr name="Freeform 35" id="35"/>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6" id="36"/>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37" id="37"/>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a:off x="847718" y="9263062"/>
            <a:ext cx="16411578" cy="14322"/>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UDS Service I</a:t>
            </a:r>
            <a:r>
              <a:rPr lang="en-US" b="true" sz="4200" spc="-30">
                <a:solidFill>
                  <a:srgbClr val="E6E7E8"/>
                </a:solidFill>
                <a:latin typeface="Work Sans Medium"/>
                <a:ea typeface="Work Sans Medium"/>
                <a:cs typeface="Work Sans Medium"/>
                <a:sym typeface="Work Sans Medium"/>
              </a:rPr>
              <a:t>Ds &amp; Negative Response Codes</a:t>
            </a:r>
          </a:p>
        </p:txBody>
      </p:sp>
      <p:graphicFrame>
        <p:nvGraphicFramePr>
          <p:cNvPr name="Table 4" id="4"/>
          <p:cNvGraphicFramePr>
            <a:graphicFrameLocks noGrp="true"/>
          </p:cNvGraphicFramePr>
          <p:nvPr/>
        </p:nvGraphicFramePr>
        <p:xfrm>
          <a:off x="9522724" y="1726124"/>
          <a:ext cx="7245443" cy="3719512"/>
        </p:xfrm>
        <a:graphic>
          <a:graphicData uri="http://schemas.openxmlformats.org/drawingml/2006/table">
            <a:tbl>
              <a:tblPr/>
              <a:tblGrid>
                <a:gridCol w="7245443"/>
              </a:tblGrid>
              <a:tr h="705754">
                <a:tc>
                  <a:txBody>
                    <a:bodyPr anchor="t" rtlCol="false"/>
                    <a:lstStyle/>
                    <a:p>
                      <a:pPr algn="ctr">
                        <a:lnSpc>
                          <a:spcPts val="2700"/>
                        </a:lnSpc>
                        <a:defRPr/>
                      </a:pPr>
                      <a:r>
                        <a:rPr lang="en-US" sz="2250">
                          <a:solidFill>
                            <a:srgbClr val="161718"/>
                          </a:solidFill>
                          <a:latin typeface="Work Sans"/>
                          <a:ea typeface="Work Sans"/>
                          <a:cs typeface="Work Sans"/>
                          <a:sym typeface="Work Sans"/>
                        </a:rPr>
                        <a:t>NEGATIVE RESPONSE CO</a:t>
                      </a:r>
                      <a:r>
                        <a:rPr lang="en-US" sz="2250">
                          <a:solidFill>
                            <a:srgbClr val="161718"/>
                          </a:solidFill>
                          <a:latin typeface="Work Sans"/>
                          <a:ea typeface="Work Sans"/>
                          <a:cs typeface="Work Sans"/>
                          <a:sym typeface="Work Sans"/>
                        </a:rPr>
                        <a:t>DES (NRC)</a:t>
                      </a:r>
                      <a:endParaRPr lang="en-US" sz="1100"/>
                    </a:p>
                  </a:txBody>
                  <a:tcPr marL="113580" marR="113580" marT="113580" marB="113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8FDB00"/>
                    </a:solidFill>
                  </a:tcPr>
                </a:tc>
              </a:tr>
              <a:tr h="3013759">
                <a:tc>
                  <a:txBody>
                    <a:bodyPr anchor="t" rtlCol="false"/>
                    <a:lstStyle/>
                    <a:p>
                      <a:pPr algn="l">
                        <a:lnSpc>
                          <a:spcPts val="2399"/>
                        </a:lnSpc>
                        <a:defRPr/>
                      </a:pPr>
                      <a:r>
                        <a:rPr lang="en-US" sz="1999">
                          <a:solidFill>
                            <a:srgbClr val="FFFFFF"/>
                          </a:solidFill>
                          <a:latin typeface="Work Sans"/>
                          <a:ea typeface="Work Sans"/>
                          <a:cs typeface="Work Sans"/>
                          <a:sym typeface="Work Sans"/>
                        </a:rPr>
                        <a:t>0x12           </a:t>
                      </a:r>
                      <a:r>
                        <a:rPr lang="en-US" sz="1999">
                          <a:solidFill>
                            <a:srgbClr val="FFFFFF"/>
                          </a:solidFill>
                          <a:latin typeface="Work Sans"/>
                          <a:ea typeface="Work Sans"/>
                          <a:cs typeface="Work Sans"/>
                          <a:sym typeface="Work Sans"/>
                        </a:rPr>
                        <a:t>Sub-function Not Supported</a:t>
                      </a:r>
                      <a:endParaRPr lang="en-US" sz="1100"/>
                    </a:p>
                    <a:p>
                      <a:pPr algn="l">
                        <a:lnSpc>
                          <a:spcPts val="2399"/>
                        </a:lnSpc>
                      </a:pPr>
                      <a:r>
                        <a:rPr lang="en-US" sz="1999">
                          <a:solidFill>
                            <a:srgbClr val="FFFFFF"/>
                          </a:solidFill>
                          <a:latin typeface="Work Sans"/>
                          <a:ea typeface="Work Sans"/>
                          <a:cs typeface="Work Sans"/>
                          <a:sym typeface="Work Sans"/>
                        </a:rPr>
                        <a:t>0x13           Incorrect Message Length</a:t>
                      </a:r>
                    </a:p>
                    <a:p>
                      <a:pPr algn="l">
                        <a:lnSpc>
                          <a:spcPts val="2399"/>
                        </a:lnSpc>
                      </a:pPr>
                      <a:r>
                        <a:rPr lang="en-US" sz="1999">
                          <a:solidFill>
                            <a:srgbClr val="FFFFFF"/>
                          </a:solidFill>
                          <a:latin typeface="Work Sans"/>
                          <a:ea typeface="Work Sans"/>
                          <a:cs typeface="Work Sans"/>
                          <a:sym typeface="Work Sans"/>
                        </a:rPr>
                        <a:t>0x22          Conditions Not Correct</a:t>
                      </a:r>
                    </a:p>
                    <a:p>
                      <a:pPr algn="l">
                        <a:lnSpc>
                          <a:spcPts val="2399"/>
                        </a:lnSpc>
                      </a:pPr>
                      <a:r>
                        <a:rPr lang="en-US" sz="1999">
                          <a:solidFill>
                            <a:srgbClr val="FFFFFF"/>
                          </a:solidFill>
                          <a:latin typeface="Work Sans"/>
                          <a:ea typeface="Work Sans"/>
                          <a:cs typeface="Work Sans"/>
                          <a:sym typeface="Work Sans"/>
                        </a:rPr>
                        <a:t>0x31           Request Out of Range</a:t>
                      </a:r>
                    </a:p>
                    <a:p>
                      <a:pPr algn="l">
                        <a:lnSpc>
                          <a:spcPts val="2399"/>
                        </a:lnSpc>
                      </a:pPr>
                      <a:r>
                        <a:rPr lang="en-US" sz="1999">
                          <a:solidFill>
                            <a:srgbClr val="FFFFFF"/>
                          </a:solidFill>
                          <a:latin typeface="Work Sans"/>
                          <a:ea typeface="Work Sans"/>
                          <a:cs typeface="Work Sans"/>
                          <a:sym typeface="Work Sans"/>
                        </a:rPr>
                        <a:t>0x33          Security Access Denied</a:t>
                      </a:r>
                    </a:p>
                    <a:p>
                      <a:pPr algn="l">
                        <a:lnSpc>
                          <a:spcPts val="2399"/>
                        </a:lnSpc>
                      </a:pPr>
                      <a:r>
                        <a:rPr lang="en-US" sz="1999">
                          <a:solidFill>
                            <a:srgbClr val="FFFFFF"/>
                          </a:solidFill>
                          <a:latin typeface="Work Sans"/>
                          <a:ea typeface="Work Sans"/>
                          <a:cs typeface="Work Sans"/>
                          <a:sym typeface="Work Sans"/>
                        </a:rPr>
                        <a:t>0x35          Invalid Key</a:t>
                      </a:r>
                    </a:p>
                    <a:p>
                      <a:pPr algn="l">
                        <a:lnSpc>
                          <a:spcPts val="2399"/>
                        </a:lnSpc>
                      </a:pPr>
                      <a:r>
                        <a:rPr lang="en-US" sz="1999">
                          <a:solidFill>
                            <a:srgbClr val="FFFFFF"/>
                          </a:solidFill>
                          <a:latin typeface="Work Sans"/>
                          <a:ea typeface="Work Sans"/>
                          <a:cs typeface="Work Sans"/>
                          <a:sym typeface="Work Sans"/>
                        </a:rPr>
                        <a:t>0x37          Required Time Delay Not Expired</a:t>
                      </a:r>
                    </a:p>
                    <a:p>
                      <a:pPr algn="l">
                        <a:lnSpc>
                          <a:spcPts val="2399"/>
                        </a:lnSpc>
                      </a:pPr>
                      <a:r>
                        <a:rPr lang="en-US" sz="1999">
                          <a:solidFill>
                            <a:srgbClr val="FFFFFF"/>
                          </a:solidFill>
                          <a:latin typeface="Work Sans"/>
                          <a:ea typeface="Work Sans"/>
                          <a:cs typeface="Work Sans"/>
                          <a:sym typeface="Work Sans"/>
                        </a:rPr>
                        <a:t>0x78          Response Pending</a:t>
                      </a:r>
                    </a:p>
                    <a:p>
                      <a:pPr algn="l">
                        <a:lnSpc>
                          <a:spcPts val="2399"/>
                        </a:lnSpc>
                      </a:pPr>
                    </a:p>
                  </a:txBody>
                  <a:tcPr marL="113580" marR="113580" marT="113580" marB="11358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aphicFrame>
        <p:nvGraphicFramePr>
          <p:cNvPr name="Table 5" id="5"/>
          <p:cNvGraphicFramePr>
            <a:graphicFrameLocks noGrp="true"/>
          </p:cNvGraphicFramePr>
          <p:nvPr/>
        </p:nvGraphicFramePr>
        <p:xfrm>
          <a:off x="9391650" y="6156039"/>
          <a:ext cx="7867650" cy="1947863"/>
        </p:xfrm>
        <a:graphic>
          <a:graphicData uri="http://schemas.openxmlformats.org/drawingml/2006/table">
            <a:tbl>
              <a:tblPr/>
              <a:tblGrid>
                <a:gridCol w="7867650"/>
              </a:tblGrid>
              <a:tr h="706578">
                <a:tc>
                  <a:txBody>
                    <a:bodyPr anchor="t" rtlCol="false"/>
                    <a:lstStyle/>
                    <a:p>
                      <a:pPr algn="ctr">
                        <a:lnSpc>
                          <a:spcPts val="2700"/>
                        </a:lnSpc>
                        <a:defRPr/>
                      </a:pPr>
                      <a:r>
                        <a:rPr lang="en-US" sz="2250">
                          <a:solidFill>
                            <a:srgbClr val="FFFFFF"/>
                          </a:solidFill>
                          <a:latin typeface="Work Sans"/>
                          <a:ea typeface="Work Sans"/>
                          <a:cs typeface="Work Sans"/>
                          <a:sym typeface="Work Sans"/>
                        </a:rPr>
                        <a:t>Response Frame Shapes</a:t>
                      </a:r>
                      <a:endParaRPr lang="en-US" sz="1100"/>
                    </a:p>
                  </a:txBody>
                  <a:tcPr marL="113580" marR="113580" marT="113580" marB="113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753DFF"/>
                    </a:solidFill>
                  </a:tcPr>
                </a:tc>
              </a:tr>
              <a:tr h="1241285">
                <a:tc>
                  <a:txBody>
                    <a:bodyPr anchor="t" rtlCol="false"/>
                    <a:lstStyle/>
                    <a:p>
                      <a:pPr algn="ctr">
                        <a:lnSpc>
                          <a:spcPts val="2399"/>
                        </a:lnSpc>
                        <a:defRPr/>
                      </a:pPr>
                      <a:r>
                        <a:rPr lang="en-US" sz="1999" b="true">
                          <a:solidFill>
                            <a:srgbClr val="FFFFFF"/>
                          </a:solidFill>
                          <a:latin typeface="Work Sans Bold"/>
                          <a:ea typeface="Work Sans Bold"/>
                          <a:cs typeface="Work Sans Bold"/>
                          <a:sym typeface="Work Sans Bold"/>
                        </a:rPr>
                        <a:t>Positive:</a:t>
                      </a:r>
                      <a:r>
                        <a:rPr lang="en-US" sz="1999" b="true">
                          <a:solidFill>
                            <a:srgbClr val="FFFFFF"/>
                          </a:solidFill>
                          <a:latin typeface="Work Sans Bold"/>
                          <a:ea typeface="Work Sans Bold"/>
                          <a:cs typeface="Work Sans Bold"/>
                          <a:sym typeface="Work Sans Bold"/>
                        </a:rPr>
                        <a:t> </a:t>
                      </a:r>
                      <a:r>
                        <a:rPr lang="en-US" sz="1999">
                          <a:solidFill>
                            <a:srgbClr val="FFFFFF"/>
                          </a:solidFill>
                          <a:latin typeface="Work Sans"/>
                          <a:ea typeface="Work Sans"/>
                          <a:cs typeface="Work Sans"/>
                          <a:sym typeface="Work Sans"/>
                        </a:rPr>
                        <a:t>[SID + 0x40] [Data]</a:t>
                      </a:r>
                      <a:endParaRPr lang="en-US" sz="1100"/>
                    </a:p>
                    <a:p>
                      <a:pPr algn="ctr">
                        <a:lnSpc>
                          <a:spcPts val="2399"/>
                        </a:lnSpc>
                      </a:pPr>
                      <a:r>
                        <a:rPr lang="en-US" sz="1999" b="true">
                          <a:solidFill>
                            <a:srgbClr val="FFFFFF"/>
                          </a:solidFill>
                          <a:latin typeface="Work Sans Bold"/>
                          <a:ea typeface="Work Sans Bold"/>
                          <a:cs typeface="Work Sans Bold"/>
                          <a:sym typeface="Work Sans Bold"/>
                        </a:rPr>
                        <a:t>Negative: </a:t>
                      </a:r>
                      <a:r>
                        <a:rPr lang="en-US" sz="1999">
                          <a:solidFill>
                            <a:srgbClr val="FFFFFF"/>
                          </a:solidFill>
                          <a:latin typeface="Work Sans"/>
                          <a:ea typeface="Work Sans"/>
                          <a:cs typeface="Work Sans"/>
                          <a:sym typeface="Work Sans"/>
                        </a:rPr>
                        <a:t>[0x7F] [SID] [NRC]</a:t>
                      </a:r>
                    </a:p>
                    <a:p>
                      <a:pPr algn="ctr">
                        <a:lnSpc>
                          <a:spcPts val="2399"/>
                        </a:lnSpc>
                      </a:pPr>
                    </a:p>
                  </a:txBody>
                  <a:tcPr marL="113580" marR="113580" marT="113580" marB="11358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pSp>
        <p:nvGrpSpPr>
          <p:cNvPr name="Group 6" id="6"/>
          <p:cNvGrpSpPr/>
          <p:nvPr/>
        </p:nvGrpSpPr>
        <p:grpSpPr>
          <a:xfrm rot="0">
            <a:off x="16784479" y="9491358"/>
            <a:ext cx="697335" cy="357088"/>
            <a:chOff x="0" y="0"/>
            <a:chExt cx="929780" cy="476118"/>
          </a:xfrm>
        </p:grpSpPr>
        <p:sp>
          <p:nvSpPr>
            <p:cNvPr name="Freeform 7" id="7"/>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8" id="8"/>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25</a:t>
              </a:r>
            </a:p>
          </p:txBody>
        </p:sp>
      </p:grpSp>
      <p:grpSp>
        <p:nvGrpSpPr>
          <p:cNvPr name="Group 9" id="9"/>
          <p:cNvGrpSpPr/>
          <p:nvPr/>
        </p:nvGrpSpPr>
        <p:grpSpPr>
          <a:xfrm rot="0">
            <a:off x="603663" y="1726124"/>
            <a:ext cx="8072282" cy="6377777"/>
            <a:chOff x="0" y="0"/>
            <a:chExt cx="10763042" cy="8503702"/>
          </a:xfrm>
        </p:grpSpPr>
        <p:grpSp>
          <p:nvGrpSpPr>
            <p:cNvPr name="Group 11" id="11"/>
            <p:cNvGrpSpPr/>
            <p:nvPr/>
          </p:nvGrpSpPr>
          <p:grpSpPr>
            <a:xfrm rot="0">
              <a:off x="0" y="1054042"/>
              <a:ext cx="10763042" cy="7449660"/>
              <a:chOff x="0" y="0"/>
              <a:chExt cx="10763042" cy="7449660"/>
            </a:xfrm>
          </p:grpSpPr>
          <p:sp>
            <p:nvSpPr>
              <p:cNvPr name="Freeform 12" id="12"/>
              <p:cNvSpPr/>
              <p:nvPr/>
            </p:nvSpPr>
            <p:spPr>
              <a:xfrm flipH="false" flipV="false" rot="0">
                <a:off x="0" y="0"/>
                <a:ext cx="10763042" cy="7449699"/>
              </a:xfrm>
              <a:custGeom>
                <a:avLst/>
                <a:gdLst/>
                <a:ahLst/>
                <a:cxnLst/>
                <a:rect r="r" b="b" t="t" l="l"/>
                <a:pathLst>
                  <a:path h="7449699" w="10763042">
                    <a:moveTo>
                      <a:pt x="0" y="123011"/>
                    </a:moveTo>
                    <a:cubicBezTo>
                      <a:pt x="0" y="55113"/>
                      <a:pt x="66273" y="0"/>
                      <a:pt x="147918" y="0"/>
                    </a:cubicBezTo>
                    <a:lnTo>
                      <a:pt x="10615125" y="0"/>
                    </a:lnTo>
                    <a:cubicBezTo>
                      <a:pt x="10696770" y="0"/>
                      <a:pt x="10763042" y="55113"/>
                      <a:pt x="10763042" y="123011"/>
                    </a:cubicBezTo>
                    <a:lnTo>
                      <a:pt x="10763042" y="7326678"/>
                    </a:lnTo>
                    <a:cubicBezTo>
                      <a:pt x="10763042" y="7394576"/>
                      <a:pt x="10696770" y="7449699"/>
                      <a:pt x="10615125" y="7449699"/>
                    </a:cubicBezTo>
                    <a:lnTo>
                      <a:pt x="147918" y="7449699"/>
                    </a:lnTo>
                    <a:cubicBezTo>
                      <a:pt x="66273" y="7449699"/>
                      <a:pt x="0" y="7394576"/>
                      <a:pt x="0" y="7326678"/>
                    </a:cubicBezTo>
                    <a:close/>
                  </a:path>
                </a:pathLst>
              </a:custGeom>
              <a:solidFill>
                <a:srgbClr val="E6E7E8"/>
              </a:solidFill>
              <a:ln w="19050" cap="sq">
                <a:solidFill>
                  <a:srgbClr val="D7E1EA"/>
                </a:solidFill>
                <a:prstDash val="solid"/>
                <a:miter/>
              </a:ln>
            </p:spPr>
          </p:sp>
        </p:grpSp>
        <p:grpSp>
          <p:nvGrpSpPr>
            <p:cNvPr name="Group 13" id="13"/>
            <p:cNvGrpSpPr/>
            <p:nvPr/>
          </p:nvGrpSpPr>
          <p:grpSpPr>
            <a:xfrm rot="0">
              <a:off x="261626" y="1875008"/>
              <a:ext cx="10418067" cy="666089"/>
              <a:chOff x="0" y="0"/>
              <a:chExt cx="10418067" cy="666089"/>
            </a:xfrm>
          </p:grpSpPr>
          <p:sp>
            <p:nvSpPr>
              <p:cNvPr name="Freeform 14" id="14"/>
              <p:cNvSpPr/>
              <p:nvPr/>
            </p:nvSpPr>
            <p:spPr>
              <a:xfrm flipH="false" flipV="false" rot="0">
                <a:off x="0" y="0"/>
                <a:ext cx="10418032" cy="666114"/>
              </a:xfrm>
              <a:custGeom>
                <a:avLst/>
                <a:gdLst/>
                <a:ahLst/>
                <a:cxnLst/>
                <a:rect r="r" b="b" t="t" l="l"/>
                <a:pathLst>
                  <a:path h="666114" w="10418032">
                    <a:moveTo>
                      <a:pt x="0" y="0"/>
                    </a:moveTo>
                    <a:lnTo>
                      <a:pt x="10418032" y="0"/>
                    </a:lnTo>
                    <a:lnTo>
                      <a:pt x="10418032" y="666114"/>
                    </a:lnTo>
                    <a:lnTo>
                      <a:pt x="0" y="666114"/>
                    </a:lnTo>
                    <a:close/>
                  </a:path>
                </a:pathLst>
              </a:custGeom>
              <a:solidFill>
                <a:srgbClr val="F4F7FA"/>
              </a:solidFill>
            </p:spPr>
          </p:sp>
        </p:grpSp>
        <p:grpSp>
          <p:nvGrpSpPr>
            <p:cNvPr name="Group 15" id="15"/>
            <p:cNvGrpSpPr/>
            <p:nvPr/>
          </p:nvGrpSpPr>
          <p:grpSpPr>
            <a:xfrm rot="0">
              <a:off x="428325" y="1894170"/>
              <a:ext cx="1082239" cy="615032"/>
              <a:chOff x="0" y="0"/>
              <a:chExt cx="1082239" cy="615032"/>
            </a:xfrm>
          </p:grpSpPr>
          <p:sp>
            <p:nvSpPr>
              <p:cNvPr name="Freeform 16" id="16"/>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17" id="17"/>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0x10</a:t>
                </a:r>
              </a:p>
            </p:txBody>
          </p:sp>
        </p:grpSp>
        <p:grpSp>
          <p:nvGrpSpPr>
            <p:cNvPr name="Group 18" id="18"/>
            <p:cNvGrpSpPr/>
            <p:nvPr/>
          </p:nvGrpSpPr>
          <p:grpSpPr>
            <a:xfrm rot="0">
              <a:off x="1595223" y="1938806"/>
              <a:ext cx="4750279" cy="570397"/>
              <a:chOff x="0" y="0"/>
              <a:chExt cx="4750279" cy="570397"/>
            </a:xfrm>
          </p:grpSpPr>
          <p:sp>
            <p:nvSpPr>
              <p:cNvPr name="Freeform 19" id="19"/>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20" id="20"/>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Diagnostic Session Control</a:t>
                </a:r>
              </a:p>
            </p:txBody>
          </p:sp>
        </p:grpSp>
        <p:grpSp>
          <p:nvGrpSpPr>
            <p:cNvPr name="Group 21" id="21"/>
            <p:cNvGrpSpPr/>
            <p:nvPr/>
          </p:nvGrpSpPr>
          <p:grpSpPr>
            <a:xfrm rot="0">
              <a:off x="6429512" y="1926249"/>
              <a:ext cx="4333530" cy="562302"/>
              <a:chOff x="0" y="0"/>
              <a:chExt cx="4333530" cy="562302"/>
            </a:xfrm>
          </p:grpSpPr>
          <p:sp>
            <p:nvSpPr>
              <p:cNvPr name="Freeform 22" id="22"/>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23" id="23"/>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10 03 → Extended Session</a:t>
                </a:r>
              </a:p>
            </p:txBody>
          </p:sp>
        </p:grpSp>
        <p:grpSp>
          <p:nvGrpSpPr>
            <p:cNvPr name="Group 24" id="24"/>
            <p:cNvGrpSpPr/>
            <p:nvPr/>
          </p:nvGrpSpPr>
          <p:grpSpPr>
            <a:xfrm rot="0">
              <a:off x="428325" y="2561506"/>
              <a:ext cx="1082239" cy="615032"/>
              <a:chOff x="0" y="0"/>
              <a:chExt cx="1082239" cy="615032"/>
            </a:xfrm>
          </p:grpSpPr>
          <p:sp>
            <p:nvSpPr>
              <p:cNvPr name="Freeform 25" id="25"/>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26" id="26"/>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0x27</a:t>
                </a:r>
              </a:p>
            </p:txBody>
          </p:sp>
        </p:grpSp>
        <p:grpSp>
          <p:nvGrpSpPr>
            <p:cNvPr name="Group 27" id="27"/>
            <p:cNvGrpSpPr/>
            <p:nvPr/>
          </p:nvGrpSpPr>
          <p:grpSpPr>
            <a:xfrm rot="0">
              <a:off x="1595223" y="2606141"/>
              <a:ext cx="4750279" cy="570397"/>
              <a:chOff x="0" y="0"/>
              <a:chExt cx="4750279" cy="570397"/>
            </a:xfrm>
          </p:grpSpPr>
          <p:sp>
            <p:nvSpPr>
              <p:cNvPr name="Freeform 28" id="28"/>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29" id="29"/>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Security Access</a:t>
                </a:r>
              </a:p>
            </p:txBody>
          </p:sp>
        </p:grpSp>
        <p:grpSp>
          <p:nvGrpSpPr>
            <p:cNvPr name="Group 30" id="30"/>
            <p:cNvGrpSpPr/>
            <p:nvPr/>
          </p:nvGrpSpPr>
          <p:grpSpPr>
            <a:xfrm rot="0">
              <a:off x="6429512" y="2584112"/>
              <a:ext cx="4333530" cy="562302"/>
              <a:chOff x="0" y="0"/>
              <a:chExt cx="4333530" cy="562302"/>
            </a:xfrm>
          </p:grpSpPr>
          <p:sp>
            <p:nvSpPr>
              <p:cNvPr name="Freeform 31" id="31"/>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32" id="32"/>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27 01 Seed → 27 02 Key</a:t>
                </a:r>
              </a:p>
            </p:txBody>
          </p:sp>
        </p:grpSp>
        <p:grpSp>
          <p:nvGrpSpPr>
            <p:cNvPr name="Group 33" id="33"/>
            <p:cNvGrpSpPr/>
            <p:nvPr/>
          </p:nvGrpSpPr>
          <p:grpSpPr>
            <a:xfrm rot="0">
              <a:off x="261626" y="3209690"/>
              <a:ext cx="10418067" cy="666089"/>
              <a:chOff x="0" y="0"/>
              <a:chExt cx="10418067" cy="666089"/>
            </a:xfrm>
          </p:grpSpPr>
          <p:sp>
            <p:nvSpPr>
              <p:cNvPr name="Freeform 34" id="34"/>
              <p:cNvSpPr/>
              <p:nvPr/>
            </p:nvSpPr>
            <p:spPr>
              <a:xfrm flipH="false" flipV="false" rot="0">
                <a:off x="0" y="0"/>
                <a:ext cx="10418032" cy="666114"/>
              </a:xfrm>
              <a:custGeom>
                <a:avLst/>
                <a:gdLst/>
                <a:ahLst/>
                <a:cxnLst/>
                <a:rect r="r" b="b" t="t" l="l"/>
                <a:pathLst>
                  <a:path h="666114" w="10418032">
                    <a:moveTo>
                      <a:pt x="0" y="0"/>
                    </a:moveTo>
                    <a:lnTo>
                      <a:pt x="10418032" y="0"/>
                    </a:lnTo>
                    <a:lnTo>
                      <a:pt x="10418032" y="666114"/>
                    </a:lnTo>
                    <a:lnTo>
                      <a:pt x="0" y="666114"/>
                    </a:lnTo>
                    <a:close/>
                  </a:path>
                </a:pathLst>
              </a:custGeom>
              <a:solidFill>
                <a:srgbClr val="F4F7FA"/>
              </a:solidFill>
            </p:spPr>
          </p:sp>
        </p:grpSp>
        <p:grpSp>
          <p:nvGrpSpPr>
            <p:cNvPr name="Group 35" id="35"/>
            <p:cNvGrpSpPr/>
            <p:nvPr/>
          </p:nvGrpSpPr>
          <p:grpSpPr>
            <a:xfrm rot="0">
              <a:off x="428325" y="3228853"/>
              <a:ext cx="1082239" cy="615032"/>
              <a:chOff x="0" y="0"/>
              <a:chExt cx="1082239" cy="615032"/>
            </a:xfrm>
          </p:grpSpPr>
          <p:sp>
            <p:nvSpPr>
              <p:cNvPr name="Freeform 36" id="36"/>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37" id="37"/>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0x22</a:t>
                </a:r>
              </a:p>
            </p:txBody>
          </p:sp>
        </p:grpSp>
        <p:grpSp>
          <p:nvGrpSpPr>
            <p:cNvPr name="Group 38" id="38"/>
            <p:cNvGrpSpPr/>
            <p:nvPr/>
          </p:nvGrpSpPr>
          <p:grpSpPr>
            <a:xfrm rot="0">
              <a:off x="1595223" y="3273488"/>
              <a:ext cx="4750279" cy="570397"/>
              <a:chOff x="0" y="0"/>
              <a:chExt cx="4750279" cy="570397"/>
            </a:xfrm>
          </p:grpSpPr>
          <p:sp>
            <p:nvSpPr>
              <p:cNvPr name="Freeform 39" id="39"/>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40" id="40"/>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Read Data by Identifier</a:t>
                </a:r>
              </a:p>
            </p:txBody>
          </p:sp>
        </p:grpSp>
        <p:grpSp>
          <p:nvGrpSpPr>
            <p:cNvPr name="Group 41" id="41"/>
            <p:cNvGrpSpPr/>
            <p:nvPr/>
          </p:nvGrpSpPr>
          <p:grpSpPr>
            <a:xfrm rot="0">
              <a:off x="6429512" y="3241987"/>
              <a:ext cx="4333530" cy="562302"/>
              <a:chOff x="0" y="0"/>
              <a:chExt cx="4333530" cy="562302"/>
            </a:xfrm>
          </p:grpSpPr>
          <p:sp>
            <p:nvSpPr>
              <p:cNvPr name="Freeform 42" id="42"/>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43" id="43"/>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22 F1 90 → VIN read</a:t>
                </a:r>
              </a:p>
            </p:txBody>
          </p:sp>
        </p:grpSp>
        <p:grpSp>
          <p:nvGrpSpPr>
            <p:cNvPr name="Group 44" id="44"/>
            <p:cNvGrpSpPr/>
            <p:nvPr/>
          </p:nvGrpSpPr>
          <p:grpSpPr>
            <a:xfrm rot="0">
              <a:off x="428325" y="3895559"/>
              <a:ext cx="1082239" cy="615032"/>
              <a:chOff x="0" y="0"/>
              <a:chExt cx="1082239" cy="615032"/>
            </a:xfrm>
          </p:grpSpPr>
          <p:sp>
            <p:nvSpPr>
              <p:cNvPr name="Freeform 45" id="45"/>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46" id="46"/>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0x2E</a:t>
                </a:r>
              </a:p>
            </p:txBody>
          </p:sp>
        </p:grpSp>
        <p:grpSp>
          <p:nvGrpSpPr>
            <p:cNvPr name="Group 47" id="47"/>
            <p:cNvGrpSpPr/>
            <p:nvPr/>
          </p:nvGrpSpPr>
          <p:grpSpPr>
            <a:xfrm rot="0">
              <a:off x="1595223" y="3940194"/>
              <a:ext cx="4750279" cy="570397"/>
              <a:chOff x="0" y="0"/>
              <a:chExt cx="4750279" cy="570397"/>
            </a:xfrm>
          </p:grpSpPr>
          <p:sp>
            <p:nvSpPr>
              <p:cNvPr name="Freeform 48" id="48"/>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49" id="49"/>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Write Data by Identifier</a:t>
                </a:r>
              </a:p>
            </p:txBody>
          </p:sp>
        </p:grpSp>
        <p:grpSp>
          <p:nvGrpSpPr>
            <p:cNvPr name="Group 50" id="50"/>
            <p:cNvGrpSpPr/>
            <p:nvPr/>
          </p:nvGrpSpPr>
          <p:grpSpPr>
            <a:xfrm rot="0">
              <a:off x="6429512" y="3899230"/>
              <a:ext cx="4333530" cy="562302"/>
              <a:chOff x="0" y="0"/>
              <a:chExt cx="4333530" cy="562302"/>
            </a:xfrm>
          </p:grpSpPr>
          <p:sp>
            <p:nvSpPr>
              <p:cNvPr name="Freeform 51" id="51"/>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52" id="52"/>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2E F1 90 [data]</a:t>
                </a:r>
              </a:p>
            </p:txBody>
          </p:sp>
        </p:grpSp>
        <p:grpSp>
          <p:nvGrpSpPr>
            <p:cNvPr name="Group 53" id="53"/>
            <p:cNvGrpSpPr/>
            <p:nvPr/>
          </p:nvGrpSpPr>
          <p:grpSpPr>
            <a:xfrm rot="0">
              <a:off x="261626" y="4544371"/>
              <a:ext cx="10418067" cy="666089"/>
              <a:chOff x="0" y="0"/>
              <a:chExt cx="10418067" cy="666089"/>
            </a:xfrm>
          </p:grpSpPr>
          <p:sp>
            <p:nvSpPr>
              <p:cNvPr name="Freeform 54" id="54"/>
              <p:cNvSpPr/>
              <p:nvPr/>
            </p:nvSpPr>
            <p:spPr>
              <a:xfrm flipH="false" flipV="false" rot="0">
                <a:off x="0" y="0"/>
                <a:ext cx="10418032" cy="666114"/>
              </a:xfrm>
              <a:custGeom>
                <a:avLst/>
                <a:gdLst/>
                <a:ahLst/>
                <a:cxnLst/>
                <a:rect r="r" b="b" t="t" l="l"/>
                <a:pathLst>
                  <a:path h="666114" w="10418032">
                    <a:moveTo>
                      <a:pt x="0" y="0"/>
                    </a:moveTo>
                    <a:lnTo>
                      <a:pt x="10418032" y="0"/>
                    </a:lnTo>
                    <a:lnTo>
                      <a:pt x="10418032" y="666114"/>
                    </a:lnTo>
                    <a:lnTo>
                      <a:pt x="0" y="666114"/>
                    </a:lnTo>
                    <a:close/>
                  </a:path>
                </a:pathLst>
              </a:custGeom>
              <a:solidFill>
                <a:srgbClr val="F4F7FA"/>
              </a:solidFill>
            </p:spPr>
          </p:sp>
        </p:grpSp>
        <p:grpSp>
          <p:nvGrpSpPr>
            <p:cNvPr name="Group 55" id="55"/>
            <p:cNvGrpSpPr/>
            <p:nvPr/>
          </p:nvGrpSpPr>
          <p:grpSpPr>
            <a:xfrm rot="0">
              <a:off x="428325" y="4562905"/>
              <a:ext cx="1082239" cy="615032"/>
              <a:chOff x="0" y="0"/>
              <a:chExt cx="1082239" cy="615032"/>
            </a:xfrm>
          </p:grpSpPr>
          <p:sp>
            <p:nvSpPr>
              <p:cNvPr name="Freeform 56" id="56"/>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57" id="57"/>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0x2F</a:t>
                </a:r>
              </a:p>
            </p:txBody>
          </p:sp>
        </p:grpSp>
        <p:grpSp>
          <p:nvGrpSpPr>
            <p:cNvPr name="Group 58" id="58"/>
            <p:cNvGrpSpPr/>
            <p:nvPr/>
          </p:nvGrpSpPr>
          <p:grpSpPr>
            <a:xfrm rot="0">
              <a:off x="1595223" y="4607540"/>
              <a:ext cx="4750279" cy="570397"/>
              <a:chOff x="0" y="0"/>
              <a:chExt cx="4750279" cy="570397"/>
            </a:xfrm>
          </p:grpSpPr>
          <p:sp>
            <p:nvSpPr>
              <p:cNvPr name="Freeform 59" id="59"/>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60" id="60"/>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I/O Control by Identifier</a:t>
                </a:r>
              </a:p>
            </p:txBody>
          </p:sp>
        </p:grpSp>
        <p:grpSp>
          <p:nvGrpSpPr>
            <p:cNvPr name="Group 61" id="61"/>
            <p:cNvGrpSpPr/>
            <p:nvPr/>
          </p:nvGrpSpPr>
          <p:grpSpPr>
            <a:xfrm rot="0">
              <a:off x="6429512" y="4557105"/>
              <a:ext cx="4333530" cy="562302"/>
              <a:chOff x="0" y="0"/>
              <a:chExt cx="4333530" cy="562302"/>
            </a:xfrm>
          </p:grpSpPr>
          <p:sp>
            <p:nvSpPr>
              <p:cNvPr name="Freeform 62" id="62"/>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63" id="63"/>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2F [DID][ctrl option]</a:t>
                </a:r>
              </a:p>
            </p:txBody>
          </p:sp>
        </p:grpSp>
        <p:grpSp>
          <p:nvGrpSpPr>
            <p:cNvPr name="Group 64" id="64"/>
            <p:cNvGrpSpPr/>
            <p:nvPr/>
          </p:nvGrpSpPr>
          <p:grpSpPr>
            <a:xfrm rot="0">
              <a:off x="428325" y="5230240"/>
              <a:ext cx="1082239" cy="615032"/>
              <a:chOff x="0" y="0"/>
              <a:chExt cx="1082239" cy="615032"/>
            </a:xfrm>
          </p:grpSpPr>
          <p:sp>
            <p:nvSpPr>
              <p:cNvPr name="Freeform 65" id="65"/>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66" id="66"/>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0x35</a:t>
                </a:r>
              </a:p>
            </p:txBody>
          </p:sp>
        </p:grpSp>
        <p:grpSp>
          <p:nvGrpSpPr>
            <p:cNvPr name="Group 67" id="67"/>
            <p:cNvGrpSpPr/>
            <p:nvPr/>
          </p:nvGrpSpPr>
          <p:grpSpPr>
            <a:xfrm rot="0">
              <a:off x="1595223" y="5274876"/>
              <a:ext cx="4750279" cy="570397"/>
              <a:chOff x="0" y="0"/>
              <a:chExt cx="4750279" cy="570397"/>
            </a:xfrm>
          </p:grpSpPr>
          <p:sp>
            <p:nvSpPr>
              <p:cNvPr name="Freeform 68" id="68"/>
              <p:cNvSpPr/>
              <p:nvPr/>
            </p:nvSpPr>
            <p:spPr>
              <a:xfrm flipH="false" flipV="false" rot="0">
                <a:off x="0" y="0"/>
                <a:ext cx="4750284" cy="570396"/>
              </a:xfrm>
              <a:custGeom>
                <a:avLst/>
                <a:gdLst/>
                <a:ahLst/>
                <a:cxnLst/>
                <a:rect r="r" b="b" t="t" l="l"/>
                <a:pathLst>
                  <a:path h="570396" w="4750284">
                    <a:moveTo>
                      <a:pt x="0" y="0"/>
                    </a:moveTo>
                    <a:lnTo>
                      <a:pt x="4750284" y="0"/>
                    </a:lnTo>
                    <a:lnTo>
                      <a:pt x="4750284" y="570396"/>
                    </a:lnTo>
                    <a:lnTo>
                      <a:pt x="0" y="570396"/>
                    </a:lnTo>
                    <a:close/>
                  </a:path>
                </a:pathLst>
              </a:custGeom>
              <a:blipFill>
                <a:blip r:embed="rId3">
                  <a:alphaModFix amt="0"/>
                </a:blip>
                <a:stretch>
                  <a:fillRect l="0" t="-120462" r="-9706" b="-135582"/>
                </a:stretch>
              </a:blipFill>
            </p:spPr>
          </p:sp>
          <p:sp>
            <p:nvSpPr>
              <p:cNvPr name="TextBox 69" id="69"/>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Request Firmware Download from ECU</a:t>
                </a:r>
              </a:p>
            </p:txBody>
          </p:sp>
        </p:grpSp>
        <p:grpSp>
          <p:nvGrpSpPr>
            <p:cNvPr name="Group 70" id="70"/>
            <p:cNvGrpSpPr/>
            <p:nvPr/>
          </p:nvGrpSpPr>
          <p:grpSpPr>
            <a:xfrm rot="0">
              <a:off x="6429512" y="5214969"/>
              <a:ext cx="4333530" cy="562301"/>
              <a:chOff x="0" y="0"/>
              <a:chExt cx="4333530" cy="562301"/>
            </a:xfrm>
          </p:grpSpPr>
          <p:sp>
            <p:nvSpPr>
              <p:cNvPr name="Freeform 71" id="71"/>
              <p:cNvSpPr/>
              <p:nvPr/>
            </p:nvSpPr>
            <p:spPr>
              <a:xfrm flipH="false" flipV="false" rot="0">
                <a:off x="0" y="0"/>
                <a:ext cx="4333534" cy="562300"/>
              </a:xfrm>
              <a:custGeom>
                <a:avLst/>
                <a:gdLst/>
                <a:ahLst/>
                <a:cxnLst/>
                <a:rect r="r" b="b" t="t" l="l"/>
                <a:pathLst>
                  <a:path h="562300" w="4333534">
                    <a:moveTo>
                      <a:pt x="0" y="0"/>
                    </a:moveTo>
                    <a:lnTo>
                      <a:pt x="4333534" y="0"/>
                    </a:lnTo>
                    <a:lnTo>
                      <a:pt x="4333534" y="562300"/>
                    </a:lnTo>
                    <a:lnTo>
                      <a:pt x="0" y="562300"/>
                    </a:lnTo>
                    <a:close/>
                  </a:path>
                </a:pathLst>
              </a:custGeom>
              <a:blipFill>
                <a:blip r:embed="rId3">
                  <a:alphaModFix amt="0"/>
                </a:blip>
                <a:stretch>
                  <a:fillRect l="0" t="-106354" r="-9706" b="-123131"/>
                </a:stretch>
              </a:blipFill>
            </p:spPr>
          </p:sp>
          <p:sp>
            <p:nvSpPr>
              <p:cNvPr name="TextBox 72" id="72"/>
              <p:cNvSpPr txBox="true"/>
              <p:nvPr/>
            </p:nvSpPr>
            <p:spPr>
              <a:xfrm>
                <a:off x="0" y="-38100"/>
                <a:ext cx="4333530" cy="600401"/>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35 [DFI][ALFI]</a:t>
                </a:r>
              </a:p>
            </p:txBody>
          </p:sp>
        </p:grpSp>
        <p:grpSp>
          <p:nvGrpSpPr>
            <p:cNvPr name="Group 73" id="73"/>
            <p:cNvGrpSpPr/>
            <p:nvPr/>
          </p:nvGrpSpPr>
          <p:grpSpPr>
            <a:xfrm rot="0">
              <a:off x="261626" y="5878424"/>
              <a:ext cx="10418067" cy="666089"/>
              <a:chOff x="0" y="0"/>
              <a:chExt cx="10418067" cy="666089"/>
            </a:xfrm>
          </p:grpSpPr>
          <p:sp>
            <p:nvSpPr>
              <p:cNvPr name="Freeform 74" id="74"/>
              <p:cNvSpPr/>
              <p:nvPr/>
            </p:nvSpPr>
            <p:spPr>
              <a:xfrm flipH="false" flipV="false" rot="0">
                <a:off x="0" y="0"/>
                <a:ext cx="10418032" cy="666114"/>
              </a:xfrm>
              <a:custGeom>
                <a:avLst/>
                <a:gdLst/>
                <a:ahLst/>
                <a:cxnLst/>
                <a:rect r="r" b="b" t="t" l="l"/>
                <a:pathLst>
                  <a:path h="666114" w="10418032">
                    <a:moveTo>
                      <a:pt x="0" y="0"/>
                    </a:moveTo>
                    <a:lnTo>
                      <a:pt x="10418032" y="0"/>
                    </a:lnTo>
                    <a:lnTo>
                      <a:pt x="10418032" y="666114"/>
                    </a:lnTo>
                    <a:lnTo>
                      <a:pt x="0" y="666114"/>
                    </a:lnTo>
                    <a:close/>
                  </a:path>
                </a:pathLst>
              </a:custGeom>
              <a:solidFill>
                <a:srgbClr val="F4F7FA"/>
              </a:solidFill>
            </p:spPr>
          </p:sp>
        </p:grpSp>
        <p:grpSp>
          <p:nvGrpSpPr>
            <p:cNvPr name="Group 75" id="75"/>
            <p:cNvGrpSpPr/>
            <p:nvPr/>
          </p:nvGrpSpPr>
          <p:grpSpPr>
            <a:xfrm rot="0">
              <a:off x="428325" y="5897576"/>
              <a:ext cx="1082239" cy="615032"/>
              <a:chOff x="0" y="0"/>
              <a:chExt cx="1082239" cy="615032"/>
            </a:xfrm>
          </p:grpSpPr>
          <p:sp>
            <p:nvSpPr>
              <p:cNvPr name="Freeform 76" id="76"/>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77" id="77"/>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0x19</a:t>
                </a:r>
              </a:p>
            </p:txBody>
          </p:sp>
        </p:grpSp>
        <p:grpSp>
          <p:nvGrpSpPr>
            <p:cNvPr name="Group 78" id="78"/>
            <p:cNvGrpSpPr/>
            <p:nvPr/>
          </p:nvGrpSpPr>
          <p:grpSpPr>
            <a:xfrm rot="0">
              <a:off x="1595223" y="5942211"/>
              <a:ext cx="4750279" cy="570397"/>
              <a:chOff x="0" y="0"/>
              <a:chExt cx="4750279" cy="570397"/>
            </a:xfrm>
          </p:grpSpPr>
          <p:sp>
            <p:nvSpPr>
              <p:cNvPr name="Freeform 79" id="79"/>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80" id="80"/>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Read DTC Information</a:t>
                </a:r>
              </a:p>
            </p:txBody>
          </p:sp>
        </p:grpSp>
        <p:grpSp>
          <p:nvGrpSpPr>
            <p:cNvPr name="Group 81" id="81"/>
            <p:cNvGrpSpPr/>
            <p:nvPr/>
          </p:nvGrpSpPr>
          <p:grpSpPr>
            <a:xfrm rot="0">
              <a:off x="6429512" y="5872832"/>
              <a:ext cx="4333530" cy="562302"/>
              <a:chOff x="0" y="0"/>
              <a:chExt cx="4333530" cy="562302"/>
            </a:xfrm>
          </p:grpSpPr>
          <p:sp>
            <p:nvSpPr>
              <p:cNvPr name="Freeform 82" id="82"/>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83" id="83"/>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active fault memory scan</a:t>
                </a:r>
              </a:p>
            </p:txBody>
          </p:sp>
        </p:grpSp>
        <p:grpSp>
          <p:nvGrpSpPr>
            <p:cNvPr name="Group 84" id="84"/>
            <p:cNvGrpSpPr/>
            <p:nvPr/>
          </p:nvGrpSpPr>
          <p:grpSpPr>
            <a:xfrm rot="0">
              <a:off x="428325" y="6564922"/>
              <a:ext cx="1082239" cy="615032"/>
              <a:chOff x="0" y="0"/>
              <a:chExt cx="1082239" cy="615032"/>
            </a:xfrm>
          </p:grpSpPr>
          <p:sp>
            <p:nvSpPr>
              <p:cNvPr name="Freeform 85" id="85"/>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86" id="86"/>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0x14</a:t>
                </a:r>
              </a:p>
            </p:txBody>
          </p:sp>
        </p:grpSp>
        <p:grpSp>
          <p:nvGrpSpPr>
            <p:cNvPr name="Group 87" id="87"/>
            <p:cNvGrpSpPr/>
            <p:nvPr/>
          </p:nvGrpSpPr>
          <p:grpSpPr>
            <a:xfrm rot="0">
              <a:off x="1595223" y="6609557"/>
              <a:ext cx="4750279" cy="570397"/>
              <a:chOff x="0" y="0"/>
              <a:chExt cx="4750279" cy="570397"/>
            </a:xfrm>
          </p:grpSpPr>
          <p:sp>
            <p:nvSpPr>
              <p:cNvPr name="Freeform 88" id="88"/>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89" id="89"/>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Clear Diagnostic Information</a:t>
                </a:r>
              </a:p>
            </p:txBody>
          </p:sp>
        </p:grpSp>
        <p:grpSp>
          <p:nvGrpSpPr>
            <p:cNvPr name="Group 90" id="90"/>
            <p:cNvGrpSpPr/>
            <p:nvPr/>
          </p:nvGrpSpPr>
          <p:grpSpPr>
            <a:xfrm rot="0">
              <a:off x="6429512" y="6530707"/>
              <a:ext cx="4333530" cy="562302"/>
              <a:chOff x="0" y="0"/>
              <a:chExt cx="4333530" cy="562302"/>
            </a:xfrm>
          </p:grpSpPr>
          <p:sp>
            <p:nvSpPr>
              <p:cNvPr name="Freeform 91" id="91"/>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92" id="92"/>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purge DTC memory</a:t>
                </a:r>
              </a:p>
            </p:txBody>
          </p:sp>
        </p:grpSp>
        <p:grpSp>
          <p:nvGrpSpPr>
            <p:cNvPr name="Group 93" id="93"/>
            <p:cNvGrpSpPr/>
            <p:nvPr/>
          </p:nvGrpSpPr>
          <p:grpSpPr>
            <a:xfrm rot="0">
              <a:off x="261626" y="7213095"/>
              <a:ext cx="10418067" cy="666089"/>
              <a:chOff x="0" y="0"/>
              <a:chExt cx="10418067" cy="666089"/>
            </a:xfrm>
          </p:grpSpPr>
          <p:sp>
            <p:nvSpPr>
              <p:cNvPr name="Freeform 94" id="94"/>
              <p:cNvSpPr/>
              <p:nvPr/>
            </p:nvSpPr>
            <p:spPr>
              <a:xfrm flipH="false" flipV="false" rot="0">
                <a:off x="0" y="0"/>
                <a:ext cx="10418032" cy="666114"/>
              </a:xfrm>
              <a:custGeom>
                <a:avLst/>
                <a:gdLst/>
                <a:ahLst/>
                <a:cxnLst/>
                <a:rect r="r" b="b" t="t" l="l"/>
                <a:pathLst>
                  <a:path h="666114" w="10418032">
                    <a:moveTo>
                      <a:pt x="0" y="0"/>
                    </a:moveTo>
                    <a:lnTo>
                      <a:pt x="10418032" y="0"/>
                    </a:lnTo>
                    <a:lnTo>
                      <a:pt x="10418032" y="666114"/>
                    </a:lnTo>
                    <a:lnTo>
                      <a:pt x="0" y="666114"/>
                    </a:lnTo>
                    <a:close/>
                  </a:path>
                </a:pathLst>
              </a:custGeom>
              <a:solidFill>
                <a:srgbClr val="F4F7FA"/>
              </a:solidFill>
            </p:spPr>
          </p:sp>
        </p:grpSp>
        <p:grpSp>
          <p:nvGrpSpPr>
            <p:cNvPr name="Group 95" id="95"/>
            <p:cNvGrpSpPr/>
            <p:nvPr/>
          </p:nvGrpSpPr>
          <p:grpSpPr>
            <a:xfrm rot="0">
              <a:off x="428325" y="7231629"/>
              <a:ext cx="1082239" cy="615032"/>
              <a:chOff x="0" y="0"/>
              <a:chExt cx="1082239" cy="615032"/>
            </a:xfrm>
          </p:grpSpPr>
          <p:sp>
            <p:nvSpPr>
              <p:cNvPr name="Freeform 96" id="96"/>
              <p:cNvSpPr/>
              <p:nvPr/>
            </p:nvSpPr>
            <p:spPr>
              <a:xfrm flipH="false" flipV="false" rot="0">
                <a:off x="0" y="0"/>
                <a:ext cx="1082235" cy="615031"/>
              </a:xfrm>
              <a:custGeom>
                <a:avLst/>
                <a:gdLst/>
                <a:ahLst/>
                <a:cxnLst/>
                <a:rect r="r" b="b" t="t" l="l"/>
                <a:pathLst>
                  <a:path h="615031" w="1082235">
                    <a:moveTo>
                      <a:pt x="0" y="0"/>
                    </a:moveTo>
                    <a:lnTo>
                      <a:pt x="1082235" y="0"/>
                    </a:lnTo>
                    <a:lnTo>
                      <a:pt x="1082235" y="615031"/>
                    </a:lnTo>
                    <a:lnTo>
                      <a:pt x="0" y="615031"/>
                    </a:lnTo>
                    <a:close/>
                  </a:path>
                </a:pathLst>
              </a:custGeom>
              <a:blipFill>
                <a:blip r:embed="rId3">
                  <a:alphaModFix amt="0"/>
                </a:blip>
                <a:stretch>
                  <a:fillRect l="-22994" t="0" r="-32700" b="-6765"/>
                </a:stretch>
              </a:blipFill>
            </p:spPr>
          </p:sp>
          <p:sp>
            <p:nvSpPr>
              <p:cNvPr name="TextBox 97" id="97"/>
              <p:cNvSpPr txBox="true"/>
              <p:nvPr/>
            </p:nvSpPr>
            <p:spPr>
              <a:xfrm>
                <a:off x="0" y="0"/>
                <a:ext cx="1082239" cy="615032"/>
              </a:xfrm>
              <a:prstGeom prst="rect">
                <a:avLst/>
              </a:prstGeom>
            </p:spPr>
            <p:txBody>
              <a:bodyPr anchor="ctr" rtlCol="false" tIns="0" lIns="0" bIns="0" rIns="0"/>
              <a:lstStyle/>
              <a:p>
                <a:pPr algn="l">
                  <a:lnSpc>
                    <a:spcPts val="2070"/>
                  </a:lnSpc>
                </a:pPr>
                <a:r>
                  <a:rPr lang="en-US" sz="1725" b="true">
                    <a:solidFill>
                      <a:srgbClr val="E2691A"/>
                    </a:solidFill>
                    <a:latin typeface="Courier New Bold"/>
                    <a:ea typeface="Courier New Bold"/>
                    <a:cs typeface="Courier New Bold"/>
                    <a:sym typeface="Courier New Bold"/>
                  </a:rPr>
                  <a:t>0x3E</a:t>
                </a:r>
              </a:p>
            </p:txBody>
          </p:sp>
        </p:grpSp>
        <p:grpSp>
          <p:nvGrpSpPr>
            <p:cNvPr name="Group 98" id="98"/>
            <p:cNvGrpSpPr/>
            <p:nvPr/>
          </p:nvGrpSpPr>
          <p:grpSpPr>
            <a:xfrm rot="0">
              <a:off x="1595223" y="7276264"/>
              <a:ext cx="4750279" cy="570397"/>
              <a:chOff x="0" y="0"/>
              <a:chExt cx="4750279" cy="570397"/>
            </a:xfrm>
          </p:grpSpPr>
          <p:sp>
            <p:nvSpPr>
              <p:cNvPr name="Freeform 99" id="99"/>
              <p:cNvSpPr/>
              <p:nvPr/>
            </p:nvSpPr>
            <p:spPr>
              <a:xfrm flipH="false" flipV="false" rot="0">
                <a:off x="0" y="0"/>
                <a:ext cx="4750284" cy="570397"/>
              </a:xfrm>
              <a:custGeom>
                <a:avLst/>
                <a:gdLst/>
                <a:ahLst/>
                <a:cxnLst/>
                <a:rect r="r" b="b" t="t" l="l"/>
                <a:pathLst>
                  <a:path h="570397" w="4750284">
                    <a:moveTo>
                      <a:pt x="0" y="0"/>
                    </a:moveTo>
                    <a:lnTo>
                      <a:pt x="4750284" y="0"/>
                    </a:lnTo>
                    <a:lnTo>
                      <a:pt x="4750284" y="570397"/>
                    </a:lnTo>
                    <a:lnTo>
                      <a:pt x="0" y="570397"/>
                    </a:lnTo>
                    <a:close/>
                  </a:path>
                </a:pathLst>
              </a:custGeom>
              <a:blipFill>
                <a:blip r:embed="rId3">
                  <a:alphaModFix amt="0"/>
                </a:blip>
                <a:stretch>
                  <a:fillRect l="0" t="-120462" r="-9706" b="-135582"/>
                </a:stretch>
              </a:blipFill>
            </p:spPr>
          </p:sp>
          <p:sp>
            <p:nvSpPr>
              <p:cNvPr name="TextBox 100" id="100"/>
              <p:cNvSpPr txBox="true"/>
              <p:nvPr/>
            </p:nvSpPr>
            <p:spPr>
              <a:xfrm>
                <a:off x="0" y="-19050"/>
                <a:ext cx="4750279" cy="589447"/>
              </a:xfrm>
              <a:prstGeom prst="rect">
                <a:avLst/>
              </a:prstGeom>
            </p:spPr>
            <p:txBody>
              <a:bodyPr anchor="ctr" rtlCol="false" tIns="0" lIns="0" bIns="0" rIns="0"/>
              <a:lstStyle/>
              <a:p>
                <a:pPr algn="l">
                  <a:lnSpc>
                    <a:spcPts val="1889"/>
                  </a:lnSpc>
                </a:pPr>
                <a:r>
                  <a:rPr lang="en-US" sz="1575" b="true">
                    <a:solidFill>
                      <a:srgbClr val="0B1F33"/>
                    </a:solidFill>
                    <a:latin typeface="Calibri (MS) Bold"/>
                    <a:ea typeface="Calibri (MS) Bold"/>
                    <a:cs typeface="Calibri (MS) Bold"/>
                    <a:sym typeface="Calibri (MS) Bold"/>
                  </a:rPr>
                  <a:t>Tester Present</a:t>
                </a:r>
              </a:p>
            </p:txBody>
          </p:sp>
        </p:grpSp>
        <p:grpSp>
          <p:nvGrpSpPr>
            <p:cNvPr name="Group 101" id="101"/>
            <p:cNvGrpSpPr/>
            <p:nvPr/>
          </p:nvGrpSpPr>
          <p:grpSpPr>
            <a:xfrm rot="0">
              <a:off x="6429512" y="7187951"/>
              <a:ext cx="4333530" cy="562302"/>
              <a:chOff x="0" y="0"/>
              <a:chExt cx="4333530" cy="562302"/>
            </a:xfrm>
          </p:grpSpPr>
          <p:sp>
            <p:nvSpPr>
              <p:cNvPr name="Freeform 102" id="102"/>
              <p:cNvSpPr/>
              <p:nvPr/>
            </p:nvSpPr>
            <p:spPr>
              <a:xfrm flipH="false" flipV="false" rot="0">
                <a:off x="0" y="0"/>
                <a:ext cx="4333534" cy="562301"/>
              </a:xfrm>
              <a:custGeom>
                <a:avLst/>
                <a:gdLst/>
                <a:ahLst/>
                <a:cxnLst/>
                <a:rect r="r" b="b" t="t" l="l"/>
                <a:pathLst>
                  <a:path h="562301" w="4333534">
                    <a:moveTo>
                      <a:pt x="0" y="0"/>
                    </a:moveTo>
                    <a:lnTo>
                      <a:pt x="4333534" y="0"/>
                    </a:lnTo>
                    <a:lnTo>
                      <a:pt x="4333534" y="562301"/>
                    </a:lnTo>
                    <a:lnTo>
                      <a:pt x="0" y="562301"/>
                    </a:lnTo>
                    <a:close/>
                  </a:path>
                </a:pathLst>
              </a:custGeom>
              <a:blipFill>
                <a:blip r:embed="rId3">
                  <a:alphaModFix amt="0"/>
                </a:blip>
                <a:stretch>
                  <a:fillRect l="0" t="-106353" r="-9706" b="-123131"/>
                </a:stretch>
              </a:blipFill>
            </p:spPr>
          </p:sp>
          <p:sp>
            <p:nvSpPr>
              <p:cNvPr name="TextBox 103" id="103"/>
              <p:cNvSpPr txBox="true"/>
              <p:nvPr/>
            </p:nvSpPr>
            <p:spPr>
              <a:xfrm>
                <a:off x="0" y="-38100"/>
                <a:ext cx="4333530" cy="600402"/>
              </a:xfrm>
              <a:prstGeom prst="rect">
                <a:avLst/>
              </a:prstGeom>
            </p:spPr>
            <p:txBody>
              <a:bodyPr anchor="ctr" rtlCol="false" tIns="0" lIns="0" bIns="0" rIns="0"/>
              <a:lstStyle/>
              <a:p>
                <a:pPr algn="l">
                  <a:lnSpc>
                    <a:spcPts val="1709"/>
                  </a:lnSpc>
                </a:pPr>
                <a:r>
                  <a:rPr lang="en-US" sz="1425">
                    <a:solidFill>
                      <a:srgbClr val="5B7A99"/>
                    </a:solidFill>
                    <a:latin typeface="Calibri (MS)"/>
                    <a:ea typeface="Calibri (MS)"/>
                    <a:cs typeface="Calibri (MS)"/>
                    <a:sym typeface="Calibri (MS)"/>
                  </a:rPr>
                  <a:t>keep-alive every 2–3s</a:t>
                </a:r>
              </a:p>
            </p:txBody>
          </p:sp>
        </p:grpSp>
      </p:grpSp>
      <p:graphicFrame>
        <p:nvGraphicFramePr>
          <p:cNvPr name="Table 10" id="10"/>
          <p:cNvGraphicFramePr>
            <a:graphicFrameLocks noGrp="true"/>
          </p:cNvGraphicFramePr>
          <p:nvPr/>
        </p:nvGraphicFramePr>
        <p:xfrm>
          <a:off x="0" y="0"/>
          <a:ext cx="8072282" cy="3135286"/>
        </p:xfrm>
        <a:graphic>
          <a:graphicData uri="http://schemas.openxmlformats.org/drawingml/2006/table">
            <a:tbl>
              <a:tblPr/>
              <a:tblGrid>
                <a:gridCol w="8072282"/>
              </a:tblGrid>
              <a:tr h="705922">
                <a:tc>
                  <a:txBody>
                    <a:bodyPr anchor="t" rtlCol="false"/>
                    <a:lstStyle/>
                    <a:p>
                      <a:pPr algn="ctr">
                        <a:lnSpc>
                          <a:spcPts val="2700"/>
                        </a:lnSpc>
                        <a:defRPr/>
                      </a:pPr>
                      <a:r>
                        <a:rPr lang="en-US" sz="2250">
                          <a:solidFill>
                            <a:srgbClr val="000000"/>
                          </a:solidFill>
                          <a:latin typeface="Work Sans"/>
                          <a:ea typeface="Work Sans"/>
                          <a:cs typeface="Work Sans"/>
                          <a:sym typeface="Work Sans"/>
                        </a:rPr>
                        <a:t>KEY SERVICE IDE</a:t>
                      </a:r>
                      <a:r>
                        <a:rPr lang="en-US" sz="2250">
                          <a:solidFill>
                            <a:srgbClr val="000000"/>
                          </a:solidFill>
                          <a:latin typeface="Work Sans"/>
                          <a:ea typeface="Work Sans"/>
                          <a:cs typeface="Work Sans"/>
                          <a:sym typeface="Work Sans"/>
                        </a:rPr>
                        <a:t>NTIFIERS (SID)</a:t>
                      </a:r>
                      <a:endParaRPr lang="en-US" sz="1100"/>
                    </a:p>
                  </a:txBody>
                  <a:tcPr marL="113580" marR="113580" marT="113580" marB="113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0FF45"/>
                    </a:solidFill>
                  </a:tcPr>
                </a:tc>
              </a:tr>
              <a:tr h="2429364">
                <a:tc>
                  <a:txBody>
                    <a:bodyPr anchor="t" rtlCol="false"/>
                    <a:lstStyle/>
                    <a:p>
                      <a:pPr algn="l" marL="388620" indent="-194310" lvl="1">
                        <a:lnSpc>
                          <a:spcPts val="2160"/>
                        </a:lnSpc>
                        <a:buFont typeface="Arial"/>
                        <a:buChar char="•"/>
                        <a:defRPr/>
                      </a:pPr>
                      <a:endParaRPr lang="en-US" sz="1100"/>
                    </a:p>
                  </a:txBody>
                  <a:tcPr marL="113580" marR="113580" marT="113580" marB="11358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pSp>
        <p:nvGrpSpPr>
          <p:cNvPr name="Group 104" id="104"/>
          <p:cNvGrpSpPr/>
          <p:nvPr/>
        </p:nvGrpSpPr>
        <p:grpSpPr>
          <a:xfrm rot="0">
            <a:off x="14549864" y="38108"/>
            <a:ext cx="3531112" cy="688007"/>
            <a:chOff x="0" y="0"/>
            <a:chExt cx="4708150" cy="917342"/>
          </a:xfrm>
        </p:grpSpPr>
        <p:sp>
          <p:nvSpPr>
            <p:cNvPr name="Freeform 105" id="105"/>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06" id="106"/>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5/8</a:t>
              </a:r>
            </a:p>
          </p:txBody>
        </p:sp>
      </p:grpSp>
      <p:grpSp>
        <p:nvGrpSpPr>
          <p:cNvPr name="Group 107" id="107"/>
          <p:cNvGrpSpPr/>
          <p:nvPr/>
        </p:nvGrpSpPr>
        <p:grpSpPr>
          <a:xfrm rot="0">
            <a:off x="15325725" y="9491367"/>
            <a:ext cx="1299210" cy="357077"/>
            <a:chOff x="0" y="0"/>
            <a:chExt cx="1732280" cy="476102"/>
          </a:xfrm>
        </p:grpSpPr>
        <p:sp>
          <p:nvSpPr>
            <p:cNvPr name="Freeform 108" id="108"/>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109" id="109"/>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110" id="110"/>
          <p:cNvGrpSpPr/>
          <p:nvPr/>
        </p:nvGrpSpPr>
        <p:grpSpPr>
          <a:xfrm rot="0">
            <a:off x="926309" y="9491358"/>
            <a:ext cx="2807304" cy="493053"/>
            <a:chOff x="0" y="0"/>
            <a:chExt cx="3743072" cy="657404"/>
          </a:xfrm>
        </p:grpSpPr>
        <p:sp>
          <p:nvSpPr>
            <p:cNvPr name="Freeform 111" id="111"/>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2" id="112"/>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113" id="113"/>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6813484" y="0"/>
            <a:ext cx="11474516" cy="10328300"/>
            <a:chOff x="0" y="0"/>
            <a:chExt cx="15299354" cy="13771067"/>
          </a:xfrm>
        </p:grpSpPr>
        <p:grpSp>
          <p:nvGrpSpPr>
            <p:cNvPr name="Group 4" id="4"/>
            <p:cNvGrpSpPr/>
            <p:nvPr/>
          </p:nvGrpSpPr>
          <p:grpSpPr>
            <a:xfrm rot="0">
              <a:off x="0" y="0"/>
              <a:ext cx="15299354" cy="13771067"/>
              <a:chOff x="0" y="0"/>
              <a:chExt cx="15299354" cy="13771067"/>
            </a:xfrm>
          </p:grpSpPr>
          <p:sp>
            <p:nvSpPr>
              <p:cNvPr name="Freeform 5" id="5"/>
              <p:cNvSpPr/>
              <p:nvPr/>
            </p:nvSpPr>
            <p:spPr>
              <a:xfrm flipH="false" flipV="false" rot="0">
                <a:off x="0" y="0"/>
                <a:ext cx="15299392" cy="13771068"/>
              </a:xfrm>
              <a:custGeom>
                <a:avLst/>
                <a:gdLst/>
                <a:ahLst/>
                <a:cxnLst/>
                <a:rect r="r" b="b" t="t" l="l"/>
                <a:pathLst>
                  <a:path h="13771068" w="15299392">
                    <a:moveTo>
                      <a:pt x="0" y="0"/>
                    </a:moveTo>
                    <a:lnTo>
                      <a:pt x="15299392" y="0"/>
                    </a:lnTo>
                    <a:lnTo>
                      <a:pt x="15299392" y="13771068"/>
                    </a:lnTo>
                    <a:lnTo>
                      <a:pt x="0" y="13771068"/>
                    </a:lnTo>
                    <a:close/>
                  </a:path>
                </a:pathLst>
              </a:custGeom>
              <a:solidFill>
                <a:srgbClr val="4D5154"/>
              </a:solidFill>
            </p:spPr>
          </p:sp>
        </p:grpSp>
        <p:sp>
          <p:nvSpPr>
            <p:cNvPr name="TextBox 6" id="6"/>
            <p:cNvSpPr txBox="true"/>
            <p:nvPr/>
          </p:nvSpPr>
          <p:spPr>
            <a:xfrm rot="0">
              <a:off x="159679" y="32385"/>
              <a:ext cx="14979996"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7" id="7"/>
          <p:cNvSpPr txBox="true"/>
          <p:nvPr/>
        </p:nvSpPr>
        <p:spPr>
          <a:xfrm rot="0">
            <a:off x="851537" y="2143558"/>
            <a:ext cx="5880034" cy="752475"/>
          </a:xfrm>
          <a:prstGeom prst="rect">
            <a:avLst/>
          </a:prstGeom>
        </p:spPr>
        <p:txBody>
          <a:bodyPr anchor="t" rtlCol="false" tIns="0" lIns="0" bIns="0" rIns="0">
            <a:spAutoFit/>
          </a:bodyPr>
          <a:lstStyle/>
          <a:p>
            <a:pPr algn="l">
              <a:lnSpc>
                <a:spcPts val="5879"/>
              </a:lnSpc>
            </a:pPr>
            <a:r>
              <a:rPr lang="en-US" b="true" sz="4899" spc="-34">
                <a:solidFill>
                  <a:srgbClr val="E6E7E8"/>
                </a:solidFill>
                <a:latin typeface="Work Sans Medium"/>
                <a:ea typeface="Work Sans Medium"/>
                <a:cs typeface="Work Sans Medium"/>
                <a:sym typeface="Work Sans Medium"/>
              </a:rPr>
              <a:t>Encoder Test</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26</a:t>
              </a:r>
            </a:p>
          </p:txBody>
        </p:sp>
      </p:grpSp>
      <p:sp>
        <p:nvSpPr>
          <p:cNvPr name="TextBox 11" id="11"/>
          <p:cNvSpPr txBox="true"/>
          <p:nvPr/>
        </p:nvSpPr>
        <p:spPr>
          <a:xfrm rot="0">
            <a:off x="897626" y="859465"/>
            <a:ext cx="5216674" cy="32894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SubSystem</a:t>
            </a:r>
            <a:r>
              <a:rPr lang="en-US" sz="2095" b="true">
                <a:solidFill>
                  <a:srgbClr val="FFFFFF"/>
                </a:solidFill>
                <a:latin typeface="Work Sans Medium"/>
                <a:ea typeface="Work Sans Medium"/>
                <a:cs typeface="Work Sans Medium"/>
                <a:sym typeface="Work Sans Medium"/>
              </a:rPr>
              <a:t> Integration Test</a:t>
            </a:r>
          </a:p>
        </p:txBody>
      </p:sp>
      <p:sp>
        <p:nvSpPr>
          <p:cNvPr name="TextBox 12" id="12"/>
          <p:cNvSpPr txBox="true"/>
          <p:nvPr/>
        </p:nvSpPr>
        <p:spPr>
          <a:xfrm rot="0">
            <a:off x="897626" y="4521741"/>
            <a:ext cx="4740087" cy="3175711"/>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Encoder Test verifies the conversion of physical vehicle signals into CAN frames using DBC definitions. It ensures that signal scaling, encoding, CAN identifiers, and payload generation are accurate before transmission onto the CAN bus.</a:t>
            </a:r>
          </a:p>
          <a:p>
            <a:pPr algn="l">
              <a:lnSpc>
                <a:spcPts val="2804"/>
              </a:lnSpc>
            </a:pPr>
          </a:p>
        </p:txBody>
      </p:sp>
      <p:grpSp>
        <p:nvGrpSpPr>
          <p:cNvPr name="Group 13" id="13"/>
          <p:cNvGrpSpPr/>
          <p:nvPr/>
        </p:nvGrpSpPr>
        <p:grpSpPr>
          <a:xfrm rot="0">
            <a:off x="6114301" y="868990"/>
            <a:ext cx="12686492" cy="8245802"/>
            <a:chOff x="0" y="0"/>
            <a:chExt cx="16915322" cy="10994403"/>
          </a:xfrm>
        </p:grpSpPr>
        <p:sp>
          <p:nvSpPr>
            <p:cNvPr name="Freeform 14" id="14"/>
            <p:cNvSpPr/>
            <p:nvPr/>
          </p:nvSpPr>
          <p:spPr>
            <a:xfrm flipH="false" flipV="false" rot="0">
              <a:off x="0" y="0"/>
              <a:ext cx="16915374" cy="10994390"/>
            </a:xfrm>
            <a:custGeom>
              <a:avLst/>
              <a:gdLst/>
              <a:ahLst/>
              <a:cxnLst/>
              <a:rect r="r" b="b" t="t" l="l"/>
              <a:pathLst>
                <a:path h="10994390" w="16915374">
                  <a:moveTo>
                    <a:pt x="0" y="0"/>
                  </a:moveTo>
                  <a:lnTo>
                    <a:pt x="16915374" y="0"/>
                  </a:lnTo>
                  <a:lnTo>
                    <a:pt x="16915374" y="10994390"/>
                  </a:lnTo>
                  <a:lnTo>
                    <a:pt x="0" y="10994390"/>
                  </a:lnTo>
                  <a:lnTo>
                    <a:pt x="0" y="0"/>
                  </a:lnTo>
                  <a:close/>
                </a:path>
              </a:pathLst>
            </a:custGeom>
            <a:blipFill>
              <a:blip r:embed="rId3"/>
              <a:stretch>
                <a:fillRect l="-32332" t="0" r="-34453" b="0"/>
              </a:stretch>
            </a:blipFill>
          </p:spPr>
        </p:sp>
      </p:grpSp>
      <p:grpSp>
        <p:nvGrpSpPr>
          <p:cNvPr name="Group 15" id="15"/>
          <p:cNvGrpSpPr/>
          <p:nvPr/>
        </p:nvGrpSpPr>
        <p:grpSpPr>
          <a:xfrm rot="0">
            <a:off x="14549864" y="38108"/>
            <a:ext cx="3531112" cy="688007"/>
            <a:chOff x="0" y="0"/>
            <a:chExt cx="4708150" cy="917342"/>
          </a:xfrm>
        </p:grpSpPr>
        <p:sp>
          <p:nvSpPr>
            <p:cNvPr name="Freeform 16" id="16"/>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7" id="17"/>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6/8</a:t>
              </a:r>
            </a:p>
          </p:txBody>
        </p:sp>
      </p:grpSp>
      <p:grpSp>
        <p:nvGrpSpPr>
          <p:cNvPr name="Group 18" id="18"/>
          <p:cNvGrpSpPr/>
          <p:nvPr/>
        </p:nvGrpSpPr>
        <p:grpSpPr>
          <a:xfrm rot="0">
            <a:off x="6114301" y="868990"/>
            <a:ext cx="12173699" cy="8195129"/>
            <a:chOff x="0" y="0"/>
            <a:chExt cx="15494502" cy="10430637"/>
          </a:xfrm>
        </p:grpSpPr>
        <p:sp>
          <p:nvSpPr>
            <p:cNvPr name="Freeform 19" id="19"/>
            <p:cNvSpPr/>
            <p:nvPr/>
          </p:nvSpPr>
          <p:spPr>
            <a:xfrm flipH="false" flipV="false" rot="0">
              <a:off x="0" y="0"/>
              <a:ext cx="15494540" cy="10430637"/>
            </a:xfrm>
            <a:custGeom>
              <a:avLst/>
              <a:gdLst/>
              <a:ahLst/>
              <a:cxnLst/>
              <a:rect r="r" b="b" t="t" l="l"/>
              <a:pathLst>
                <a:path h="10430637" w="15494540">
                  <a:moveTo>
                    <a:pt x="0" y="0"/>
                  </a:moveTo>
                  <a:lnTo>
                    <a:pt x="15494540" y="0"/>
                  </a:lnTo>
                  <a:lnTo>
                    <a:pt x="15494540" y="10430637"/>
                  </a:lnTo>
                  <a:lnTo>
                    <a:pt x="0" y="10430637"/>
                  </a:lnTo>
                  <a:lnTo>
                    <a:pt x="0" y="0"/>
                  </a:lnTo>
                  <a:close/>
                </a:path>
              </a:pathLst>
            </a:custGeom>
            <a:blipFill>
              <a:blip r:embed="rId3"/>
              <a:stretch>
                <a:fillRect l="-35266" t="0" r="-37477" b="0"/>
              </a:stretch>
            </a:blipFill>
          </p:spPr>
        </p:sp>
      </p:grpSp>
      <p:grpSp>
        <p:nvGrpSpPr>
          <p:cNvPr name="Group 20" id="20"/>
          <p:cNvGrpSpPr/>
          <p:nvPr/>
        </p:nvGrpSpPr>
        <p:grpSpPr>
          <a:xfrm rot="0">
            <a:off x="5841435" y="818317"/>
            <a:ext cx="12719431" cy="8439983"/>
            <a:chOff x="0" y="0"/>
            <a:chExt cx="14556956" cy="9659274"/>
          </a:xfrm>
        </p:grpSpPr>
        <p:sp>
          <p:nvSpPr>
            <p:cNvPr name="Freeform 21" id="21"/>
            <p:cNvSpPr/>
            <p:nvPr/>
          </p:nvSpPr>
          <p:spPr>
            <a:xfrm flipH="false" flipV="false" rot="0">
              <a:off x="0" y="0"/>
              <a:ext cx="14556994" cy="9659222"/>
            </a:xfrm>
            <a:custGeom>
              <a:avLst/>
              <a:gdLst/>
              <a:ahLst/>
              <a:cxnLst/>
              <a:rect r="r" b="b" t="t" l="l"/>
              <a:pathLst>
                <a:path h="9659222" w="14556994">
                  <a:moveTo>
                    <a:pt x="0" y="0"/>
                  </a:moveTo>
                  <a:lnTo>
                    <a:pt x="14556994" y="0"/>
                  </a:lnTo>
                  <a:lnTo>
                    <a:pt x="14556994" y="9659222"/>
                  </a:lnTo>
                  <a:lnTo>
                    <a:pt x="0" y="9659222"/>
                  </a:lnTo>
                  <a:lnTo>
                    <a:pt x="0" y="0"/>
                  </a:lnTo>
                  <a:close/>
                </a:path>
              </a:pathLst>
            </a:custGeom>
            <a:blipFill>
              <a:blip r:embed="rId5"/>
              <a:stretch>
                <a:fillRect l="-1173" t="0" r="-1173" b="0"/>
              </a:stretch>
            </a:blipFill>
          </p:spPr>
        </p:sp>
      </p:grpSp>
      <p:grpSp>
        <p:nvGrpSpPr>
          <p:cNvPr name="Group 22" id="22"/>
          <p:cNvGrpSpPr/>
          <p:nvPr/>
        </p:nvGrpSpPr>
        <p:grpSpPr>
          <a:xfrm rot="0">
            <a:off x="15325725" y="9491367"/>
            <a:ext cx="1299210" cy="357077"/>
            <a:chOff x="0" y="0"/>
            <a:chExt cx="1732280" cy="476102"/>
          </a:xfrm>
        </p:grpSpPr>
        <p:sp>
          <p:nvSpPr>
            <p:cNvPr name="Freeform 23" id="23"/>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4" id="24"/>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5" id="25"/>
          <p:cNvGrpSpPr/>
          <p:nvPr/>
        </p:nvGrpSpPr>
        <p:grpSpPr>
          <a:xfrm rot="0">
            <a:off x="926309" y="9491358"/>
            <a:ext cx="2807304" cy="493053"/>
            <a:chOff x="0" y="0"/>
            <a:chExt cx="3743072" cy="657404"/>
          </a:xfrm>
        </p:grpSpPr>
        <p:sp>
          <p:nvSpPr>
            <p:cNvPr name="Freeform 26" id="26"/>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8" id="28"/>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6813484" y="0"/>
            <a:ext cx="11474516" cy="10328300"/>
            <a:chOff x="0" y="0"/>
            <a:chExt cx="15299354" cy="13771067"/>
          </a:xfrm>
        </p:grpSpPr>
        <p:grpSp>
          <p:nvGrpSpPr>
            <p:cNvPr name="Group 4" id="4"/>
            <p:cNvGrpSpPr/>
            <p:nvPr/>
          </p:nvGrpSpPr>
          <p:grpSpPr>
            <a:xfrm rot="0">
              <a:off x="0" y="0"/>
              <a:ext cx="15299354" cy="13771067"/>
              <a:chOff x="0" y="0"/>
              <a:chExt cx="15299354" cy="13771067"/>
            </a:xfrm>
          </p:grpSpPr>
          <p:sp>
            <p:nvSpPr>
              <p:cNvPr name="Freeform 5" id="5"/>
              <p:cNvSpPr/>
              <p:nvPr/>
            </p:nvSpPr>
            <p:spPr>
              <a:xfrm flipH="false" flipV="false" rot="0">
                <a:off x="0" y="0"/>
                <a:ext cx="15299392" cy="13771068"/>
              </a:xfrm>
              <a:custGeom>
                <a:avLst/>
                <a:gdLst/>
                <a:ahLst/>
                <a:cxnLst/>
                <a:rect r="r" b="b" t="t" l="l"/>
                <a:pathLst>
                  <a:path h="13771068" w="15299392">
                    <a:moveTo>
                      <a:pt x="0" y="0"/>
                    </a:moveTo>
                    <a:lnTo>
                      <a:pt x="15299392" y="0"/>
                    </a:lnTo>
                    <a:lnTo>
                      <a:pt x="15299392" y="13771068"/>
                    </a:lnTo>
                    <a:lnTo>
                      <a:pt x="0" y="13771068"/>
                    </a:lnTo>
                    <a:close/>
                  </a:path>
                </a:pathLst>
              </a:custGeom>
              <a:solidFill>
                <a:srgbClr val="4D5154"/>
              </a:solidFill>
            </p:spPr>
          </p:sp>
        </p:grpSp>
        <p:sp>
          <p:nvSpPr>
            <p:cNvPr name="TextBox 6" id="6"/>
            <p:cNvSpPr txBox="true"/>
            <p:nvPr/>
          </p:nvSpPr>
          <p:spPr>
            <a:xfrm rot="0">
              <a:off x="159679" y="32385"/>
              <a:ext cx="14979996"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7" id="7"/>
          <p:cNvSpPr txBox="true"/>
          <p:nvPr/>
        </p:nvSpPr>
        <p:spPr>
          <a:xfrm rot="0">
            <a:off x="851537" y="2143558"/>
            <a:ext cx="5880034" cy="752475"/>
          </a:xfrm>
          <a:prstGeom prst="rect">
            <a:avLst/>
          </a:prstGeom>
        </p:spPr>
        <p:txBody>
          <a:bodyPr anchor="t" rtlCol="false" tIns="0" lIns="0" bIns="0" rIns="0">
            <a:spAutoFit/>
          </a:bodyPr>
          <a:lstStyle/>
          <a:p>
            <a:pPr algn="l">
              <a:lnSpc>
                <a:spcPts val="5879"/>
              </a:lnSpc>
            </a:pPr>
            <a:r>
              <a:rPr lang="en-US" b="true" sz="4899" spc="-34">
                <a:solidFill>
                  <a:srgbClr val="E6E7E8"/>
                </a:solidFill>
                <a:latin typeface="Work Sans Medium"/>
                <a:ea typeface="Work Sans Medium"/>
                <a:cs typeface="Work Sans Medium"/>
                <a:sym typeface="Work Sans Medium"/>
              </a:rPr>
              <a:t>DecoderTest</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27</a:t>
              </a:r>
            </a:p>
          </p:txBody>
        </p:sp>
      </p:grpSp>
      <p:sp>
        <p:nvSpPr>
          <p:cNvPr name="TextBox 11" id="11"/>
          <p:cNvSpPr txBox="true"/>
          <p:nvPr/>
        </p:nvSpPr>
        <p:spPr>
          <a:xfrm rot="0">
            <a:off x="897626" y="859465"/>
            <a:ext cx="5216674" cy="32894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SubSystem</a:t>
            </a:r>
            <a:r>
              <a:rPr lang="en-US" sz="2095" b="true">
                <a:solidFill>
                  <a:srgbClr val="FFFFFF"/>
                </a:solidFill>
                <a:latin typeface="Work Sans Medium"/>
                <a:ea typeface="Work Sans Medium"/>
                <a:cs typeface="Work Sans Medium"/>
                <a:sym typeface="Work Sans Medium"/>
              </a:rPr>
              <a:t> Integration Test</a:t>
            </a:r>
          </a:p>
        </p:txBody>
      </p:sp>
      <p:sp>
        <p:nvSpPr>
          <p:cNvPr name="TextBox 12" id="12"/>
          <p:cNvSpPr txBox="true"/>
          <p:nvPr/>
        </p:nvSpPr>
        <p:spPr>
          <a:xfrm rot="0">
            <a:off x="897626" y="4521741"/>
            <a:ext cx="4740087" cy="2823286"/>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Decoder Test validates the conversion of CAN frames into meaningful vehicle signals using DBC definitions. It verifies correct extraction of signal values, scaling, and decoding accuracy by comparing the decoded output with the expected results.</a:t>
            </a:r>
          </a:p>
        </p:txBody>
      </p:sp>
      <p:grpSp>
        <p:nvGrpSpPr>
          <p:cNvPr name="Group 13" id="13"/>
          <p:cNvGrpSpPr/>
          <p:nvPr/>
        </p:nvGrpSpPr>
        <p:grpSpPr>
          <a:xfrm rot="0">
            <a:off x="14549864" y="38108"/>
            <a:ext cx="3531112" cy="688007"/>
            <a:chOff x="0" y="0"/>
            <a:chExt cx="4708150" cy="917342"/>
          </a:xfrm>
        </p:grpSpPr>
        <p:sp>
          <p:nvSpPr>
            <p:cNvPr name="Freeform 14" id="14"/>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5" id="15"/>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6/8</a:t>
              </a:r>
            </a:p>
          </p:txBody>
        </p:sp>
      </p:grpSp>
      <p:grpSp>
        <p:nvGrpSpPr>
          <p:cNvPr name="Group 16" id="16"/>
          <p:cNvGrpSpPr/>
          <p:nvPr/>
        </p:nvGrpSpPr>
        <p:grpSpPr>
          <a:xfrm rot="0">
            <a:off x="6813484" y="835474"/>
            <a:ext cx="11570819" cy="8616051"/>
            <a:chOff x="0" y="0"/>
            <a:chExt cx="14886412" cy="11084962"/>
          </a:xfrm>
        </p:grpSpPr>
        <p:sp>
          <p:nvSpPr>
            <p:cNvPr name="Freeform 17" id="17"/>
            <p:cNvSpPr/>
            <p:nvPr/>
          </p:nvSpPr>
          <p:spPr>
            <a:xfrm flipH="false" flipV="false" rot="0">
              <a:off x="0" y="0"/>
              <a:ext cx="14886462" cy="11084913"/>
            </a:xfrm>
            <a:custGeom>
              <a:avLst/>
              <a:gdLst/>
              <a:ahLst/>
              <a:cxnLst/>
              <a:rect r="r" b="b" t="t" l="l"/>
              <a:pathLst>
                <a:path h="11084913" w="14886462">
                  <a:moveTo>
                    <a:pt x="0" y="0"/>
                  </a:moveTo>
                  <a:lnTo>
                    <a:pt x="14886462" y="0"/>
                  </a:lnTo>
                  <a:lnTo>
                    <a:pt x="14886462" y="11084913"/>
                  </a:lnTo>
                  <a:lnTo>
                    <a:pt x="0" y="11084913"/>
                  </a:lnTo>
                  <a:lnTo>
                    <a:pt x="0" y="0"/>
                  </a:lnTo>
                  <a:close/>
                </a:path>
              </a:pathLst>
            </a:custGeom>
            <a:blipFill>
              <a:blip r:embed="rId5"/>
              <a:stretch>
                <a:fillRect l="0" t="-13277" r="0" b="-7393"/>
              </a:stretch>
            </a:blipFill>
          </p:spPr>
        </p:sp>
      </p:grpSp>
      <p:grpSp>
        <p:nvGrpSpPr>
          <p:cNvPr name="Group 18" id="18"/>
          <p:cNvGrpSpPr/>
          <p:nvPr/>
        </p:nvGrpSpPr>
        <p:grpSpPr>
          <a:xfrm rot="0">
            <a:off x="15325725" y="9491367"/>
            <a:ext cx="1299210" cy="357077"/>
            <a:chOff x="0" y="0"/>
            <a:chExt cx="1732280" cy="476102"/>
          </a:xfrm>
        </p:grpSpPr>
        <p:sp>
          <p:nvSpPr>
            <p:cNvPr name="Freeform 19" id="19"/>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0" id="20"/>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1" id="21"/>
          <p:cNvGrpSpPr/>
          <p:nvPr/>
        </p:nvGrpSpPr>
        <p:grpSpPr>
          <a:xfrm rot="0">
            <a:off x="926309" y="9491358"/>
            <a:ext cx="2807304" cy="493053"/>
            <a:chOff x="0" y="0"/>
            <a:chExt cx="3743072" cy="657404"/>
          </a:xfrm>
        </p:grpSpPr>
        <p:sp>
          <p:nvSpPr>
            <p:cNvPr name="Freeform 22" id="22"/>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4" id="24"/>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6813484" y="0"/>
            <a:ext cx="11474516" cy="10328300"/>
            <a:chOff x="0" y="0"/>
            <a:chExt cx="15299354" cy="13771067"/>
          </a:xfrm>
        </p:grpSpPr>
        <p:grpSp>
          <p:nvGrpSpPr>
            <p:cNvPr name="Group 4" id="4"/>
            <p:cNvGrpSpPr/>
            <p:nvPr/>
          </p:nvGrpSpPr>
          <p:grpSpPr>
            <a:xfrm rot="0">
              <a:off x="0" y="0"/>
              <a:ext cx="15299354" cy="13771067"/>
              <a:chOff x="0" y="0"/>
              <a:chExt cx="15299354" cy="13771067"/>
            </a:xfrm>
          </p:grpSpPr>
          <p:sp>
            <p:nvSpPr>
              <p:cNvPr name="Freeform 5" id="5"/>
              <p:cNvSpPr/>
              <p:nvPr/>
            </p:nvSpPr>
            <p:spPr>
              <a:xfrm flipH="false" flipV="false" rot="0">
                <a:off x="0" y="0"/>
                <a:ext cx="15299392" cy="13771068"/>
              </a:xfrm>
              <a:custGeom>
                <a:avLst/>
                <a:gdLst/>
                <a:ahLst/>
                <a:cxnLst/>
                <a:rect r="r" b="b" t="t" l="l"/>
                <a:pathLst>
                  <a:path h="13771068" w="15299392">
                    <a:moveTo>
                      <a:pt x="0" y="0"/>
                    </a:moveTo>
                    <a:lnTo>
                      <a:pt x="15299392" y="0"/>
                    </a:lnTo>
                    <a:lnTo>
                      <a:pt x="15299392" y="13771068"/>
                    </a:lnTo>
                    <a:lnTo>
                      <a:pt x="0" y="13771068"/>
                    </a:lnTo>
                    <a:close/>
                  </a:path>
                </a:pathLst>
              </a:custGeom>
              <a:solidFill>
                <a:srgbClr val="4D5154"/>
              </a:solidFill>
            </p:spPr>
          </p:sp>
        </p:grpSp>
        <p:sp>
          <p:nvSpPr>
            <p:cNvPr name="TextBox 6" id="6"/>
            <p:cNvSpPr txBox="true"/>
            <p:nvPr/>
          </p:nvSpPr>
          <p:spPr>
            <a:xfrm rot="0">
              <a:off x="159679" y="32385"/>
              <a:ext cx="14979996" cy="13677722"/>
            </a:xfrm>
            <a:prstGeom prst="rect">
              <a:avLst/>
            </a:prstGeom>
          </p:spPr>
          <p:txBody>
            <a:bodyPr anchor="t" rtlCol="false" tIns="0" lIns="0" bIns="0" rIns="0">
              <a:spAutoFit/>
            </a:bodyPr>
            <a:lstStyle/>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a:p>
              <a:pPr algn="l">
                <a:lnSpc>
                  <a:spcPts val="1684"/>
                </a:lnSpc>
              </a:pPr>
            </a:p>
          </p:txBody>
        </p:sp>
      </p:grpSp>
      <p:sp>
        <p:nvSpPr>
          <p:cNvPr name="TextBox 7" id="7"/>
          <p:cNvSpPr txBox="true"/>
          <p:nvPr/>
        </p:nvSpPr>
        <p:spPr>
          <a:xfrm rot="0">
            <a:off x="851537" y="2143558"/>
            <a:ext cx="5880034" cy="752475"/>
          </a:xfrm>
          <a:prstGeom prst="rect">
            <a:avLst/>
          </a:prstGeom>
        </p:spPr>
        <p:txBody>
          <a:bodyPr anchor="t" rtlCol="false" tIns="0" lIns="0" bIns="0" rIns="0">
            <a:spAutoFit/>
          </a:bodyPr>
          <a:lstStyle/>
          <a:p>
            <a:pPr algn="l">
              <a:lnSpc>
                <a:spcPts val="5879"/>
              </a:lnSpc>
            </a:pPr>
            <a:r>
              <a:rPr lang="en-US" b="true" sz="4899" spc="-34">
                <a:solidFill>
                  <a:srgbClr val="E6E7E8"/>
                </a:solidFill>
                <a:latin typeface="Work Sans Medium"/>
                <a:ea typeface="Work Sans Medium"/>
                <a:cs typeface="Work Sans Medium"/>
                <a:sym typeface="Work Sans Medium"/>
              </a:rPr>
              <a:t>Simulator Test</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28</a:t>
              </a:r>
            </a:p>
          </p:txBody>
        </p:sp>
      </p:grpSp>
      <p:sp>
        <p:nvSpPr>
          <p:cNvPr name="TextBox 11" id="11"/>
          <p:cNvSpPr txBox="true"/>
          <p:nvPr/>
        </p:nvSpPr>
        <p:spPr>
          <a:xfrm rot="0">
            <a:off x="897626" y="859465"/>
            <a:ext cx="5216674" cy="328946"/>
          </a:xfrm>
          <a:prstGeom prst="rect">
            <a:avLst/>
          </a:prstGeom>
        </p:spPr>
        <p:txBody>
          <a:bodyPr anchor="t" rtlCol="false" tIns="0" lIns="0" bIns="0" rIns="0">
            <a:spAutoFit/>
          </a:bodyPr>
          <a:lstStyle/>
          <a:p>
            <a:pPr algn="l">
              <a:lnSpc>
                <a:spcPts val="2515"/>
              </a:lnSpc>
            </a:pPr>
            <a:r>
              <a:rPr lang="en-US" sz="2095" b="true">
                <a:solidFill>
                  <a:srgbClr val="FFFFFF"/>
                </a:solidFill>
                <a:latin typeface="Work Sans Medium"/>
                <a:ea typeface="Work Sans Medium"/>
                <a:cs typeface="Work Sans Medium"/>
                <a:sym typeface="Work Sans Medium"/>
              </a:rPr>
              <a:t>SubSystem</a:t>
            </a:r>
            <a:r>
              <a:rPr lang="en-US" sz="2095" b="true">
                <a:solidFill>
                  <a:srgbClr val="FFFFFF"/>
                </a:solidFill>
                <a:latin typeface="Work Sans Medium"/>
                <a:ea typeface="Work Sans Medium"/>
                <a:cs typeface="Work Sans Medium"/>
                <a:sym typeface="Work Sans Medium"/>
              </a:rPr>
              <a:t> Integration Test</a:t>
            </a:r>
          </a:p>
        </p:txBody>
      </p:sp>
      <p:sp>
        <p:nvSpPr>
          <p:cNvPr name="TextBox 12" id="12"/>
          <p:cNvSpPr txBox="true"/>
          <p:nvPr/>
        </p:nvSpPr>
        <p:spPr>
          <a:xfrm rot="0">
            <a:off x="897626" y="4521741"/>
            <a:ext cx="4740087" cy="2470861"/>
          </a:xfrm>
          <a:prstGeom prst="rect">
            <a:avLst/>
          </a:prstGeom>
        </p:spPr>
        <p:txBody>
          <a:bodyPr anchor="t" rtlCol="false" tIns="0" lIns="0" bIns="0" rIns="0">
            <a:spAutoFit/>
          </a:bodyPr>
          <a:lstStyle/>
          <a:p>
            <a:pPr algn="l">
              <a:lnSpc>
                <a:spcPts val="2804"/>
              </a:lnSpc>
            </a:pPr>
            <a:r>
              <a:rPr lang="en-US" sz="2050">
                <a:solidFill>
                  <a:srgbClr val="FFFFFF"/>
                </a:solidFill>
                <a:latin typeface="Work Sans"/>
                <a:ea typeface="Work Sans"/>
                <a:cs typeface="Work Sans"/>
                <a:sym typeface="Work Sans"/>
              </a:rPr>
              <a:t>The Simulator Test validates the complete vehicle simulation pipeline by generating realistic driving conditions, updating vehicle states, transmitting CAN messages, and verifying real-time communication with the dashboard.</a:t>
            </a:r>
          </a:p>
        </p:txBody>
      </p:sp>
      <p:grpSp>
        <p:nvGrpSpPr>
          <p:cNvPr name="Group 13" id="13"/>
          <p:cNvGrpSpPr/>
          <p:nvPr/>
        </p:nvGrpSpPr>
        <p:grpSpPr>
          <a:xfrm rot="0">
            <a:off x="6114301" y="868990"/>
            <a:ext cx="12686492" cy="8245802"/>
            <a:chOff x="0" y="0"/>
            <a:chExt cx="16915322" cy="10994403"/>
          </a:xfrm>
        </p:grpSpPr>
        <p:sp>
          <p:nvSpPr>
            <p:cNvPr name="Freeform 14" id="14"/>
            <p:cNvSpPr/>
            <p:nvPr/>
          </p:nvSpPr>
          <p:spPr>
            <a:xfrm flipH="false" flipV="false" rot="0">
              <a:off x="0" y="0"/>
              <a:ext cx="16915374" cy="10994390"/>
            </a:xfrm>
            <a:custGeom>
              <a:avLst/>
              <a:gdLst/>
              <a:ahLst/>
              <a:cxnLst/>
              <a:rect r="r" b="b" t="t" l="l"/>
              <a:pathLst>
                <a:path h="10994390" w="16915374">
                  <a:moveTo>
                    <a:pt x="0" y="0"/>
                  </a:moveTo>
                  <a:lnTo>
                    <a:pt x="16915374" y="0"/>
                  </a:lnTo>
                  <a:lnTo>
                    <a:pt x="16915374" y="10994390"/>
                  </a:lnTo>
                  <a:lnTo>
                    <a:pt x="0" y="10994390"/>
                  </a:lnTo>
                  <a:lnTo>
                    <a:pt x="0" y="0"/>
                  </a:lnTo>
                  <a:close/>
                </a:path>
              </a:pathLst>
            </a:custGeom>
            <a:blipFill>
              <a:blip r:embed="rId3"/>
              <a:stretch>
                <a:fillRect l="-32332" t="0" r="-34453" b="0"/>
              </a:stretch>
            </a:blipFill>
          </p:spPr>
        </p:sp>
      </p:grpSp>
      <p:grpSp>
        <p:nvGrpSpPr>
          <p:cNvPr name="Group 15" id="15"/>
          <p:cNvGrpSpPr/>
          <p:nvPr/>
        </p:nvGrpSpPr>
        <p:grpSpPr>
          <a:xfrm rot="0">
            <a:off x="14549864" y="38108"/>
            <a:ext cx="3531112" cy="688007"/>
            <a:chOff x="0" y="0"/>
            <a:chExt cx="4708150" cy="917342"/>
          </a:xfrm>
        </p:grpSpPr>
        <p:sp>
          <p:nvSpPr>
            <p:cNvPr name="Freeform 16" id="16"/>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4"/>
              <a:stretch>
                <a:fillRect l="0" t="-1644" r="0" b="-1644"/>
              </a:stretch>
            </a:blipFill>
            <a:ln cap="sq">
              <a:noFill/>
              <a:prstDash val="solid"/>
              <a:miter/>
            </a:ln>
          </p:spPr>
        </p:sp>
        <p:sp>
          <p:nvSpPr>
            <p:cNvPr name="TextBox 17" id="17"/>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6/8</a:t>
              </a:r>
            </a:p>
          </p:txBody>
        </p:sp>
      </p:grpSp>
      <p:grpSp>
        <p:nvGrpSpPr>
          <p:cNvPr name="Group 18" id="18"/>
          <p:cNvGrpSpPr/>
          <p:nvPr/>
        </p:nvGrpSpPr>
        <p:grpSpPr>
          <a:xfrm rot="0">
            <a:off x="6114301" y="868990"/>
            <a:ext cx="12173699" cy="8195129"/>
            <a:chOff x="0" y="0"/>
            <a:chExt cx="15494502" cy="10430637"/>
          </a:xfrm>
        </p:grpSpPr>
        <p:sp>
          <p:nvSpPr>
            <p:cNvPr name="Freeform 19" id="19"/>
            <p:cNvSpPr/>
            <p:nvPr/>
          </p:nvSpPr>
          <p:spPr>
            <a:xfrm flipH="false" flipV="false" rot="0">
              <a:off x="0" y="0"/>
              <a:ext cx="15494540" cy="10430637"/>
            </a:xfrm>
            <a:custGeom>
              <a:avLst/>
              <a:gdLst/>
              <a:ahLst/>
              <a:cxnLst/>
              <a:rect r="r" b="b" t="t" l="l"/>
              <a:pathLst>
                <a:path h="10430637" w="15494540">
                  <a:moveTo>
                    <a:pt x="0" y="0"/>
                  </a:moveTo>
                  <a:lnTo>
                    <a:pt x="15494540" y="0"/>
                  </a:lnTo>
                  <a:lnTo>
                    <a:pt x="15494540" y="10430637"/>
                  </a:lnTo>
                  <a:lnTo>
                    <a:pt x="0" y="10430637"/>
                  </a:lnTo>
                  <a:lnTo>
                    <a:pt x="0" y="0"/>
                  </a:lnTo>
                  <a:close/>
                </a:path>
              </a:pathLst>
            </a:custGeom>
            <a:blipFill>
              <a:blip r:embed="rId3"/>
              <a:stretch>
                <a:fillRect l="-35266" t="0" r="-37477" b="0"/>
              </a:stretch>
            </a:blipFill>
          </p:spPr>
        </p:sp>
      </p:grpSp>
      <p:grpSp>
        <p:nvGrpSpPr>
          <p:cNvPr name="Group 20" id="20"/>
          <p:cNvGrpSpPr/>
          <p:nvPr/>
        </p:nvGrpSpPr>
        <p:grpSpPr>
          <a:xfrm rot="0">
            <a:off x="5841435" y="818317"/>
            <a:ext cx="12719431" cy="8439983"/>
            <a:chOff x="0" y="0"/>
            <a:chExt cx="14556956" cy="9659274"/>
          </a:xfrm>
        </p:grpSpPr>
        <p:sp>
          <p:nvSpPr>
            <p:cNvPr name="Freeform 21" id="21"/>
            <p:cNvSpPr/>
            <p:nvPr/>
          </p:nvSpPr>
          <p:spPr>
            <a:xfrm flipH="false" flipV="false" rot="0">
              <a:off x="0" y="0"/>
              <a:ext cx="14556994" cy="9659222"/>
            </a:xfrm>
            <a:custGeom>
              <a:avLst/>
              <a:gdLst/>
              <a:ahLst/>
              <a:cxnLst/>
              <a:rect r="r" b="b" t="t" l="l"/>
              <a:pathLst>
                <a:path h="9659222" w="14556994">
                  <a:moveTo>
                    <a:pt x="0" y="0"/>
                  </a:moveTo>
                  <a:lnTo>
                    <a:pt x="14556994" y="0"/>
                  </a:lnTo>
                  <a:lnTo>
                    <a:pt x="14556994" y="9659222"/>
                  </a:lnTo>
                  <a:lnTo>
                    <a:pt x="0" y="9659222"/>
                  </a:lnTo>
                  <a:lnTo>
                    <a:pt x="0" y="0"/>
                  </a:lnTo>
                  <a:close/>
                </a:path>
              </a:pathLst>
            </a:custGeom>
            <a:blipFill>
              <a:blip r:embed="rId5"/>
              <a:stretch>
                <a:fillRect l="-19244" t="0" r="-4202" b="-4648"/>
              </a:stretch>
            </a:blipFill>
          </p:spPr>
        </p:sp>
      </p:grpSp>
      <p:grpSp>
        <p:nvGrpSpPr>
          <p:cNvPr name="Group 22" id="22"/>
          <p:cNvGrpSpPr/>
          <p:nvPr/>
        </p:nvGrpSpPr>
        <p:grpSpPr>
          <a:xfrm rot="0">
            <a:off x="15325725" y="9491367"/>
            <a:ext cx="1299210" cy="357077"/>
            <a:chOff x="0" y="0"/>
            <a:chExt cx="1732280" cy="476102"/>
          </a:xfrm>
        </p:grpSpPr>
        <p:sp>
          <p:nvSpPr>
            <p:cNvPr name="Freeform 23" id="23"/>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4" id="24"/>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5" id="25"/>
          <p:cNvGrpSpPr/>
          <p:nvPr/>
        </p:nvGrpSpPr>
        <p:grpSpPr>
          <a:xfrm rot="0">
            <a:off x="926309" y="9491358"/>
            <a:ext cx="2807304" cy="493053"/>
            <a:chOff x="0" y="0"/>
            <a:chExt cx="3743072" cy="657404"/>
          </a:xfrm>
        </p:grpSpPr>
        <p:sp>
          <p:nvSpPr>
            <p:cNvPr name="Freeform 26" id="26"/>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8" id="28"/>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grpSp>
        <p:nvGrpSpPr>
          <p:cNvPr name="Group 3" id="3"/>
          <p:cNvGrpSpPr/>
          <p:nvPr/>
        </p:nvGrpSpPr>
        <p:grpSpPr>
          <a:xfrm rot="0">
            <a:off x="448253" y="1486422"/>
            <a:ext cx="18483036" cy="4026267"/>
            <a:chOff x="0" y="0"/>
            <a:chExt cx="39032381" cy="8502650"/>
          </a:xfrm>
        </p:grpSpPr>
        <p:sp>
          <p:nvSpPr>
            <p:cNvPr name="Freeform 4" id="4"/>
            <p:cNvSpPr/>
            <p:nvPr/>
          </p:nvSpPr>
          <p:spPr>
            <a:xfrm flipH="false" flipV="false" rot="0">
              <a:off x="0" y="0"/>
              <a:ext cx="39032380" cy="8502650"/>
            </a:xfrm>
            <a:custGeom>
              <a:avLst/>
              <a:gdLst/>
              <a:ahLst/>
              <a:cxnLst/>
              <a:rect r="r" b="b" t="t" l="l"/>
              <a:pathLst>
                <a:path h="8502650" w="39032380">
                  <a:moveTo>
                    <a:pt x="0" y="0"/>
                  </a:moveTo>
                  <a:lnTo>
                    <a:pt x="39032380" y="0"/>
                  </a:lnTo>
                  <a:lnTo>
                    <a:pt x="39032380" y="8502650"/>
                  </a:lnTo>
                  <a:lnTo>
                    <a:pt x="0" y="8502650"/>
                  </a:lnTo>
                  <a:lnTo>
                    <a:pt x="0" y="0"/>
                  </a:lnTo>
                  <a:close/>
                </a:path>
              </a:pathLst>
            </a:custGeom>
            <a:blipFill>
              <a:blip r:embed="rId3"/>
              <a:stretch>
                <a:fillRect l="0" t="-1202" r="-45632" b="-10360"/>
              </a:stretch>
            </a:blipFill>
          </p:spPr>
        </p:sp>
      </p:grpSp>
      <p:sp>
        <p:nvSpPr>
          <p:cNvPr name="TextBox 5" id="5"/>
          <p:cNvSpPr txBox="true"/>
          <p:nvPr/>
        </p:nvSpPr>
        <p:spPr>
          <a:xfrm rot="0">
            <a:off x="0" y="408116"/>
            <a:ext cx="16319182" cy="630631"/>
          </a:xfrm>
          <a:prstGeom prst="rect">
            <a:avLst/>
          </a:prstGeom>
        </p:spPr>
        <p:txBody>
          <a:bodyPr anchor="t" rtlCol="false" tIns="0" lIns="0" bIns="0" rIns="0">
            <a:spAutoFit/>
          </a:bodyPr>
          <a:lstStyle/>
          <a:p>
            <a:pPr algn="l">
              <a:lnSpc>
                <a:spcPts val="5054"/>
              </a:lnSpc>
            </a:pPr>
            <a:r>
              <a:rPr lang="en-US" sz="3600" b="true">
                <a:solidFill>
                  <a:srgbClr val="FFFFFF"/>
                </a:solidFill>
                <a:latin typeface="Work Sans Medium"/>
                <a:ea typeface="Work Sans Medium"/>
                <a:cs typeface="Work Sans Medium"/>
                <a:sym typeface="Work Sans Medium"/>
              </a:rPr>
              <a:t>L</a:t>
            </a:r>
            <a:r>
              <a:rPr lang="en-US" sz="3600" b="true">
                <a:solidFill>
                  <a:srgbClr val="FFFFFF"/>
                </a:solidFill>
                <a:latin typeface="Work Sans Medium"/>
                <a:ea typeface="Work Sans Medium"/>
                <a:cs typeface="Work Sans Medium"/>
                <a:sym typeface="Work Sans Medium"/>
              </a:rPr>
              <a:t>ogger Test</a:t>
            </a:r>
          </a:p>
        </p:txBody>
      </p:sp>
      <p:grpSp>
        <p:nvGrpSpPr>
          <p:cNvPr name="Group 6" id="6"/>
          <p:cNvGrpSpPr/>
          <p:nvPr/>
        </p:nvGrpSpPr>
        <p:grpSpPr>
          <a:xfrm rot="0">
            <a:off x="16784479" y="9491358"/>
            <a:ext cx="697335" cy="357088"/>
            <a:chOff x="0" y="0"/>
            <a:chExt cx="929780" cy="476118"/>
          </a:xfrm>
        </p:grpSpPr>
        <p:sp>
          <p:nvSpPr>
            <p:cNvPr name="Freeform 7" id="7"/>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4">
                <a:alphaModFix amt="0"/>
              </a:blip>
              <a:stretch>
                <a:fillRect l="-15701" t="0" r="-15702" b="-2"/>
              </a:stretch>
            </a:blipFill>
          </p:spPr>
        </p:sp>
        <p:sp>
          <p:nvSpPr>
            <p:cNvPr name="TextBox 8" id="8"/>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29</a:t>
              </a:r>
            </a:p>
          </p:txBody>
        </p:sp>
      </p:grpSp>
      <p:graphicFrame>
        <p:nvGraphicFramePr>
          <p:cNvPr name="Table 9" id="9"/>
          <p:cNvGraphicFramePr>
            <a:graphicFrameLocks noGrp="true"/>
          </p:cNvGraphicFramePr>
          <p:nvPr/>
        </p:nvGraphicFramePr>
        <p:xfrm>
          <a:off x="448253" y="5355983"/>
          <a:ext cx="16684893" cy="3376362"/>
        </p:xfrm>
        <a:graphic>
          <a:graphicData uri="http://schemas.openxmlformats.org/drawingml/2006/table">
            <a:tbl>
              <a:tblPr/>
              <a:tblGrid>
                <a:gridCol w="2699082"/>
                <a:gridCol w="6356368"/>
                <a:gridCol w="7629442"/>
              </a:tblGrid>
              <a:tr h="349134">
                <a:tc>
                  <a:txBody>
                    <a:bodyPr anchor="t" rtlCol="false"/>
                    <a:lstStyle/>
                    <a:p>
                      <a:pPr algn="l">
                        <a:lnSpc>
                          <a:spcPts val="2240"/>
                        </a:lnSpc>
                        <a:defRPr/>
                      </a:pPr>
                      <a:r>
                        <a:rPr lang="en-US" sz="1600" b="true">
                          <a:solidFill>
                            <a:srgbClr val="000000"/>
                          </a:solidFill>
                          <a:latin typeface="Canva Sans Bold"/>
                          <a:ea typeface="Canva Sans Bold"/>
                          <a:cs typeface="Canva Sans Bold"/>
                          <a:sym typeface="Canva Sans Bold"/>
                        </a:rPr>
                        <a:t>Test Case</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c>
                  <a:txBody>
                    <a:bodyPr anchor="t" rtlCol="false"/>
                    <a:lstStyle/>
                    <a:p>
                      <a:pPr algn="l">
                        <a:lnSpc>
                          <a:spcPts val="2240"/>
                        </a:lnSpc>
                        <a:defRPr/>
                      </a:pPr>
                      <a:r>
                        <a:rPr lang="en-US" sz="1600" b="true">
                          <a:solidFill>
                            <a:srgbClr val="000000"/>
                          </a:solidFill>
                          <a:latin typeface="Canva Sans Bold"/>
                          <a:ea typeface="Canva Sans Bold"/>
                          <a:cs typeface="Canva Sans Bold"/>
                          <a:sym typeface="Canva Sans Bold"/>
                        </a:rPr>
                        <a:t>Objective</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c>
                  <a:txBody>
                    <a:bodyPr anchor="t" rtlCol="false"/>
                    <a:lstStyle/>
                    <a:p>
                      <a:pPr algn="l">
                        <a:lnSpc>
                          <a:spcPts val="2100"/>
                        </a:lnSpc>
                        <a:defRPr/>
                      </a:pPr>
                      <a:r>
                        <a:rPr lang="en-US" sz="1500" b="true">
                          <a:solidFill>
                            <a:srgbClr val="000000"/>
                          </a:solidFill>
                          <a:latin typeface="Canva Sans Bold"/>
                          <a:ea typeface="Canva Sans Bold"/>
                          <a:cs typeface="Canva Sans Bold"/>
                          <a:sym typeface="Canva Sans Bold"/>
                        </a:rPr>
                        <a:t>Expected Result</a:t>
                      </a:r>
                      <a:endParaRPr lang="en-US" sz="1100"/>
                    </a:p>
                  </a:txBody>
                  <a:tcPr marL="0" marR="0" marT="0" marB="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0">
                      <a:solidFill>
                        <a:srgbClr val="D9D9D9"/>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8CB946"/>
                    </a:solidFill>
                  </a:tcPr>
                </a:tc>
              </a:tr>
              <a:tr h="646895">
                <a:tc>
                  <a:txBody>
                    <a:bodyPr anchor="t" rtlCol="false"/>
                    <a:lstStyle/>
                    <a:p>
                      <a:pPr algn="l">
                        <a:lnSpc>
                          <a:spcPts val="2100"/>
                        </a:lnSpc>
                        <a:defRPr/>
                      </a:pPr>
                      <a:r>
                        <a:rPr lang="en-US" sz="1500">
                          <a:solidFill>
                            <a:srgbClr val="000000"/>
                          </a:solidFill>
                          <a:latin typeface="Canva Sans"/>
                          <a:ea typeface="Canva Sans"/>
                          <a:cs typeface="Canva Sans"/>
                          <a:sym typeface="Canva Sans"/>
                        </a:rPr>
                        <a:t>test_single_frame()</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BFECAC"/>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Verify conversion of a single CAN frame into a log record.</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BFECAC"/>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One log entry is generated containing the correct timestamp and CAN ID.</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0">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BFECAC"/>
                    </a:solidFill>
                  </a:tcPr>
                </a:tc>
              </a:tr>
              <a:tr h="842489">
                <a:tc>
                  <a:txBody>
                    <a:bodyPr anchor="t" rtlCol="false"/>
                    <a:lstStyle/>
                    <a:p>
                      <a:pPr algn="l">
                        <a:lnSpc>
                          <a:spcPts val="2100"/>
                        </a:lnSpc>
                        <a:defRPr/>
                      </a:pPr>
                      <a:r>
                        <a:rPr lang="en-US" sz="1500">
                          <a:solidFill>
                            <a:srgbClr val="000000"/>
                          </a:solidFill>
                          <a:latin typeface="Canva Sans"/>
                          <a:ea typeface="Canva Sans"/>
                          <a:cs typeface="Canva Sans"/>
                          <a:sym typeface="Canva Sans"/>
                        </a:rPr>
                        <a:t>test_start_initializes_logger()</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Verify successful initialization of the logger service.</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Logger enters the running state, allocates the ring buffer, and starts the write thread.</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r>
              <a:tr h="919378">
                <a:tc>
                  <a:txBody>
                    <a:bodyPr anchor="t" rtlCol="false"/>
                    <a:lstStyle/>
                    <a:p>
                      <a:pPr algn="l">
                        <a:lnSpc>
                          <a:spcPts val="2100"/>
                        </a:lnSpc>
                        <a:defRPr/>
                      </a:pPr>
                      <a:r>
                        <a:rPr lang="en-US" sz="1500">
                          <a:solidFill>
                            <a:srgbClr val="000000"/>
                          </a:solidFill>
                          <a:latin typeface="Canva Sans"/>
                          <a:ea typeface="Canva Sans"/>
                          <a:cs typeface="Canva Sans"/>
                          <a:sym typeface="Canva Sans"/>
                        </a:rPr>
                        <a:t>test_push_frame()</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BFECAC"/>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Verify that a CAN frame is successfully added to the logger's ring buffer.</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BFECAC"/>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The ring buffer contains one frame with the expected CAN identifier after calling write_log().</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BFECAC"/>
                    </a:solidFill>
                  </a:tcPr>
                </a:tc>
              </a:tr>
              <a:tr h="618466">
                <a:tc>
                  <a:txBody>
                    <a:bodyPr anchor="t" rtlCol="false"/>
                    <a:lstStyle/>
                    <a:p>
                      <a:pPr algn="l">
                        <a:lnSpc>
                          <a:spcPts val="2100"/>
                        </a:lnSpc>
                        <a:defRPr/>
                      </a:pPr>
                      <a:r>
                        <a:rPr lang="en-US" sz="1500">
                          <a:solidFill>
                            <a:srgbClr val="000000"/>
                          </a:solidFill>
                          <a:latin typeface="Canva Sans"/>
                          <a:ea typeface="Canva Sans"/>
                          <a:cs typeface="Canva Sans"/>
                          <a:sym typeface="Canva Sans"/>
                        </a:rPr>
                        <a:t>test_stop()</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Verify proper shutdown of the logger service and flushing of buffered log data.</a:t>
                      </a:r>
                      <a:endParaRPr lang="en-US" sz="1100"/>
                    </a:p>
                  </a:txBody>
                  <a:tcPr marL="0" marR="0" marT="0" marB="0" anchor="ctr">
                    <a:lnL cmpd="sng" algn="ctr" cap="flat" w="9525">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8CB946"/>
                    </a:solidFill>
                  </a:tcPr>
                </a:tc>
                <a:tc>
                  <a:txBody>
                    <a:bodyPr anchor="t" rtlCol="false"/>
                    <a:lstStyle/>
                    <a:p>
                      <a:pPr algn="l">
                        <a:lnSpc>
                          <a:spcPts val="2100"/>
                        </a:lnSpc>
                        <a:defRPr/>
                      </a:pPr>
                      <a:r>
                        <a:rPr lang="en-US" sz="1500">
                          <a:solidFill>
                            <a:srgbClr val="000000"/>
                          </a:solidFill>
                          <a:latin typeface="Canva Sans"/>
                          <a:ea typeface="Canva Sans"/>
                          <a:cs typeface="Canva Sans"/>
                          <a:sym typeface="Canva Sans"/>
                        </a:rPr>
                        <a:t>The CSV writer is invoked to write pending logs before the logger stops.</a:t>
                      </a:r>
                      <a:endParaRPr lang="en-US" sz="1100"/>
                    </a:p>
                  </a:txBody>
                  <a:tcPr marL="0" marR="0" marT="0" marB="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0">
                      <a:solidFill>
                        <a:srgbClr val="D9D9D9"/>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8CB946"/>
                    </a:solidFill>
                  </a:tcPr>
                </a:tc>
              </a:tr>
            </a:tbl>
          </a:graphicData>
        </a:graphic>
      </p:graphicFrame>
      <p:grpSp>
        <p:nvGrpSpPr>
          <p:cNvPr name="Group 10" id="10"/>
          <p:cNvGrpSpPr/>
          <p:nvPr/>
        </p:nvGrpSpPr>
        <p:grpSpPr>
          <a:xfrm rot="0">
            <a:off x="15325725" y="9491367"/>
            <a:ext cx="1299210" cy="357077"/>
            <a:chOff x="0" y="0"/>
            <a:chExt cx="1732280" cy="476102"/>
          </a:xfrm>
        </p:grpSpPr>
        <p:sp>
          <p:nvSpPr>
            <p:cNvPr name="Freeform 11" id="11"/>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4">
                <a:alphaModFix amt="0"/>
              </a:blip>
              <a:stretch>
                <a:fillRect l="0" t="-20895" r="0" b="-20894"/>
              </a:stretch>
            </a:blipFill>
          </p:spPr>
        </p:sp>
        <p:sp>
          <p:nvSpPr>
            <p:cNvPr name="TextBox 12" id="12"/>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13" id="13"/>
          <p:cNvGrpSpPr/>
          <p:nvPr/>
        </p:nvGrpSpPr>
        <p:grpSpPr>
          <a:xfrm rot="0">
            <a:off x="926309" y="9491358"/>
            <a:ext cx="2807304" cy="493053"/>
            <a:chOff x="0" y="0"/>
            <a:chExt cx="3743072" cy="657404"/>
          </a:xfrm>
        </p:grpSpPr>
        <p:sp>
          <p:nvSpPr>
            <p:cNvPr name="Freeform 14" id="14"/>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16" id="16"/>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04624"/>
            <a:ext cx="11298184"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Nine </a:t>
            </a:r>
            <a:r>
              <a:rPr lang="en-US" b="true" sz="4200" spc="-30">
                <a:solidFill>
                  <a:srgbClr val="E6E7E8"/>
                </a:solidFill>
                <a:latin typeface="Work Sans Medium"/>
                <a:ea typeface="Work Sans Medium"/>
                <a:cs typeface="Work Sans Medium"/>
                <a:sym typeface="Work Sans Medium"/>
              </a:rPr>
              <a:t>Use Cases the Platform Must Support</a:t>
            </a:r>
          </a:p>
        </p:txBody>
      </p:sp>
      <p:grpSp>
        <p:nvGrpSpPr>
          <p:cNvPr name="Group 4" id="4"/>
          <p:cNvGrpSpPr/>
          <p:nvPr/>
        </p:nvGrpSpPr>
        <p:grpSpPr>
          <a:xfrm rot="0">
            <a:off x="950119" y="2519963"/>
            <a:ext cx="3221050" cy="4157662"/>
            <a:chOff x="0" y="0"/>
            <a:chExt cx="4294734" cy="5543550"/>
          </a:xfrm>
        </p:grpSpPr>
        <p:sp>
          <p:nvSpPr>
            <p:cNvPr name="Freeform 5" id="5"/>
            <p:cNvSpPr/>
            <p:nvPr/>
          </p:nvSpPr>
          <p:spPr>
            <a:xfrm flipH="false" flipV="false" rot="0">
              <a:off x="0" y="0"/>
              <a:ext cx="4294759" cy="5543550"/>
            </a:xfrm>
            <a:custGeom>
              <a:avLst/>
              <a:gdLst/>
              <a:ahLst/>
              <a:cxnLst/>
              <a:rect r="r" b="b" t="t" l="l"/>
              <a:pathLst>
                <a:path h="5543550" w="4294759">
                  <a:moveTo>
                    <a:pt x="0" y="0"/>
                  </a:moveTo>
                  <a:lnTo>
                    <a:pt x="4294759" y="0"/>
                  </a:lnTo>
                  <a:lnTo>
                    <a:pt x="4294759" y="5543550"/>
                  </a:lnTo>
                  <a:lnTo>
                    <a:pt x="0" y="5543550"/>
                  </a:lnTo>
                  <a:close/>
                </a:path>
              </a:pathLst>
            </a:custGeom>
            <a:solidFill>
              <a:srgbClr val="B0FF45"/>
            </a:solidFill>
          </p:spPr>
        </p:sp>
      </p:grpSp>
      <p:grpSp>
        <p:nvGrpSpPr>
          <p:cNvPr name="Group 6" id="6"/>
          <p:cNvGrpSpPr/>
          <p:nvPr/>
        </p:nvGrpSpPr>
        <p:grpSpPr>
          <a:xfrm rot="0">
            <a:off x="4274344" y="2519963"/>
            <a:ext cx="3183731" cy="2032987"/>
            <a:chOff x="0" y="0"/>
            <a:chExt cx="4244975" cy="2710650"/>
          </a:xfrm>
        </p:grpSpPr>
        <p:sp>
          <p:nvSpPr>
            <p:cNvPr name="Freeform 7" id="7"/>
            <p:cNvSpPr/>
            <p:nvPr/>
          </p:nvSpPr>
          <p:spPr>
            <a:xfrm flipH="false" flipV="false" rot="0">
              <a:off x="0" y="0"/>
              <a:ext cx="4244975" cy="2710688"/>
            </a:xfrm>
            <a:custGeom>
              <a:avLst/>
              <a:gdLst/>
              <a:ahLst/>
              <a:cxnLst/>
              <a:rect r="r" b="b" t="t" l="l"/>
              <a:pathLst>
                <a:path h="2710688" w="4244975">
                  <a:moveTo>
                    <a:pt x="0" y="0"/>
                  </a:moveTo>
                  <a:lnTo>
                    <a:pt x="4244975" y="0"/>
                  </a:lnTo>
                  <a:lnTo>
                    <a:pt x="4244975" y="2710688"/>
                  </a:lnTo>
                  <a:lnTo>
                    <a:pt x="0" y="2710688"/>
                  </a:lnTo>
                  <a:close/>
                </a:path>
              </a:pathLst>
            </a:custGeom>
            <a:solidFill>
              <a:srgbClr val="B0FF45"/>
            </a:solidFill>
          </p:spPr>
        </p:sp>
      </p:grpSp>
      <p:grpSp>
        <p:nvGrpSpPr>
          <p:cNvPr name="Group 8" id="8"/>
          <p:cNvGrpSpPr/>
          <p:nvPr/>
        </p:nvGrpSpPr>
        <p:grpSpPr>
          <a:xfrm rot="0">
            <a:off x="4274344" y="4644628"/>
            <a:ext cx="3183731" cy="2032987"/>
            <a:chOff x="0" y="0"/>
            <a:chExt cx="4244975" cy="2710650"/>
          </a:xfrm>
        </p:grpSpPr>
        <p:sp>
          <p:nvSpPr>
            <p:cNvPr name="Freeform 9" id="9"/>
            <p:cNvSpPr/>
            <p:nvPr/>
          </p:nvSpPr>
          <p:spPr>
            <a:xfrm flipH="false" flipV="false" rot="0">
              <a:off x="0" y="0"/>
              <a:ext cx="4244975" cy="2710688"/>
            </a:xfrm>
            <a:custGeom>
              <a:avLst/>
              <a:gdLst/>
              <a:ahLst/>
              <a:cxnLst/>
              <a:rect r="r" b="b" t="t" l="l"/>
              <a:pathLst>
                <a:path h="2710688" w="4244975">
                  <a:moveTo>
                    <a:pt x="0" y="0"/>
                  </a:moveTo>
                  <a:lnTo>
                    <a:pt x="4244975" y="0"/>
                  </a:lnTo>
                  <a:lnTo>
                    <a:pt x="4244975" y="2710688"/>
                  </a:lnTo>
                  <a:lnTo>
                    <a:pt x="0" y="2710688"/>
                  </a:lnTo>
                  <a:close/>
                </a:path>
              </a:pathLst>
            </a:custGeom>
            <a:solidFill>
              <a:srgbClr val="B0FF45"/>
            </a:solidFill>
          </p:spPr>
        </p:sp>
      </p:grpSp>
      <p:grpSp>
        <p:nvGrpSpPr>
          <p:cNvPr name="Group 10" id="10"/>
          <p:cNvGrpSpPr/>
          <p:nvPr/>
        </p:nvGrpSpPr>
        <p:grpSpPr>
          <a:xfrm rot="0">
            <a:off x="7561250" y="2519963"/>
            <a:ext cx="3163900" cy="4157662"/>
            <a:chOff x="0" y="0"/>
            <a:chExt cx="4218534" cy="5543550"/>
          </a:xfrm>
        </p:grpSpPr>
        <p:sp>
          <p:nvSpPr>
            <p:cNvPr name="Freeform 11" id="11"/>
            <p:cNvSpPr/>
            <p:nvPr/>
          </p:nvSpPr>
          <p:spPr>
            <a:xfrm flipH="false" flipV="false" rot="0">
              <a:off x="0" y="0"/>
              <a:ext cx="4218559" cy="5543550"/>
            </a:xfrm>
            <a:custGeom>
              <a:avLst/>
              <a:gdLst/>
              <a:ahLst/>
              <a:cxnLst/>
              <a:rect r="r" b="b" t="t" l="l"/>
              <a:pathLst>
                <a:path h="5543550" w="4218559">
                  <a:moveTo>
                    <a:pt x="0" y="0"/>
                  </a:moveTo>
                  <a:lnTo>
                    <a:pt x="4218559" y="0"/>
                  </a:lnTo>
                  <a:lnTo>
                    <a:pt x="4218559" y="5543550"/>
                  </a:lnTo>
                  <a:lnTo>
                    <a:pt x="0" y="5543550"/>
                  </a:lnTo>
                  <a:close/>
                </a:path>
              </a:pathLst>
            </a:custGeom>
            <a:solidFill>
              <a:srgbClr val="8FDB00"/>
            </a:solidFill>
          </p:spPr>
        </p:sp>
      </p:grpSp>
      <p:grpSp>
        <p:nvGrpSpPr>
          <p:cNvPr name="Group 12" id="12"/>
          <p:cNvGrpSpPr/>
          <p:nvPr/>
        </p:nvGrpSpPr>
        <p:grpSpPr>
          <a:xfrm rot="0">
            <a:off x="10828325" y="2519963"/>
            <a:ext cx="3183731" cy="2032987"/>
            <a:chOff x="0" y="0"/>
            <a:chExt cx="4244975" cy="2710650"/>
          </a:xfrm>
        </p:grpSpPr>
        <p:sp>
          <p:nvSpPr>
            <p:cNvPr name="Freeform 13" id="13"/>
            <p:cNvSpPr/>
            <p:nvPr/>
          </p:nvSpPr>
          <p:spPr>
            <a:xfrm flipH="false" flipV="false" rot="0">
              <a:off x="0" y="0"/>
              <a:ext cx="4244975" cy="2710688"/>
            </a:xfrm>
            <a:custGeom>
              <a:avLst/>
              <a:gdLst/>
              <a:ahLst/>
              <a:cxnLst/>
              <a:rect r="r" b="b" t="t" l="l"/>
              <a:pathLst>
                <a:path h="2710688" w="4244975">
                  <a:moveTo>
                    <a:pt x="0" y="0"/>
                  </a:moveTo>
                  <a:lnTo>
                    <a:pt x="4244975" y="0"/>
                  </a:lnTo>
                  <a:lnTo>
                    <a:pt x="4244975" y="2710688"/>
                  </a:lnTo>
                  <a:lnTo>
                    <a:pt x="0" y="2710688"/>
                  </a:lnTo>
                  <a:close/>
                </a:path>
              </a:pathLst>
            </a:custGeom>
            <a:solidFill>
              <a:srgbClr val="428003"/>
            </a:solidFill>
          </p:spPr>
        </p:sp>
      </p:grpSp>
      <p:grpSp>
        <p:nvGrpSpPr>
          <p:cNvPr name="Group 14" id="14"/>
          <p:cNvGrpSpPr/>
          <p:nvPr/>
        </p:nvGrpSpPr>
        <p:grpSpPr>
          <a:xfrm rot="0">
            <a:off x="10828325" y="4644628"/>
            <a:ext cx="3183731" cy="2032987"/>
            <a:chOff x="0" y="0"/>
            <a:chExt cx="4244975" cy="2710650"/>
          </a:xfrm>
        </p:grpSpPr>
        <p:sp>
          <p:nvSpPr>
            <p:cNvPr name="Freeform 15" id="15"/>
            <p:cNvSpPr/>
            <p:nvPr/>
          </p:nvSpPr>
          <p:spPr>
            <a:xfrm flipH="false" flipV="false" rot="0">
              <a:off x="0" y="0"/>
              <a:ext cx="4244975" cy="2710688"/>
            </a:xfrm>
            <a:custGeom>
              <a:avLst/>
              <a:gdLst/>
              <a:ahLst/>
              <a:cxnLst/>
              <a:rect r="r" b="b" t="t" l="l"/>
              <a:pathLst>
                <a:path h="2710688" w="4244975">
                  <a:moveTo>
                    <a:pt x="0" y="0"/>
                  </a:moveTo>
                  <a:lnTo>
                    <a:pt x="4244975" y="0"/>
                  </a:lnTo>
                  <a:lnTo>
                    <a:pt x="4244975" y="2710688"/>
                  </a:lnTo>
                  <a:lnTo>
                    <a:pt x="0" y="2710688"/>
                  </a:lnTo>
                  <a:close/>
                </a:path>
              </a:pathLst>
            </a:custGeom>
            <a:solidFill>
              <a:srgbClr val="428003"/>
            </a:solidFill>
          </p:spPr>
        </p:sp>
      </p:grpSp>
      <p:grpSp>
        <p:nvGrpSpPr>
          <p:cNvPr name="Group 16" id="16"/>
          <p:cNvGrpSpPr/>
          <p:nvPr/>
        </p:nvGrpSpPr>
        <p:grpSpPr>
          <a:xfrm rot="0">
            <a:off x="14118422" y="2519963"/>
            <a:ext cx="3221050" cy="4157662"/>
            <a:chOff x="0" y="0"/>
            <a:chExt cx="4294734" cy="5543550"/>
          </a:xfrm>
        </p:grpSpPr>
        <p:sp>
          <p:nvSpPr>
            <p:cNvPr name="Freeform 17" id="17"/>
            <p:cNvSpPr/>
            <p:nvPr/>
          </p:nvSpPr>
          <p:spPr>
            <a:xfrm flipH="false" flipV="false" rot="0">
              <a:off x="0" y="0"/>
              <a:ext cx="4294759" cy="5543550"/>
            </a:xfrm>
            <a:custGeom>
              <a:avLst/>
              <a:gdLst/>
              <a:ahLst/>
              <a:cxnLst/>
              <a:rect r="r" b="b" t="t" l="l"/>
              <a:pathLst>
                <a:path h="5543550" w="4294759">
                  <a:moveTo>
                    <a:pt x="0" y="0"/>
                  </a:moveTo>
                  <a:lnTo>
                    <a:pt x="4294759" y="0"/>
                  </a:lnTo>
                  <a:lnTo>
                    <a:pt x="4294759" y="5543550"/>
                  </a:lnTo>
                  <a:lnTo>
                    <a:pt x="0" y="5543550"/>
                  </a:lnTo>
                  <a:close/>
                </a:path>
              </a:pathLst>
            </a:custGeom>
            <a:solidFill>
              <a:srgbClr val="428003"/>
            </a:solidFill>
          </p:spPr>
        </p:sp>
      </p:grpSp>
      <p:grpSp>
        <p:nvGrpSpPr>
          <p:cNvPr name="Group 18" id="18"/>
          <p:cNvGrpSpPr/>
          <p:nvPr/>
        </p:nvGrpSpPr>
        <p:grpSpPr>
          <a:xfrm rot="0">
            <a:off x="950119" y="6772294"/>
            <a:ext cx="8146256" cy="2282981"/>
            <a:chOff x="0" y="0"/>
            <a:chExt cx="10861675" cy="3043974"/>
          </a:xfrm>
        </p:grpSpPr>
        <p:sp>
          <p:nvSpPr>
            <p:cNvPr name="Freeform 19" id="19"/>
            <p:cNvSpPr/>
            <p:nvPr/>
          </p:nvSpPr>
          <p:spPr>
            <a:xfrm flipH="false" flipV="false" rot="0">
              <a:off x="0" y="0"/>
              <a:ext cx="10861675" cy="3043936"/>
            </a:xfrm>
            <a:custGeom>
              <a:avLst/>
              <a:gdLst/>
              <a:ahLst/>
              <a:cxnLst/>
              <a:rect r="r" b="b" t="t" l="l"/>
              <a:pathLst>
                <a:path h="3043936" w="10861675">
                  <a:moveTo>
                    <a:pt x="0" y="0"/>
                  </a:moveTo>
                  <a:lnTo>
                    <a:pt x="10861675" y="0"/>
                  </a:lnTo>
                  <a:lnTo>
                    <a:pt x="10861675" y="3043936"/>
                  </a:lnTo>
                  <a:lnTo>
                    <a:pt x="0" y="3043936"/>
                  </a:lnTo>
                  <a:close/>
                </a:path>
              </a:pathLst>
            </a:custGeom>
            <a:solidFill>
              <a:srgbClr val="753DFF"/>
            </a:solidFill>
          </p:spPr>
        </p:sp>
      </p:grpSp>
      <p:grpSp>
        <p:nvGrpSpPr>
          <p:cNvPr name="Group 20" id="20"/>
          <p:cNvGrpSpPr/>
          <p:nvPr/>
        </p:nvGrpSpPr>
        <p:grpSpPr>
          <a:xfrm rot="0">
            <a:off x="9193216" y="6772294"/>
            <a:ext cx="8146256" cy="2282981"/>
            <a:chOff x="0" y="0"/>
            <a:chExt cx="10861675" cy="3043974"/>
          </a:xfrm>
        </p:grpSpPr>
        <p:sp>
          <p:nvSpPr>
            <p:cNvPr name="Freeform 21" id="21"/>
            <p:cNvSpPr/>
            <p:nvPr/>
          </p:nvSpPr>
          <p:spPr>
            <a:xfrm flipH="false" flipV="false" rot="0">
              <a:off x="0" y="0"/>
              <a:ext cx="10861675" cy="3043936"/>
            </a:xfrm>
            <a:custGeom>
              <a:avLst/>
              <a:gdLst/>
              <a:ahLst/>
              <a:cxnLst/>
              <a:rect r="r" b="b" t="t" l="l"/>
              <a:pathLst>
                <a:path h="3043936" w="10861675">
                  <a:moveTo>
                    <a:pt x="0" y="0"/>
                  </a:moveTo>
                  <a:lnTo>
                    <a:pt x="10861675" y="0"/>
                  </a:lnTo>
                  <a:lnTo>
                    <a:pt x="10861675" y="3043936"/>
                  </a:lnTo>
                  <a:lnTo>
                    <a:pt x="0" y="3043936"/>
                  </a:lnTo>
                  <a:close/>
                </a:path>
              </a:pathLst>
            </a:custGeom>
            <a:solidFill>
              <a:srgbClr val="753DFF"/>
            </a:solidFill>
          </p:spPr>
        </p:sp>
      </p:grpSp>
      <p:sp>
        <p:nvSpPr>
          <p:cNvPr name="TextBox 22" id="22"/>
          <p:cNvSpPr txBox="true"/>
          <p:nvPr/>
        </p:nvSpPr>
        <p:spPr>
          <a:xfrm rot="0">
            <a:off x="979370" y="1538736"/>
            <a:ext cx="16319182" cy="364692"/>
          </a:xfrm>
          <a:prstGeom prst="rect">
            <a:avLst/>
          </a:prstGeom>
        </p:spPr>
        <p:txBody>
          <a:bodyPr anchor="t" rtlCol="false" tIns="0" lIns="0" bIns="0" rIns="0">
            <a:spAutoFit/>
          </a:bodyPr>
          <a:lstStyle/>
          <a:p>
            <a:pPr algn="l">
              <a:lnSpc>
                <a:spcPts val="2948"/>
              </a:lnSpc>
            </a:pPr>
            <a:r>
              <a:rPr lang="en-US" sz="2100">
                <a:solidFill>
                  <a:srgbClr val="FFFFFF"/>
                </a:solidFill>
                <a:latin typeface="Work Sans Light"/>
                <a:ea typeface="Work Sans Light"/>
                <a:cs typeface="Work Sans Light"/>
                <a:sym typeface="Work Sans Light"/>
              </a:rPr>
              <a:t>ACCEPTANCE</a:t>
            </a:r>
            <a:r>
              <a:rPr lang="en-US" sz="2100">
                <a:solidFill>
                  <a:srgbClr val="FFFFFF"/>
                </a:solidFill>
                <a:latin typeface="Work Sans Light"/>
                <a:ea typeface="Work Sans Light"/>
                <a:cs typeface="Work Sans Light"/>
                <a:sym typeface="Work Sans Light"/>
              </a:rPr>
              <a:t> &amp; USE-CASE VALIDATION</a:t>
            </a:r>
          </a:p>
        </p:txBody>
      </p:sp>
      <p:sp>
        <p:nvSpPr>
          <p:cNvPr name="TextBox 23" id="23"/>
          <p:cNvSpPr txBox="true"/>
          <p:nvPr/>
        </p:nvSpPr>
        <p:spPr>
          <a:xfrm rot="0">
            <a:off x="1226744" y="2670867"/>
            <a:ext cx="2026158" cy="361950"/>
          </a:xfrm>
          <a:prstGeom prst="rect">
            <a:avLst/>
          </a:prstGeom>
        </p:spPr>
        <p:txBody>
          <a:bodyPr anchor="t" rtlCol="false" tIns="0" lIns="0" bIns="0" rIns="0">
            <a:spAutoFit/>
          </a:bodyPr>
          <a:lstStyle/>
          <a:p>
            <a:pPr algn="l">
              <a:lnSpc>
                <a:spcPts val="2700"/>
              </a:lnSpc>
            </a:pPr>
            <a:r>
              <a:rPr lang="en-US" sz="2250">
                <a:solidFill>
                  <a:srgbClr val="000000"/>
                </a:solidFill>
                <a:latin typeface="Work Sans"/>
                <a:ea typeface="Work Sans"/>
                <a:cs typeface="Work Sans"/>
                <a:sym typeface="Work Sans"/>
              </a:rPr>
              <a:t>Mo</a:t>
            </a:r>
            <a:r>
              <a:rPr lang="en-US" sz="2250">
                <a:solidFill>
                  <a:srgbClr val="000000"/>
                </a:solidFill>
                <a:latin typeface="Work Sans"/>
                <a:ea typeface="Work Sans"/>
                <a:cs typeface="Work Sans"/>
                <a:sym typeface="Work Sans"/>
              </a:rPr>
              <a:t>nitor CAN</a:t>
            </a:r>
          </a:p>
        </p:txBody>
      </p:sp>
      <p:sp>
        <p:nvSpPr>
          <p:cNvPr name="TextBox 24" id="24"/>
          <p:cNvSpPr txBox="true"/>
          <p:nvPr/>
        </p:nvSpPr>
        <p:spPr>
          <a:xfrm rot="0">
            <a:off x="1226744" y="3516573"/>
            <a:ext cx="1828400" cy="1612011"/>
          </a:xfrm>
          <a:prstGeom prst="rect">
            <a:avLst/>
          </a:prstGeom>
        </p:spPr>
        <p:txBody>
          <a:bodyPr anchor="t" rtlCol="false" tIns="0" lIns="0" bIns="0" rIns="0">
            <a:spAutoFit/>
          </a:bodyPr>
          <a:lstStyle/>
          <a:p>
            <a:pPr algn="l">
              <a:lnSpc>
                <a:spcPts val="2592"/>
              </a:lnSpc>
            </a:pPr>
            <a:r>
              <a:rPr lang="en-US" sz="1800">
                <a:solidFill>
                  <a:srgbClr val="161718"/>
                </a:solidFill>
                <a:latin typeface="Work Sans"/>
                <a:ea typeface="Work Sans"/>
                <a:cs typeface="Work Sans"/>
                <a:sym typeface="Work Sans"/>
              </a:rPr>
              <a:t>Dec</a:t>
            </a:r>
            <a:r>
              <a:rPr lang="en-US" sz="1800">
                <a:solidFill>
                  <a:srgbClr val="161718"/>
                </a:solidFill>
                <a:latin typeface="Work Sans"/>
                <a:ea typeface="Work Sans"/>
                <a:cs typeface="Work Sans"/>
                <a:sym typeface="Work Sans"/>
              </a:rPr>
              <a:t>ode raw frames into RPM/Speed/Temp live on dashboard</a:t>
            </a:r>
          </a:p>
        </p:txBody>
      </p:sp>
      <p:sp>
        <p:nvSpPr>
          <p:cNvPr name="TextBox 25" id="25"/>
          <p:cNvSpPr txBox="true"/>
          <p:nvPr/>
        </p:nvSpPr>
        <p:spPr>
          <a:xfrm rot="0">
            <a:off x="4567542" y="2670867"/>
            <a:ext cx="2026158" cy="361950"/>
          </a:xfrm>
          <a:prstGeom prst="rect">
            <a:avLst/>
          </a:prstGeom>
        </p:spPr>
        <p:txBody>
          <a:bodyPr anchor="t" rtlCol="false" tIns="0" lIns="0" bIns="0" rIns="0">
            <a:spAutoFit/>
          </a:bodyPr>
          <a:lstStyle/>
          <a:p>
            <a:pPr algn="l">
              <a:lnSpc>
                <a:spcPts val="2700"/>
              </a:lnSpc>
            </a:pPr>
            <a:r>
              <a:rPr lang="en-US" sz="2250">
                <a:solidFill>
                  <a:srgbClr val="000000"/>
                </a:solidFill>
                <a:latin typeface="Work Sans"/>
                <a:ea typeface="Work Sans"/>
                <a:cs typeface="Work Sans"/>
                <a:sym typeface="Work Sans"/>
              </a:rPr>
              <a:t>R</a:t>
            </a:r>
            <a:r>
              <a:rPr lang="en-US" sz="2250">
                <a:solidFill>
                  <a:srgbClr val="000000"/>
                </a:solidFill>
                <a:latin typeface="Work Sans"/>
                <a:ea typeface="Work Sans"/>
                <a:cs typeface="Work Sans"/>
                <a:sym typeface="Work Sans"/>
              </a:rPr>
              <a:t>ead VIN</a:t>
            </a:r>
          </a:p>
        </p:txBody>
      </p:sp>
      <p:sp>
        <p:nvSpPr>
          <p:cNvPr name="TextBox 26" id="26"/>
          <p:cNvSpPr txBox="true"/>
          <p:nvPr/>
        </p:nvSpPr>
        <p:spPr>
          <a:xfrm rot="0">
            <a:off x="4567542" y="3216573"/>
            <a:ext cx="2646597" cy="1288161"/>
          </a:xfrm>
          <a:prstGeom prst="rect">
            <a:avLst/>
          </a:prstGeom>
        </p:spPr>
        <p:txBody>
          <a:bodyPr anchor="t" rtlCol="false" tIns="0" lIns="0" bIns="0" rIns="0">
            <a:spAutoFit/>
          </a:bodyPr>
          <a:lstStyle/>
          <a:p>
            <a:pPr algn="l">
              <a:lnSpc>
                <a:spcPts val="2592"/>
              </a:lnSpc>
            </a:pPr>
            <a:r>
              <a:rPr lang="en-US" sz="1800">
                <a:solidFill>
                  <a:srgbClr val="000000"/>
                </a:solidFill>
                <a:latin typeface="Work Sans"/>
                <a:ea typeface="Work Sans"/>
                <a:cs typeface="Work Sans"/>
                <a:sym typeface="Work Sans"/>
              </a:rPr>
              <a:t>0x22</a:t>
            </a:r>
            <a:r>
              <a:rPr lang="en-US" sz="1800">
                <a:solidFill>
                  <a:srgbClr val="000000"/>
                </a:solidFill>
                <a:latin typeface="Work Sans"/>
                <a:ea typeface="Work Sans"/>
                <a:cs typeface="Work Sans"/>
                <a:sym typeface="Work Sans"/>
              </a:rPr>
              <a:t> + DID over multi-frame ISO-TP reassembly (17-char ASCII)</a:t>
            </a:r>
          </a:p>
        </p:txBody>
      </p:sp>
      <p:sp>
        <p:nvSpPr>
          <p:cNvPr name="TextBox 27" id="27"/>
          <p:cNvSpPr txBox="true"/>
          <p:nvPr/>
        </p:nvSpPr>
        <p:spPr>
          <a:xfrm rot="0">
            <a:off x="4567542" y="4809268"/>
            <a:ext cx="2026158" cy="361950"/>
          </a:xfrm>
          <a:prstGeom prst="rect">
            <a:avLst/>
          </a:prstGeom>
        </p:spPr>
        <p:txBody>
          <a:bodyPr anchor="t" rtlCol="false" tIns="0" lIns="0" bIns="0" rIns="0">
            <a:spAutoFit/>
          </a:bodyPr>
          <a:lstStyle/>
          <a:p>
            <a:pPr algn="l">
              <a:lnSpc>
                <a:spcPts val="2700"/>
              </a:lnSpc>
            </a:pPr>
            <a:r>
              <a:rPr lang="en-US" sz="2250">
                <a:solidFill>
                  <a:srgbClr val="000000"/>
                </a:solidFill>
                <a:latin typeface="Work Sans"/>
                <a:ea typeface="Work Sans"/>
                <a:cs typeface="Work Sans"/>
                <a:sym typeface="Work Sans"/>
              </a:rPr>
              <a:t>Log Signal</a:t>
            </a:r>
          </a:p>
        </p:txBody>
      </p:sp>
      <p:sp>
        <p:nvSpPr>
          <p:cNvPr name="TextBox 28" id="28"/>
          <p:cNvSpPr txBox="true"/>
          <p:nvPr/>
        </p:nvSpPr>
        <p:spPr>
          <a:xfrm rot="0">
            <a:off x="4567542" y="5218843"/>
            <a:ext cx="2646597" cy="1288161"/>
          </a:xfrm>
          <a:prstGeom prst="rect">
            <a:avLst/>
          </a:prstGeom>
        </p:spPr>
        <p:txBody>
          <a:bodyPr anchor="t" rtlCol="false" tIns="0" lIns="0" bIns="0" rIns="0">
            <a:spAutoFit/>
          </a:bodyPr>
          <a:lstStyle/>
          <a:p>
            <a:pPr algn="l">
              <a:lnSpc>
                <a:spcPts val="2592"/>
              </a:lnSpc>
            </a:pPr>
            <a:r>
              <a:rPr lang="en-US" sz="1800">
                <a:solidFill>
                  <a:srgbClr val="000000"/>
                </a:solidFill>
                <a:latin typeface="Work Sans"/>
                <a:ea typeface="Work Sans"/>
                <a:cs typeface="Work Sans"/>
                <a:sym typeface="Work Sans"/>
              </a:rPr>
              <a:t>Rin</a:t>
            </a:r>
            <a:r>
              <a:rPr lang="en-US" sz="1800">
                <a:solidFill>
                  <a:srgbClr val="000000"/>
                </a:solidFill>
                <a:latin typeface="Work Sans"/>
                <a:ea typeface="Work Sans"/>
                <a:cs typeface="Work Sans"/>
                <a:sym typeface="Work Sans"/>
              </a:rPr>
              <a:t>g-buffer → 500ms flush → rotate at 100MB for offline analysis</a:t>
            </a:r>
          </a:p>
        </p:txBody>
      </p:sp>
      <p:sp>
        <p:nvSpPr>
          <p:cNvPr name="TextBox 29" id="29"/>
          <p:cNvSpPr txBox="true"/>
          <p:nvPr/>
        </p:nvSpPr>
        <p:spPr>
          <a:xfrm rot="0">
            <a:off x="7815663" y="2670867"/>
            <a:ext cx="2026158" cy="704850"/>
          </a:xfrm>
          <a:prstGeom prst="rect">
            <a:avLst/>
          </a:prstGeom>
        </p:spPr>
        <p:txBody>
          <a:bodyPr anchor="t" rtlCol="false" tIns="0" lIns="0" bIns="0" rIns="0">
            <a:spAutoFit/>
          </a:bodyPr>
          <a:lstStyle/>
          <a:p>
            <a:pPr algn="l">
              <a:lnSpc>
                <a:spcPts val="2700"/>
              </a:lnSpc>
            </a:pPr>
            <a:r>
              <a:rPr lang="en-US" sz="2250">
                <a:solidFill>
                  <a:srgbClr val="161718"/>
                </a:solidFill>
                <a:latin typeface="Work Sans"/>
                <a:ea typeface="Work Sans"/>
                <a:cs typeface="Work Sans"/>
                <a:sym typeface="Work Sans"/>
              </a:rPr>
              <a:t>Simulate ECU Nodes</a:t>
            </a:r>
          </a:p>
        </p:txBody>
      </p:sp>
      <p:sp>
        <p:nvSpPr>
          <p:cNvPr name="TextBox 30" id="30"/>
          <p:cNvSpPr txBox="true"/>
          <p:nvPr/>
        </p:nvSpPr>
        <p:spPr>
          <a:xfrm rot="0">
            <a:off x="7815663" y="3516573"/>
            <a:ext cx="2026158" cy="1288161"/>
          </a:xfrm>
          <a:prstGeom prst="rect">
            <a:avLst/>
          </a:prstGeom>
        </p:spPr>
        <p:txBody>
          <a:bodyPr anchor="t" rtlCol="false" tIns="0" lIns="0" bIns="0" rIns="0">
            <a:spAutoFit/>
          </a:bodyPr>
          <a:lstStyle/>
          <a:p>
            <a:pPr algn="l">
              <a:lnSpc>
                <a:spcPts val="2592"/>
              </a:lnSpc>
            </a:pPr>
            <a:r>
              <a:rPr lang="en-US" sz="1800">
                <a:solidFill>
                  <a:srgbClr val="161718"/>
                </a:solidFill>
                <a:latin typeface="Work Sans"/>
                <a:ea typeface="Work Sans"/>
                <a:cs typeface="Work Sans"/>
                <a:sym typeface="Work Sans"/>
              </a:rPr>
              <a:t>Inject</a:t>
            </a:r>
            <a:r>
              <a:rPr lang="en-US" sz="1800">
                <a:solidFill>
                  <a:srgbClr val="161718"/>
                </a:solidFill>
                <a:latin typeface="Work Sans"/>
                <a:ea typeface="Work Sans"/>
                <a:cs typeface="Work Sans"/>
                <a:sym typeface="Work Sans"/>
              </a:rPr>
              <a:t> cyclic Ramp/Sine traffic to stand in for missing hardware</a:t>
            </a:r>
          </a:p>
        </p:txBody>
      </p:sp>
      <p:sp>
        <p:nvSpPr>
          <p:cNvPr name="TextBox 31" id="31"/>
          <p:cNvSpPr txBox="true"/>
          <p:nvPr/>
        </p:nvSpPr>
        <p:spPr>
          <a:xfrm rot="0">
            <a:off x="11116323" y="2670867"/>
            <a:ext cx="2026158"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E</a:t>
            </a:r>
            <a:r>
              <a:rPr lang="en-US" sz="2250">
                <a:solidFill>
                  <a:srgbClr val="FFFFFF"/>
                </a:solidFill>
                <a:latin typeface="Work Sans"/>
                <a:ea typeface="Work Sans"/>
                <a:cs typeface="Work Sans"/>
                <a:sym typeface="Work Sans"/>
              </a:rPr>
              <a:t>CU Reset</a:t>
            </a:r>
          </a:p>
        </p:txBody>
      </p:sp>
      <p:sp>
        <p:nvSpPr>
          <p:cNvPr name="TextBox 32" id="32"/>
          <p:cNvSpPr txBox="true"/>
          <p:nvPr/>
        </p:nvSpPr>
        <p:spPr>
          <a:xfrm rot="0">
            <a:off x="11125200" y="3170830"/>
            <a:ext cx="2646597" cy="1288161"/>
          </a:xfrm>
          <a:prstGeom prst="rect">
            <a:avLst/>
          </a:prstGeom>
        </p:spPr>
        <p:txBody>
          <a:bodyPr anchor="t" rtlCol="false" tIns="0" lIns="0" bIns="0" rIns="0">
            <a:spAutoFit/>
          </a:bodyPr>
          <a:lstStyle/>
          <a:p>
            <a:pPr algn="l">
              <a:lnSpc>
                <a:spcPts val="2592"/>
              </a:lnSpc>
            </a:pPr>
            <a:r>
              <a:rPr lang="en-US" sz="1800">
                <a:solidFill>
                  <a:srgbClr val="FFFFFF"/>
                </a:solidFill>
                <a:latin typeface="Work Sans"/>
                <a:ea typeface="Work Sans"/>
                <a:cs typeface="Work Sans"/>
                <a:sym typeface="Work Sans"/>
              </a:rPr>
              <a:t>UDS Service 0x11</a:t>
            </a:r>
          </a:p>
          <a:p>
            <a:pPr algn="l">
              <a:lnSpc>
                <a:spcPts val="2592"/>
              </a:lnSpc>
            </a:pPr>
            <a:r>
              <a:rPr lang="en-US" sz="1800">
                <a:solidFill>
                  <a:srgbClr val="FFFFFF"/>
                </a:solidFill>
                <a:latin typeface="Work Sans"/>
                <a:ea typeface="Work Sans"/>
                <a:cs typeface="Work Sans"/>
                <a:sym typeface="Work Sans"/>
              </a:rPr>
              <a:t>Soft / Hard ECU reset</a:t>
            </a:r>
          </a:p>
          <a:p>
            <a:pPr algn="l">
              <a:lnSpc>
                <a:spcPts val="2592"/>
              </a:lnSpc>
            </a:pPr>
            <a:r>
              <a:rPr lang="en-US" sz="1800">
                <a:solidFill>
                  <a:srgbClr val="FFFFFF"/>
                </a:solidFill>
                <a:latin typeface="Work Sans"/>
                <a:ea typeface="Work Sans"/>
                <a:cs typeface="Work Sans"/>
                <a:sym typeface="Work Sans"/>
              </a:rPr>
              <a:t>Restart ECU state</a:t>
            </a:r>
          </a:p>
          <a:p>
            <a:pPr algn="l">
              <a:lnSpc>
                <a:spcPts val="2592"/>
              </a:lnSpc>
            </a:pPr>
          </a:p>
        </p:txBody>
      </p:sp>
      <p:sp>
        <p:nvSpPr>
          <p:cNvPr name="TextBox 33" id="33"/>
          <p:cNvSpPr txBox="true"/>
          <p:nvPr/>
        </p:nvSpPr>
        <p:spPr>
          <a:xfrm rot="0">
            <a:off x="11116323" y="4809268"/>
            <a:ext cx="2395928"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Secu</a:t>
            </a:r>
            <a:r>
              <a:rPr lang="en-US" sz="2250">
                <a:solidFill>
                  <a:srgbClr val="FFFFFF"/>
                </a:solidFill>
                <a:latin typeface="Work Sans"/>
                <a:ea typeface="Work Sans"/>
                <a:cs typeface="Work Sans"/>
                <a:sym typeface="Work Sans"/>
              </a:rPr>
              <a:t>rity Access</a:t>
            </a:r>
          </a:p>
        </p:txBody>
      </p:sp>
      <p:sp>
        <p:nvSpPr>
          <p:cNvPr name="TextBox 34" id="34"/>
          <p:cNvSpPr txBox="true"/>
          <p:nvPr/>
        </p:nvSpPr>
        <p:spPr>
          <a:xfrm rot="0">
            <a:off x="11125200" y="5218843"/>
            <a:ext cx="2784310" cy="1288161"/>
          </a:xfrm>
          <a:prstGeom prst="rect">
            <a:avLst/>
          </a:prstGeom>
        </p:spPr>
        <p:txBody>
          <a:bodyPr anchor="t" rtlCol="false" tIns="0" lIns="0" bIns="0" rIns="0">
            <a:spAutoFit/>
          </a:bodyPr>
          <a:lstStyle/>
          <a:p>
            <a:pPr algn="l">
              <a:lnSpc>
                <a:spcPts val="2592"/>
              </a:lnSpc>
            </a:pPr>
            <a:r>
              <a:rPr lang="en-US" sz="1800">
                <a:solidFill>
                  <a:srgbClr val="FFFFFF"/>
                </a:solidFill>
                <a:latin typeface="Work Sans"/>
                <a:ea typeface="Work Sans"/>
                <a:cs typeface="Work Sans"/>
                <a:sym typeface="Work Sans"/>
              </a:rPr>
              <a:t>UDS Service 0x27</a:t>
            </a:r>
          </a:p>
          <a:p>
            <a:pPr algn="l">
              <a:lnSpc>
                <a:spcPts val="2592"/>
              </a:lnSpc>
            </a:pPr>
            <a:r>
              <a:rPr lang="en-US" sz="1800">
                <a:solidFill>
                  <a:srgbClr val="FFFFFF"/>
                </a:solidFill>
                <a:latin typeface="Work Sans"/>
                <a:ea typeface="Work Sans"/>
                <a:cs typeface="Work Sans"/>
                <a:sym typeface="Work Sans"/>
              </a:rPr>
              <a:t>Seed-Key authentication</a:t>
            </a:r>
          </a:p>
          <a:p>
            <a:pPr algn="l">
              <a:lnSpc>
                <a:spcPts val="2592"/>
              </a:lnSpc>
            </a:pPr>
            <a:r>
              <a:rPr lang="en-US" sz="1800">
                <a:solidFill>
                  <a:srgbClr val="FFFFFF"/>
                </a:solidFill>
                <a:latin typeface="Work Sans"/>
                <a:ea typeface="Work Sans"/>
                <a:cs typeface="Work Sans"/>
                <a:sym typeface="Work Sans"/>
              </a:rPr>
              <a:t>Unlock protected services</a:t>
            </a:r>
          </a:p>
        </p:txBody>
      </p:sp>
      <p:sp>
        <p:nvSpPr>
          <p:cNvPr name="TextBox 35" id="35"/>
          <p:cNvSpPr txBox="true"/>
          <p:nvPr/>
        </p:nvSpPr>
        <p:spPr>
          <a:xfrm rot="0">
            <a:off x="14378740" y="2670867"/>
            <a:ext cx="2026158" cy="7048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Read &amp; </a:t>
            </a:r>
            <a:r>
              <a:rPr lang="en-US" sz="2250">
                <a:solidFill>
                  <a:srgbClr val="FFFFFF"/>
                </a:solidFill>
                <a:latin typeface="Work Sans"/>
                <a:ea typeface="Work Sans"/>
                <a:cs typeface="Work Sans"/>
                <a:sym typeface="Work Sans"/>
              </a:rPr>
              <a:t>Clear DTCs</a:t>
            </a:r>
          </a:p>
        </p:txBody>
      </p:sp>
      <p:sp>
        <p:nvSpPr>
          <p:cNvPr name="TextBox 36" id="36"/>
          <p:cNvSpPr txBox="true"/>
          <p:nvPr/>
        </p:nvSpPr>
        <p:spPr>
          <a:xfrm rot="0">
            <a:off x="14378740" y="3516573"/>
            <a:ext cx="2646597" cy="1288161"/>
          </a:xfrm>
          <a:prstGeom prst="rect">
            <a:avLst/>
          </a:prstGeom>
        </p:spPr>
        <p:txBody>
          <a:bodyPr anchor="t" rtlCol="false" tIns="0" lIns="0" bIns="0" rIns="0">
            <a:spAutoFit/>
          </a:bodyPr>
          <a:lstStyle/>
          <a:p>
            <a:pPr algn="l">
              <a:lnSpc>
                <a:spcPts val="2592"/>
              </a:lnSpc>
            </a:pPr>
            <a:r>
              <a:rPr lang="en-US" sz="1800">
                <a:solidFill>
                  <a:srgbClr val="FFFFFF"/>
                </a:solidFill>
                <a:latin typeface="Work Sans"/>
                <a:ea typeface="Work Sans"/>
                <a:cs typeface="Work Sans"/>
                <a:sym typeface="Work Sans"/>
              </a:rPr>
              <a:t>0x19</a:t>
            </a:r>
            <a:r>
              <a:rPr lang="en-US" sz="1800">
                <a:solidFill>
                  <a:srgbClr val="FFFFFF"/>
                </a:solidFill>
                <a:latin typeface="Work Sans"/>
                <a:ea typeface="Work Sans"/>
                <a:cs typeface="Work Sans"/>
                <a:sym typeface="Work Sans"/>
              </a:rPr>
              <a:t> fault scan → P0335-style codes; 0x14 clears EEPROM memory</a:t>
            </a:r>
          </a:p>
        </p:txBody>
      </p:sp>
      <p:sp>
        <p:nvSpPr>
          <p:cNvPr name="TextBox 37" id="37"/>
          <p:cNvSpPr txBox="true"/>
          <p:nvPr/>
        </p:nvSpPr>
        <p:spPr>
          <a:xfrm rot="0">
            <a:off x="1426145" y="7191975"/>
            <a:ext cx="2852976"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Change Session</a:t>
            </a:r>
          </a:p>
        </p:txBody>
      </p:sp>
      <p:sp>
        <p:nvSpPr>
          <p:cNvPr name="TextBox 38" id="38"/>
          <p:cNvSpPr txBox="true"/>
          <p:nvPr/>
        </p:nvSpPr>
        <p:spPr>
          <a:xfrm rot="0">
            <a:off x="1426145" y="7535599"/>
            <a:ext cx="7079704" cy="964311"/>
          </a:xfrm>
          <a:prstGeom prst="rect">
            <a:avLst/>
          </a:prstGeom>
        </p:spPr>
        <p:txBody>
          <a:bodyPr anchor="t" rtlCol="false" tIns="0" lIns="0" bIns="0" rIns="0">
            <a:spAutoFit/>
          </a:bodyPr>
          <a:lstStyle/>
          <a:p>
            <a:pPr algn="l">
              <a:lnSpc>
                <a:spcPts val="2592"/>
              </a:lnSpc>
            </a:pPr>
            <a:r>
              <a:rPr lang="en-US" sz="1800">
                <a:solidFill>
                  <a:srgbClr val="FFFFFF"/>
                </a:solidFill>
                <a:latin typeface="Work Sans"/>
                <a:ea typeface="Work Sans"/>
                <a:cs typeface="Work Sans"/>
                <a:sym typeface="Work Sans"/>
              </a:rPr>
              <a:t>UDS</a:t>
            </a:r>
            <a:r>
              <a:rPr lang="en-US" sz="1800">
                <a:solidFill>
                  <a:srgbClr val="FFFFFF"/>
                </a:solidFill>
                <a:latin typeface="Work Sans"/>
                <a:ea typeface="Work Sans"/>
                <a:cs typeface="Work Sans"/>
                <a:sym typeface="Work Sans"/>
              </a:rPr>
              <a:t> Service 0x10</a:t>
            </a:r>
          </a:p>
          <a:p>
            <a:pPr algn="l">
              <a:lnSpc>
                <a:spcPts val="2592"/>
              </a:lnSpc>
            </a:pPr>
            <a:r>
              <a:rPr lang="en-US" sz="1800">
                <a:solidFill>
                  <a:srgbClr val="FFFFFF"/>
                </a:solidFill>
                <a:latin typeface="Work Sans"/>
                <a:ea typeface="Work Sans"/>
                <a:cs typeface="Work Sans"/>
                <a:sym typeface="Work Sans"/>
              </a:rPr>
              <a:t>Switch Default / Extended / Programming</a:t>
            </a:r>
          </a:p>
          <a:p>
            <a:pPr algn="l">
              <a:lnSpc>
                <a:spcPts val="2592"/>
              </a:lnSpc>
            </a:pPr>
            <a:r>
              <a:rPr lang="en-US" sz="1800">
                <a:solidFill>
                  <a:srgbClr val="FFFFFF"/>
                </a:solidFill>
                <a:latin typeface="Work Sans"/>
                <a:ea typeface="Work Sans"/>
                <a:cs typeface="Work Sans"/>
                <a:sym typeface="Work Sans"/>
              </a:rPr>
              <a:t>Enable advanced diagnostic functions</a:t>
            </a:r>
          </a:p>
        </p:txBody>
      </p:sp>
      <p:sp>
        <p:nvSpPr>
          <p:cNvPr name="TextBox 39" id="39"/>
          <p:cNvSpPr txBox="true"/>
          <p:nvPr/>
        </p:nvSpPr>
        <p:spPr>
          <a:xfrm rot="0">
            <a:off x="9459801" y="7126024"/>
            <a:ext cx="3616619"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Read ECU I</a:t>
            </a:r>
            <a:r>
              <a:rPr lang="en-US" sz="2250">
                <a:solidFill>
                  <a:srgbClr val="FFFFFF"/>
                </a:solidFill>
                <a:latin typeface="Work Sans"/>
                <a:ea typeface="Work Sans"/>
                <a:cs typeface="Work Sans"/>
                <a:sym typeface="Work Sans"/>
              </a:rPr>
              <a:t>nformation</a:t>
            </a:r>
          </a:p>
        </p:txBody>
      </p:sp>
      <p:sp>
        <p:nvSpPr>
          <p:cNvPr name="TextBox 40" id="40"/>
          <p:cNvSpPr txBox="true"/>
          <p:nvPr/>
        </p:nvSpPr>
        <p:spPr>
          <a:xfrm rot="0">
            <a:off x="9459801" y="7646508"/>
            <a:ext cx="7233237" cy="964311"/>
          </a:xfrm>
          <a:prstGeom prst="rect">
            <a:avLst/>
          </a:prstGeom>
        </p:spPr>
        <p:txBody>
          <a:bodyPr anchor="t" rtlCol="false" tIns="0" lIns="0" bIns="0" rIns="0">
            <a:spAutoFit/>
          </a:bodyPr>
          <a:lstStyle/>
          <a:p>
            <a:pPr algn="l">
              <a:lnSpc>
                <a:spcPts val="2592"/>
              </a:lnSpc>
            </a:pPr>
            <a:r>
              <a:rPr lang="en-US" sz="1800">
                <a:solidFill>
                  <a:srgbClr val="FFFFFF"/>
                </a:solidFill>
                <a:latin typeface="Work Sans"/>
                <a:ea typeface="Work Sans"/>
                <a:cs typeface="Work Sans"/>
                <a:sym typeface="Work Sans"/>
              </a:rPr>
              <a:t>R</a:t>
            </a:r>
            <a:r>
              <a:rPr lang="en-US" sz="1800">
                <a:solidFill>
                  <a:srgbClr val="FFFFFF"/>
                </a:solidFill>
                <a:latin typeface="Work Sans"/>
                <a:ea typeface="Work Sans"/>
                <a:cs typeface="Work Sans"/>
                <a:sym typeface="Work Sans"/>
              </a:rPr>
              <a:t>ead ECU Identification</a:t>
            </a:r>
          </a:p>
          <a:p>
            <a:pPr algn="l">
              <a:lnSpc>
                <a:spcPts val="2592"/>
              </a:lnSpc>
            </a:pPr>
            <a:r>
              <a:rPr lang="en-US" sz="1800">
                <a:solidFill>
                  <a:srgbClr val="FFFFFF"/>
                </a:solidFill>
                <a:latin typeface="Work Sans"/>
                <a:ea typeface="Work Sans"/>
                <a:cs typeface="Work Sans"/>
                <a:sym typeface="Work Sans"/>
              </a:rPr>
              <a:t>Software &amp; Hardware Version</a:t>
            </a:r>
          </a:p>
          <a:p>
            <a:pPr algn="l">
              <a:lnSpc>
                <a:spcPts val="2592"/>
              </a:lnSpc>
            </a:pPr>
            <a:r>
              <a:rPr lang="en-US" sz="1800">
                <a:solidFill>
                  <a:srgbClr val="FFFFFF"/>
                </a:solidFill>
                <a:latin typeface="Work Sans"/>
                <a:ea typeface="Work Sans"/>
                <a:cs typeface="Work Sans"/>
                <a:sym typeface="Work Sans"/>
              </a:rPr>
              <a:t>Calibration Information</a:t>
            </a:r>
          </a:p>
        </p:txBody>
      </p:sp>
      <p:grpSp>
        <p:nvGrpSpPr>
          <p:cNvPr name="Group 41" id="41"/>
          <p:cNvGrpSpPr/>
          <p:nvPr/>
        </p:nvGrpSpPr>
        <p:grpSpPr>
          <a:xfrm rot="0">
            <a:off x="16784479" y="9491358"/>
            <a:ext cx="697335" cy="357088"/>
            <a:chOff x="0" y="0"/>
            <a:chExt cx="929780" cy="476118"/>
          </a:xfrm>
        </p:grpSpPr>
        <p:sp>
          <p:nvSpPr>
            <p:cNvPr name="Freeform 42" id="42"/>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43" id="43"/>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30</a:t>
              </a:r>
            </a:p>
          </p:txBody>
        </p:sp>
      </p:grpSp>
      <p:sp>
        <p:nvSpPr>
          <p:cNvPr name="Freeform 44" id="44"/>
          <p:cNvSpPr/>
          <p:nvPr/>
        </p:nvSpPr>
        <p:spPr>
          <a:xfrm flipH="false" flipV="false" rot="0">
            <a:off x="3700272" y="2642759"/>
            <a:ext cx="368294" cy="367198"/>
          </a:xfrm>
          <a:custGeom>
            <a:avLst/>
            <a:gdLst/>
            <a:ahLst/>
            <a:cxnLst/>
            <a:rect r="r" b="b" t="t" l="l"/>
            <a:pathLst>
              <a:path h="367198" w="368294">
                <a:moveTo>
                  <a:pt x="0" y="0"/>
                </a:moveTo>
                <a:lnTo>
                  <a:pt x="368294" y="0"/>
                </a:lnTo>
                <a:lnTo>
                  <a:pt x="368294" y="367198"/>
                </a:lnTo>
                <a:lnTo>
                  <a:pt x="0" y="367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0">
            <a:off x="6985740" y="2636558"/>
            <a:ext cx="367198" cy="367198"/>
          </a:xfrm>
          <a:custGeom>
            <a:avLst/>
            <a:gdLst/>
            <a:ahLst/>
            <a:cxnLst/>
            <a:rect r="r" b="b" t="t" l="l"/>
            <a:pathLst>
              <a:path h="367198" w="367198">
                <a:moveTo>
                  <a:pt x="0" y="0"/>
                </a:moveTo>
                <a:lnTo>
                  <a:pt x="367198" y="0"/>
                </a:lnTo>
                <a:lnTo>
                  <a:pt x="367198" y="367198"/>
                </a:lnTo>
                <a:lnTo>
                  <a:pt x="0" y="3671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6" id="46"/>
          <p:cNvSpPr/>
          <p:nvPr/>
        </p:nvSpPr>
        <p:spPr>
          <a:xfrm flipH="false" flipV="false" rot="0">
            <a:off x="13512251" y="4786074"/>
            <a:ext cx="397259" cy="367198"/>
          </a:xfrm>
          <a:custGeom>
            <a:avLst/>
            <a:gdLst/>
            <a:ahLst/>
            <a:cxnLst/>
            <a:rect r="r" b="b" t="t" l="l"/>
            <a:pathLst>
              <a:path h="367198" w="397259">
                <a:moveTo>
                  <a:pt x="0" y="0"/>
                </a:moveTo>
                <a:lnTo>
                  <a:pt x="397259" y="0"/>
                </a:lnTo>
                <a:lnTo>
                  <a:pt x="397259" y="367199"/>
                </a:lnTo>
                <a:lnTo>
                  <a:pt x="0" y="3671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7" id="47"/>
          <p:cNvSpPr/>
          <p:nvPr/>
        </p:nvSpPr>
        <p:spPr>
          <a:xfrm flipH="false" flipV="false" rot="0">
            <a:off x="13539206" y="2635444"/>
            <a:ext cx="367198" cy="316468"/>
          </a:xfrm>
          <a:custGeom>
            <a:avLst/>
            <a:gdLst/>
            <a:ahLst/>
            <a:cxnLst/>
            <a:rect r="r" b="b" t="t" l="l"/>
            <a:pathLst>
              <a:path h="316468" w="367198">
                <a:moveTo>
                  <a:pt x="0" y="0"/>
                </a:moveTo>
                <a:lnTo>
                  <a:pt x="367199" y="0"/>
                </a:lnTo>
                <a:lnTo>
                  <a:pt x="367199" y="316468"/>
                </a:lnTo>
                <a:lnTo>
                  <a:pt x="0" y="3164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8" id="48"/>
          <p:cNvSpPr/>
          <p:nvPr/>
        </p:nvSpPr>
        <p:spPr>
          <a:xfrm flipH="false" flipV="false" rot="0">
            <a:off x="16865003" y="2627043"/>
            <a:ext cx="367198" cy="335137"/>
          </a:xfrm>
          <a:custGeom>
            <a:avLst/>
            <a:gdLst/>
            <a:ahLst/>
            <a:cxnLst/>
            <a:rect r="r" b="b" t="t" l="l"/>
            <a:pathLst>
              <a:path h="335137" w="367198">
                <a:moveTo>
                  <a:pt x="0" y="0"/>
                </a:moveTo>
                <a:lnTo>
                  <a:pt x="367198" y="0"/>
                </a:lnTo>
                <a:lnTo>
                  <a:pt x="367198" y="335137"/>
                </a:lnTo>
                <a:lnTo>
                  <a:pt x="0" y="33513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9" id="49"/>
          <p:cNvSpPr/>
          <p:nvPr/>
        </p:nvSpPr>
        <p:spPr>
          <a:xfrm flipH="false" flipV="false" rot="0">
            <a:off x="8684028" y="6913959"/>
            <a:ext cx="290246" cy="367198"/>
          </a:xfrm>
          <a:custGeom>
            <a:avLst/>
            <a:gdLst/>
            <a:ahLst/>
            <a:cxnLst/>
            <a:rect r="r" b="b" t="t" l="l"/>
            <a:pathLst>
              <a:path h="367198" w="290246">
                <a:moveTo>
                  <a:pt x="0" y="0"/>
                </a:moveTo>
                <a:lnTo>
                  <a:pt x="290246" y="0"/>
                </a:lnTo>
                <a:lnTo>
                  <a:pt x="290246" y="367199"/>
                </a:lnTo>
                <a:lnTo>
                  <a:pt x="0" y="3671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0" id="50"/>
          <p:cNvSpPr/>
          <p:nvPr/>
        </p:nvSpPr>
        <p:spPr>
          <a:xfrm flipH="false" flipV="false" rot="0">
            <a:off x="16830713" y="6916055"/>
            <a:ext cx="367198" cy="366598"/>
          </a:xfrm>
          <a:custGeom>
            <a:avLst/>
            <a:gdLst/>
            <a:ahLst/>
            <a:cxnLst/>
            <a:rect r="r" b="b" t="t" l="l"/>
            <a:pathLst>
              <a:path h="366598" w="367198">
                <a:moveTo>
                  <a:pt x="0" y="0"/>
                </a:moveTo>
                <a:lnTo>
                  <a:pt x="367198" y="0"/>
                </a:lnTo>
                <a:lnTo>
                  <a:pt x="367198" y="366598"/>
                </a:lnTo>
                <a:lnTo>
                  <a:pt x="0" y="3665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51" id="51"/>
          <p:cNvSpPr/>
          <p:nvPr/>
        </p:nvSpPr>
        <p:spPr>
          <a:xfrm flipH="false" flipV="false" rot="0">
            <a:off x="10239994" y="2638215"/>
            <a:ext cx="367198" cy="329879"/>
          </a:xfrm>
          <a:custGeom>
            <a:avLst/>
            <a:gdLst/>
            <a:ahLst/>
            <a:cxnLst/>
            <a:rect r="r" b="b" t="t" l="l"/>
            <a:pathLst>
              <a:path h="329879" w="367198">
                <a:moveTo>
                  <a:pt x="0" y="0"/>
                </a:moveTo>
                <a:lnTo>
                  <a:pt x="367198" y="0"/>
                </a:lnTo>
                <a:lnTo>
                  <a:pt x="367198" y="329880"/>
                </a:lnTo>
                <a:lnTo>
                  <a:pt x="0" y="32988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52" id="52"/>
          <p:cNvSpPr/>
          <p:nvPr/>
        </p:nvSpPr>
        <p:spPr>
          <a:xfrm flipH="false" flipV="false" rot="0">
            <a:off x="6957270" y="4781274"/>
            <a:ext cx="367198" cy="365389"/>
          </a:xfrm>
          <a:custGeom>
            <a:avLst/>
            <a:gdLst/>
            <a:ahLst/>
            <a:cxnLst/>
            <a:rect r="r" b="b" t="t" l="l"/>
            <a:pathLst>
              <a:path h="365389" w="367198">
                <a:moveTo>
                  <a:pt x="0" y="0"/>
                </a:moveTo>
                <a:lnTo>
                  <a:pt x="367198" y="0"/>
                </a:lnTo>
                <a:lnTo>
                  <a:pt x="367198" y="365388"/>
                </a:lnTo>
                <a:lnTo>
                  <a:pt x="0" y="36538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AutoShape 53" id="53"/>
          <p:cNvSpPr/>
          <p:nvPr/>
        </p:nvSpPr>
        <p:spPr>
          <a:xfrm flipV="true">
            <a:off x="896036" y="1476137"/>
            <a:ext cx="5429263" cy="0"/>
          </a:xfrm>
          <a:prstGeom prst="line">
            <a:avLst/>
          </a:prstGeom>
          <a:ln cap="flat" w="38100">
            <a:solidFill>
              <a:srgbClr val="8FDB00"/>
            </a:solidFill>
            <a:prstDash val="solid"/>
            <a:headEnd type="none" len="sm" w="sm"/>
            <a:tailEnd type="oval" len="lg" w="lg"/>
          </a:ln>
        </p:spPr>
      </p:sp>
      <p:grpSp>
        <p:nvGrpSpPr>
          <p:cNvPr name="Group 54" id="54"/>
          <p:cNvGrpSpPr/>
          <p:nvPr/>
        </p:nvGrpSpPr>
        <p:grpSpPr>
          <a:xfrm rot="0">
            <a:off x="14549864" y="38108"/>
            <a:ext cx="3531112" cy="688007"/>
            <a:chOff x="0" y="0"/>
            <a:chExt cx="4708150" cy="917342"/>
          </a:xfrm>
        </p:grpSpPr>
        <p:sp>
          <p:nvSpPr>
            <p:cNvPr name="Freeform 55" id="55"/>
            <p:cNvSpPr/>
            <p:nvPr/>
          </p:nvSpPr>
          <p:spPr>
            <a:xfrm flipH="false" flipV="false" rot="0">
              <a:off x="0" y="0"/>
              <a:ext cx="4708150" cy="917342"/>
            </a:xfrm>
            <a:custGeom>
              <a:avLst/>
              <a:gdLst/>
              <a:ahLst/>
              <a:cxnLst/>
              <a:rect r="r" b="b" t="t" l="l"/>
              <a:pathLst>
                <a:path h="917342" w="4708150">
                  <a:moveTo>
                    <a:pt x="0" y="0"/>
                  </a:moveTo>
                  <a:lnTo>
                    <a:pt x="4708150" y="0"/>
                  </a:lnTo>
                  <a:lnTo>
                    <a:pt x="4708150" y="917342"/>
                  </a:lnTo>
                  <a:lnTo>
                    <a:pt x="0" y="917342"/>
                  </a:lnTo>
                  <a:lnTo>
                    <a:pt x="0" y="0"/>
                  </a:lnTo>
                  <a:close/>
                </a:path>
              </a:pathLst>
            </a:custGeom>
            <a:blipFill>
              <a:blip r:embed="rId22"/>
              <a:stretch>
                <a:fillRect l="0" t="-1644" r="0" b="-1644"/>
              </a:stretch>
            </a:blipFill>
            <a:ln cap="sq">
              <a:noFill/>
              <a:prstDash val="solid"/>
              <a:miter/>
            </a:ln>
          </p:spPr>
        </p:sp>
        <p:sp>
          <p:nvSpPr>
            <p:cNvPr name="TextBox 56" id="56"/>
            <p:cNvSpPr txBox="true"/>
            <p:nvPr/>
          </p:nvSpPr>
          <p:spPr>
            <a:xfrm rot="0">
              <a:off x="761007" y="221722"/>
              <a:ext cx="3947143" cy="426273"/>
            </a:xfrm>
            <a:prstGeom prst="rect">
              <a:avLst/>
            </a:prstGeom>
          </p:spPr>
          <p:txBody>
            <a:bodyPr anchor="t" rtlCol="false" tIns="0" lIns="0" bIns="0" rIns="0">
              <a:spAutoFit/>
            </a:bodyPr>
            <a:lstStyle/>
            <a:p>
              <a:pPr algn="l">
                <a:lnSpc>
                  <a:spcPts val="2676"/>
                </a:lnSpc>
              </a:pPr>
              <a:r>
                <a:rPr lang="en-US" sz="1906" b="true">
                  <a:solidFill>
                    <a:srgbClr val="FFFFFF"/>
                  </a:solidFill>
                  <a:latin typeface="Work Sans Bold"/>
                  <a:ea typeface="Work Sans Bold"/>
                  <a:cs typeface="Work Sans Bold"/>
                  <a:sym typeface="Work Sans Bold"/>
                </a:rPr>
                <a:t>V MODEL           </a:t>
              </a:r>
              <a:r>
                <a:rPr lang="en-US" sz="1906" b="true">
                  <a:solidFill>
                    <a:srgbClr val="B0FF45"/>
                  </a:solidFill>
                  <a:latin typeface="Work Sans Bold"/>
                  <a:ea typeface="Work Sans Bold"/>
                  <a:cs typeface="Work Sans Bold"/>
                  <a:sym typeface="Work Sans Bold"/>
                </a:rPr>
                <a:t> 8/8</a:t>
              </a:r>
            </a:p>
          </p:txBody>
        </p:sp>
      </p:grpSp>
      <p:grpSp>
        <p:nvGrpSpPr>
          <p:cNvPr name="Group 57" id="57"/>
          <p:cNvGrpSpPr/>
          <p:nvPr/>
        </p:nvGrpSpPr>
        <p:grpSpPr>
          <a:xfrm rot="0">
            <a:off x="15325725" y="9491367"/>
            <a:ext cx="1299210" cy="357077"/>
            <a:chOff x="0" y="0"/>
            <a:chExt cx="1732280" cy="476102"/>
          </a:xfrm>
        </p:grpSpPr>
        <p:sp>
          <p:nvSpPr>
            <p:cNvPr name="Freeform 58" id="58"/>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59" id="59"/>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60" id="60"/>
          <p:cNvGrpSpPr/>
          <p:nvPr/>
        </p:nvGrpSpPr>
        <p:grpSpPr>
          <a:xfrm rot="0">
            <a:off x="926309" y="9491358"/>
            <a:ext cx="2807304" cy="493053"/>
            <a:chOff x="0" y="0"/>
            <a:chExt cx="3743072" cy="657404"/>
          </a:xfrm>
        </p:grpSpPr>
        <p:sp>
          <p:nvSpPr>
            <p:cNvPr name="Freeform 61" id="61"/>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62" id="62"/>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63" id="63"/>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6171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TextBox 3" id="3"/>
          <p:cNvSpPr txBox="true"/>
          <p:nvPr/>
        </p:nvSpPr>
        <p:spPr>
          <a:xfrm rot="0">
            <a:off x="897626" y="818912"/>
            <a:ext cx="16492747" cy="638175"/>
          </a:xfrm>
          <a:prstGeom prst="rect">
            <a:avLst/>
          </a:prstGeom>
        </p:spPr>
        <p:txBody>
          <a:bodyPr anchor="t" rtlCol="false" tIns="0" lIns="0" bIns="0" rIns="0">
            <a:spAutoFit/>
          </a:bodyPr>
          <a:lstStyle/>
          <a:p>
            <a:pPr algn="l">
              <a:lnSpc>
                <a:spcPts val="5040"/>
              </a:lnSpc>
            </a:pPr>
            <a:r>
              <a:rPr lang="en-US" b="true" sz="4200" spc="-30">
                <a:solidFill>
                  <a:srgbClr val="E6E7E8"/>
                </a:solidFill>
                <a:latin typeface="Work Sans Medium"/>
                <a:ea typeface="Work Sans Medium"/>
                <a:cs typeface="Work Sans Medium"/>
                <a:sym typeface="Work Sans Medium"/>
              </a:rPr>
              <a:t>Prob</a:t>
            </a:r>
            <a:r>
              <a:rPr lang="en-US" b="true" sz="4200" spc="-30">
                <a:solidFill>
                  <a:srgbClr val="E6E7E8"/>
                </a:solidFill>
                <a:latin typeface="Work Sans Medium"/>
                <a:ea typeface="Work Sans Medium"/>
                <a:cs typeface="Work Sans Medium"/>
                <a:sym typeface="Work Sans Medium"/>
              </a:rPr>
              <a:t>lem Faced &amp; Solution:</a:t>
            </a:r>
          </a:p>
        </p:txBody>
      </p:sp>
      <p:sp>
        <p:nvSpPr>
          <p:cNvPr name="TextBox 4" id="4"/>
          <p:cNvSpPr txBox="true"/>
          <p:nvPr/>
        </p:nvSpPr>
        <p:spPr>
          <a:xfrm rot="0">
            <a:off x="2334578" y="2416150"/>
            <a:ext cx="3789045"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CAN Frame Reflecti</a:t>
            </a:r>
            <a:r>
              <a:rPr lang="en-US" sz="2250">
                <a:solidFill>
                  <a:srgbClr val="FFFFFF"/>
                </a:solidFill>
                <a:latin typeface="Work Sans"/>
                <a:ea typeface="Work Sans"/>
                <a:cs typeface="Work Sans"/>
                <a:sym typeface="Work Sans"/>
              </a:rPr>
              <a:t>on</a:t>
            </a:r>
          </a:p>
        </p:txBody>
      </p:sp>
      <p:sp>
        <p:nvSpPr>
          <p:cNvPr name="TextBox 5" id="5"/>
          <p:cNvSpPr txBox="true"/>
          <p:nvPr/>
        </p:nvSpPr>
        <p:spPr>
          <a:xfrm rot="0">
            <a:off x="2064968" y="2711425"/>
            <a:ext cx="4328265" cy="3427095"/>
          </a:xfrm>
          <a:prstGeom prst="rect">
            <a:avLst/>
          </a:prstGeom>
        </p:spPr>
        <p:txBody>
          <a:bodyPr anchor="t" rtlCol="false" tIns="0" lIns="0" bIns="0" rIns="0">
            <a:spAutoFit/>
          </a:bodyPr>
          <a:lstStyle/>
          <a:p>
            <a:pPr algn="l" marL="388620" indent="-194310" lvl="1">
              <a:lnSpc>
                <a:spcPts val="2700"/>
              </a:lnSpc>
              <a:buFont typeface="Arial"/>
              <a:buChar char="•"/>
            </a:pPr>
            <a:r>
              <a:rPr lang="en-US" sz="1800">
                <a:solidFill>
                  <a:srgbClr val="FFFFFF"/>
                </a:solidFill>
                <a:latin typeface="Work Sans"/>
                <a:ea typeface="Work Sans"/>
                <a:cs typeface="Work Sans"/>
                <a:sym typeface="Work Sans"/>
              </a:rPr>
              <a:t>Challenge: CAN frames were being reflected </a:t>
            </a:r>
            <a:r>
              <a:rPr lang="en-US" sz="1800">
                <a:solidFill>
                  <a:srgbClr val="FFFFFF"/>
                </a:solidFill>
                <a:latin typeface="Work Sans"/>
                <a:ea typeface="Work Sans"/>
                <a:cs typeface="Work Sans"/>
                <a:sym typeface="Work Sans"/>
              </a:rPr>
              <a:t>on the bus, leading to unexpected communication behavior.</a:t>
            </a:r>
          </a:p>
          <a:p>
            <a:pPr algn="l" marL="388620" indent="-194310" lvl="1">
              <a:lnSpc>
                <a:spcPts val="2700"/>
              </a:lnSpc>
              <a:buFont typeface="Arial"/>
              <a:buChar char="•"/>
            </a:pPr>
            <a:r>
              <a:rPr lang="en-US" sz="1800">
                <a:solidFill>
                  <a:srgbClr val="FFFFFF"/>
                </a:solidFill>
                <a:latin typeface="Work Sans"/>
                <a:ea typeface="Work Sans"/>
                <a:cs typeface="Work Sans"/>
                <a:sym typeface="Work Sans"/>
              </a:rPr>
              <a:t>Solution: Added 120 Ω termination resistors at both the ECU and tester ends to properly terminate the CAN bus and eliminate signal reflections.</a:t>
            </a:r>
          </a:p>
          <a:p>
            <a:pPr algn="l">
              <a:lnSpc>
                <a:spcPts val="2700"/>
              </a:lnSpc>
            </a:pPr>
          </a:p>
        </p:txBody>
      </p:sp>
      <p:sp>
        <p:nvSpPr>
          <p:cNvPr name="TextBox 6" id="6"/>
          <p:cNvSpPr txBox="true"/>
          <p:nvPr/>
        </p:nvSpPr>
        <p:spPr>
          <a:xfrm rot="0">
            <a:off x="8056883" y="2378050"/>
            <a:ext cx="3789045" cy="7048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Excessive Bus-</a:t>
            </a:r>
            <a:r>
              <a:rPr lang="en-US" sz="2250">
                <a:solidFill>
                  <a:srgbClr val="FFFFFF"/>
                </a:solidFill>
                <a:latin typeface="Work Sans"/>
                <a:ea typeface="Work Sans"/>
                <a:cs typeface="Work Sans"/>
                <a:sym typeface="Work Sans"/>
              </a:rPr>
              <a:t>Off Error Logging</a:t>
            </a:r>
          </a:p>
        </p:txBody>
      </p:sp>
      <p:sp>
        <p:nvSpPr>
          <p:cNvPr name="TextBox 7" id="7"/>
          <p:cNvSpPr txBox="true"/>
          <p:nvPr/>
        </p:nvSpPr>
        <p:spPr>
          <a:xfrm rot="0">
            <a:off x="7805054" y="3077766"/>
            <a:ext cx="4411252" cy="3084195"/>
          </a:xfrm>
          <a:prstGeom prst="rect">
            <a:avLst/>
          </a:prstGeom>
        </p:spPr>
        <p:txBody>
          <a:bodyPr anchor="t" rtlCol="false" tIns="0" lIns="0" bIns="0" rIns="0">
            <a:spAutoFit/>
          </a:bodyPr>
          <a:lstStyle/>
          <a:p>
            <a:pPr algn="l" marL="388620" indent="-194310" lvl="1">
              <a:lnSpc>
                <a:spcPts val="2700"/>
              </a:lnSpc>
              <a:buFont typeface="Arial"/>
              <a:buChar char="•"/>
            </a:pPr>
            <a:r>
              <a:rPr lang="en-US" sz="1800">
                <a:solidFill>
                  <a:srgbClr val="FFFFFF"/>
                </a:solidFill>
                <a:latin typeface="Work Sans"/>
                <a:ea typeface="Work Sans"/>
                <a:cs typeface="Work Sans"/>
                <a:sym typeface="Work Sans"/>
              </a:rPr>
              <a:t>Challeng</a:t>
            </a:r>
            <a:r>
              <a:rPr lang="en-US" sz="1800">
                <a:solidFill>
                  <a:srgbClr val="FFFFFF"/>
                </a:solidFill>
                <a:latin typeface="Work Sans"/>
                <a:ea typeface="Work Sans"/>
                <a:cs typeface="Work Sans"/>
                <a:sym typeface="Work Sans"/>
              </a:rPr>
              <a:t>e: Continuous Bus-Off errors flooded the log files, making debugging difficult and increasing log size.</a:t>
            </a:r>
          </a:p>
          <a:p>
            <a:pPr algn="l" marL="388620" indent="-194310" lvl="1">
              <a:lnSpc>
                <a:spcPts val="2700"/>
              </a:lnSpc>
              <a:buFont typeface="Arial"/>
              <a:buChar char="•"/>
            </a:pPr>
            <a:r>
              <a:rPr lang="en-US" sz="1800">
                <a:solidFill>
                  <a:srgbClr val="FFFFFF"/>
                </a:solidFill>
                <a:latin typeface="Work Sans"/>
                <a:ea typeface="Work Sans"/>
                <a:cs typeface="Work Sans"/>
                <a:sym typeface="Work Sans"/>
              </a:rPr>
              <a:t>Solution: Implemented rate limiting for recurring error messages, ensuring only meaningful error events are logged.</a:t>
            </a:r>
          </a:p>
          <a:p>
            <a:pPr algn="l">
              <a:lnSpc>
                <a:spcPts val="2700"/>
              </a:lnSpc>
            </a:pPr>
          </a:p>
        </p:txBody>
      </p:sp>
      <p:sp>
        <p:nvSpPr>
          <p:cNvPr name="TextBox 8" id="8"/>
          <p:cNvSpPr txBox="true"/>
          <p:nvPr/>
        </p:nvSpPr>
        <p:spPr>
          <a:xfrm rot="0">
            <a:off x="13774836" y="2416150"/>
            <a:ext cx="3789045" cy="3619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Dashboard</a:t>
            </a:r>
            <a:r>
              <a:rPr lang="en-US" sz="2250">
                <a:solidFill>
                  <a:srgbClr val="FFFFFF"/>
                </a:solidFill>
                <a:latin typeface="Work Sans"/>
                <a:ea typeface="Work Sans"/>
                <a:cs typeface="Work Sans"/>
                <a:sym typeface="Work Sans"/>
              </a:rPr>
              <a:t> Latency:</a:t>
            </a:r>
          </a:p>
        </p:txBody>
      </p:sp>
      <p:sp>
        <p:nvSpPr>
          <p:cNvPr name="TextBox 9" id="9"/>
          <p:cNvSpPr txBox="true"/>
          <p:nvPr/>
        </p:nvSpPr>
        <p:spPr>
          <a:xfrm rot="0">
            <a:off x="13774836" y="2803265"/>
            <a:ext cx="4513164" cy="3427095"/>
          </a:xfrm>
          <a:prstGeom prst="rect">
            <a:avLst/>
          </a:prstGeom>
        </p:spPr>
        <p:txBody>
          <a:bodyPr anchor="t" rtlCol="false" tIns="0" lIns="0" bIns="0" rIns="0">
            <a:spAutoFit/>
          </a:bodyPr>
          <a:lstStyle/>
          <a:p>
            <a:pPr algn="l" marL="388620" indent="-194310" lvl="1">
              <a:lnSpc>
                <a:spcPts val="2700"/>
              </a:lnSpc>
              <a:buFont typeface="Arial"/>
              <a:buChar char="•"/>
            </a:pPr>
            <a:r>
              <a:rPr lang="en-US" sz="1800">
                <a:solidFill>
                  <a:srgbClr val="FFFFFF"/>
                </a:solidFill>
                <a:latin typeface="Work Sans"/>
                <a:ea typeface="Work Sans"/>
                <a:cs typeface="Work Sans"/>
                <a:sym typeface="Work Sans"/>
              </a:rPr>
              <a:t>Challenge: High lat</a:t>
            </a:r>
            <a:r>
              <a:rPr lang="en-US" sz="1800">
                <a:solidFill>
                  <a:srgbClr val="FFFFFF"/>
                </a:solidFill>
                <a:latin typeface="Work Sans"/>
                <a:ea typeface="Work Sans"/>
                <a:cs typeface="Work Sans"/>
                <a:sym typeface="Work Sans"/>
              </a:rPr>
              <a:t>ency in live dashboard updates due to WebSocket communication overhead.</a:t>
            </a:r>
          </a:p>
          <a:p>
            <a:pPr algn="l" marL="388620" indent="-194310" lvl="1">
              <a:lnSpc>
                <a:spcPts val="2700"/>
              </a:lnSpc>
              <a:buFont typeface="Arial"/>
              <a:buChar char="•"/>
            </a:pPr>
            <a:r>
              <a:rPr lang="en-US" sz="1800">
                <a:solidFill>
                  <a:srgbClr val="FFFFFF"/>
                </a:solidFill>
                <a:latin typeface="Work Sans"/>
                <a:ea typeface="Work Sans"/>
                <a:cs typeface="Work Sans"/>
                <a:sym typeface="Work Sans"/>
              </a:rPr>
              <a:t>Solution: Switched from WebSockets to a polling-based approach, resulting in more consistent and responsive dashboard updates.</a:t>
            </a:r>
          </a:p>
          <a:p>
            <a:pPr algn="l">
              <a:lnSpc>
                <a:spcPts val="2700"/>
              </a:lnSpc>
            </a:pPr>
          </a:p>
        </p:txBody>
      </p:sp>
      <p:sp>
        <p:nvSpPr>
          <p:cNvPr name="TextBox 10" id="10"/>
          <p:cNvSpPr txBox="true"/>
          <p:nvPr/>
        </p:nvSpPr>
        <p:spPr>
          <a:xfrm rot="0">
            <a:off x="4267838" y="6211310"/>
            <a:ext cx="3789045" cy="7048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Downloaded Z</a:t>
            </a:r>
            <a:r>
              <a:rPr lang="en-US" sz="2250">
                <a:solidFill>
                  <a:srgbClr val="FFFFFF"/>
                </a:solidFill>
                <a:latin typeface="Work Sans"/>
                <a:ea typeface="Work Sans"/>
                <a:cs typeface="Work Sans"/>
                <a:sym typeface="Work Sans"/>
              </a:rPr>
              <a:t>IP File Deletion Issue</a:t>
            </a:r>
          </a:p>
        </p:txBody>
      </p:sp>
      <p:sp>
        <p:nvSpPr>
          <p:cNvPr name="TextBox 11" id="11"/>
          <p:cNvSpPr txBox="true"/>
          <p:nvPr/>
        </p:nvSpPr>
        <p:spPr>
          <a:xfrm rot="0">
            <a:off x="4254608" y="7192470"/>
            <a:ext cx="3789045" cy="1815741"/>
          </a:xfrm>
          <a:prstGeom prst="rect">
            <a:avLst/>
          </a:prstGeom>
        </p:spPr>
        <p:txBody>
          <a:bodyPr anchor="t" rtlCol="false" tIns="0" lIns="0" bIns="0" rIns="0">
            <a:spAutoFit/>
          </a:bodyPr>
          <a:lstStyle/>
          <a:p>
            <a:pPr algn="l">
              <a:lnSpc>
                <a:spcPts val="2700"/>
              </a:lnSpc>
            </a:pPr>
            <a:r>
              <a:rPr lang="en-US" sz="1800">
                <a:solidFill>
                  <a:srgbClr val="FFFFFF"/>
                </a:solidFill>
                <a:latin typeface="Work Sans"/>
                <a:ea typeface="Work Sans"/>
                <a:cs typeface="Work Sans"/>
                <a:sym typeface="Work Sans"/>
              </a:rPr>
              <a:t>Lorem ipsum dolor sit amet, consectetuer adipiscing elit, sed diam nonummy nibh euismod tincidunt ut laoreet dolore magna aliquam erat volutpat. </a:t>
            </a:r>
          </a:p>
        </p:txBody>
      </p:sp>
      <p:sp>
        <p:nvSpPr>
          <p:cNvPr name="TextBox 12" id="12"/>
          <p:cNvSpPr txBox="true"/>
          <p:nvPr/>
        </p:nvSpPr>
        <p:spPr>
          <a:xfrm rot="0">
            <a:off x="10192166" y="6268460"/>
            <a:ext cx="3789045" cy="1047750"/>
          </a:xfrm>
          <a:prstGeom prst="rect">
            <a:avLst/>
          </a:prstGeom>
        </p:spPr>
        <p:txBody>
          <a:bodyPr anchor="t" rtlCol="false" tIns="0" lIns="0" bIns="0" rIns="0">
            <a:spAutoFit/>
          </a:bodyPr>
          <a:lstStyle/>
          <a:p>
            <a:pPr algn="l">
              <a:lnSpc>
                <a:spcPts val="2700"/>
              </a:lnSpc>
            </a:pPr>
            <a:r>
              <a:rPr lang="en-US" sz="2250">
                <a:solidFill>
                  <a:srgbClr val="FFFFFF"/>
                </a:solidFill>
                <a:latin typeface="Work Sans"/>
                <a:ea typeface="Work Sans"/>
                <a:cs typeface="Work Sans"/>
                <a:sym typeface="Work Sans"/>
              </a:rPr>
              <a:t>Encoder Masking error for extended can id in cantools</a:t>
            </a:r>
            <a:r>
              <a:rPr lang="en-US" sz="2250">
                <a:solidFill>
                  <a:srgbClr val="FFFFFF"/>
                </a:solidFill>
                <a:latin typeface="Work Sans"/>
                <a:ea typeface="Work Sans"/>
                <a:cs typeface="Work Sans"/>
                <a:sym typeface="Work Sans"/>
              </a:rPr>
              <a:t> library</a:t>
            </a:r>
          </a:p>
        </p:txBody>
      </p:sp>
      <p:grpSp>
        <p:nvGrpSpPr>
          <p:cNvPr name="Group 13" id="13"/>
          <p:cNvGrpSpPr/>
          <p:nvPr/>
        </p:nvGrpSpPr>
        <p:grpSpPr>
          <a:xfrm rot="0">
            <a:off x="16784479" y="9491358"/>
            <a:ext cx="697335" cy="357088"/>
            <a:chOff x="0" y="0"/>
            <a:chExt cx="929780" cy="476118"/>
          </a:xfrm>
        </p:grpSpPr>
        <p:sp>
          <p:nvSpPr>
            <p:cNvPr name="Freeform 14" id="14"/>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3">
                <a:alphaModFix amt="0"/>
              </a:blip>
              <a:stretch>
                <a:fillRect l="-15701" t="0" r="-15702" b="-2"/>
              </a:stretch>
            </a:blipFill>
          </p:spPr>
        </p:sp>
        <p:sp>
          <p:nvSpPr>
            <p:cNvPr name="TextBox 15" id="15"/>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31</a:t>
              </a:r>
            </a:p>
          </p:txBody>
        </p:sp>
      </p:grpSp>
      <p:sp>
        <p:nvSpPr>
          <p:cNvPr name="Freeform 16" id="16"/>
          <p:cNvSpPr/>
          <p:nvPr/>
        </p:nvSpPr>
        <p:spPr>
          <a:xfrm flipH="false" flipV="false" rot="0">
            <a:off x="950405" y="2503408"/>
            <a:ext cx="955796" cy="955796"/>
          </a:xfrm>
          <a:custGeom>
            <a:avLst/>
            <a:gdLst/>
            <a:ahLst/>
            <a:cxnLst/>
            <a:rect r="r" b="b" t="t" l="l"/>
            <a:pathLst>
              <a:path h="955796" w="955796">
                <a:moveTo>
                  <a:pt x="0" y="0"/>
                </a:moveTo>
                <a:lnTo>
                  <a:pt x="955795" y="0"/>
                </a:lnTo>
                <a:lnTo>
                  <a:pt x="955795" y="955796"/>
                </a:lnTo>
                <a:lnTo>
                  <a:pt x="0" y="9557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6662842" y="2503408"/>
            <a:ext cx="955796" cy="955796"/>
          </a:xfrm>
          <a:custGeom>
            <a:avLst/>
            <a:gdLst/>
            <a:ahLst/>
            <a:cxnLst/>
            <a:rect r="r" b="b" t="t" l="l"/>
            <a:pathLst>
              <a:path h="955796" w="955796">
                <a:moveTo>
                  <a:pt x="0" y="0"/>
                </a:moveTo>
                <a:lnTo>
                  <a:pt x="955796" y="0"/>
                </a:lnTo>
                <a:lnTo>
                  <a:pt x="955796" y="955796"/>
                </a:lnTo>
                <a:lnTo>
                  <a:pt x="0" y="9557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2402722" y="2503408"/>
            <a:ext cx="955796" cy="955796"/>
          </a:xfrm>
          <a:custGeom>
            <a:avLst/>
            <a:gdLst/>
            <a:ahLst/>
            <a:cxnLst/>
            <a:rect r="r" b="b" t="t" l="l"/>
            <a:pathLst>
              <a:path h="955796" w="955796">
                <a:moveTo>
                  <a:pt x="0" y="0"/>
                </a:moveTo>
                <a:lnTo>
                  <a:pt x="955795" y="0"/>
                </a:lnTo>
                <a:lnTo>
                  <a:pt x="955795" y="955796"/>
                </a:lnTo>
                <a:lnTo>
                  <a:pt x="0" y="9557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883665" y="6303350"/>
            <a:ext cx="955796" cy="955796"/>
          </a:xfrm>
          <a:custGeom>
            <a:avLst/>
            <a:gdLst/>
            <a:ahLst/>
            <a:cxnLst/>
            <a:rect r="r" b="b" t="t" l="l"/>
            <a:pathLst>
              <a:path h="955796" w="955796">
                <a:moveTo>
                  <a:pt x="0" y="0"/>
                </a:moveTo>
                <a:lnTo>
                  <a:pt x="955796" y="0"/>
                </a:lnTo>
                <a:lnTo>
                  <a:pt x="955796" y="955795"/>
                </a:lnTo>
                <a:lnTo>
                  <a:pt x="0" y="9557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8807746" y="6325610"/>
            <a:ext cx="955796" cy="955796"/>
          </a:xfrm>
          <a:custGeom>
            <a:avLst/>
            <a:gdLst/>
            <a:ahLst/>
            <a:cxnLst/>
            <a:rect r="r" b="b" t="t" l="l"/>
            <a:pathLst>
              <a:path h="955796" w="955796">
                <a:moveTo>
                  <a:pt x="0" y="0"/>
                </a:moveTo>
                <a:lnTo>
                  <a:pt x="955795" y="0"/>
                </a:lnTo>
                <a:lnTo>
                  <a:pt x="955795" y="955795"/>
                </a:lnTo>
                <a:lnTo>
                  <a:pt x="0" y="9557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AutoShape 21" id="21"/>
          <p:cNvSpPr/>
          <p:nvPr/>
        </p:nvSpPr>
        <p:spPr>
          <a:xfrm flipV="true">
            <a:off x="896036" y="1476137"/>
            <a:ext cx="5429263" cy="0"/>
          </a:xfrm>
          <a:prstGeom prst="line">
            <a:avLst/>
          </a:prstGeom>
          <a:ln cap="flat" w="38100">
            <a:solidFill>
              <a:srgbClr val="8FDB00"/>
            </a:solidFill>
            <a:prstDash val="solid"/>
            <a:headEnd type="none" len="sm" w="sm"/>
            <a:tailEnd type="oval" len="lg" w="lg"/>
          </a:ln>
        </p:spPr>
      </p:sp>
      <p:grpSp>
        <p:nvGrpSpPr>
          <p:cNvPr name="Group 22" id="22"/>
          <p:cNvGrpSpPr/>
          <p:nvPr/>
        </p:nvGrpSpPr>
        <p:grpSpPr>
          <a:xfrm rot="0">
            <a:off x="15325725" y="9491367"/>
            <a:ext cx="1299210" cy="357077"/>
            <a:chOff x="0" y="0"/>
            <a:chExt cx="1732280" cy="476102"/>
          </a:xfrm>
        </p:grpSpPr>
        <p:sp>
          <p:nvSpPr>
            <p:cNvPr name="Freeform 23" id="23"/>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3">
                <a:alphaModFix amt="0"/>
              </a:blip>
              <a:stretch>
                <a:fillRect l="0" t="-20895" r="0" b="-20894"/>
              </a:stretch>
            </a:blipFill>
          </p:spPr>
        </p:sp>
        <p:sp>
          <p:nvSpPr>
            <p:cNvPr name="TextBox 24" id="24"/>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grpSp>
        <p:nvGrpSpPr>
          <p:cNvPr name="Group 25" id="25"/>
          <p:cNvGrpSpPr/>
          <p:nvPr/>
        </p:nvGrpSpPr>
        <p:grpSpPr>
          <a:xfrm rot="0">
            <a:off x="926309" y="9491358"/>
            <a:ext cx="2807304" cy="493053"/>
            <a:chOff x="0" y="0"/>
            <a:chExt cx="3743072" cy="657404"/>
          </a:xfrm>
        </p:grpSpPr>
        <p:sp>
          <p:nvSpPr>
            <p:cNvPr name="Freeform 26" id="26"/>
            <p:cNvSpPr/>
            <p:nvPr/>
          </p:nvSpPr>
          <p:spPr>
            <a:xfrm flipH="false" flipV="false" rot="0">
              <a:off x="0" y="75178"/>
              <a:ext cx="1709493" cy="491566"/>
            </a:xfrm>
            <a:custGeom>
              <a:avLst/>
              <a:gdLst/>
              <a:ahLst/>
              <a:cxnLst/>
              <a:rect r="r" b="b" t="t" l="l"/>
              <a:pathLst>
                <a:path h="491566" w="1709493">
                  <a:moveTo>
                    <a:pt x="0" y="0"/>
                  </a:moveTo>
                  <a:lnTo>
                    <a:pt x="1709493" y="0"/>
                  </a:lnTo>
                  <a:lnTo>
                    <a:pt x="1709493" y="491566"/>
                  </a:lnTo>
                  <a:lnTo>
                    <a:pt x="0" y="4915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7" id="27"/>
            <p:cNvSpPr txBox="true"/>
            <p:nvPr/>
          </p:nvSpPr>
          <p:spPr>
            <a:xfrm rot="0">
              <a:off x="2259818" y="19050"/>
              <a:ext cx="1483254" cy="638354"/>
            </a:xfrm>
            <a:prstGeom prst="rect">
              <a:avLst/>
            </a:prstGeom>
          </p:spPr>
          <p:txBody>
            <a:bodyPr anchor="t" rtlCol="false" tIns="0" lIns="0" bIns="0" rIns="0">
              <a:spAutoFit/>
            </a:bodyPr>
            <a:lstStyle/>
            <a:p>
              <a:pPr algn="l">
                <a:lnSpc>
                  <a:spcPts val="2201"/>
                </a:lnSpc>
              </a:pPr>
              <a:r>
                <a:rPr lang="en-US" sz="2116" b="true">
                  <a:solidFill>
                    <a:srgbClr val="FFFFFF"/>
                  </a:solidFill>
                  <a:latin typeface="Work Sans Bold"/>
                  <a:ea typeface="Work Sans Bold"/>
                  <a:cs typeface="Work Sans Bold"/>
                  <a:sym typeface="Work Sans Bold"/>
                </a:rPr>
                <a:t>APEX</a:t>
              </a:r>
            </a:p>
            <a:p>
              <a:pPr algn="l">
                <a:lnSpc>
                  <a:spcPts val="1468"/>
                </a:lnSpc>
              </a:pPr>
              <a:r>
                <a:rPr lang="en-US" sz="1412">
                  <a:solidFill>
                    <a:srgbClr val="FFFFFF"/>
                  </a:solidFill>
                  <a:latin typeface="Work Sans"/>
                  <a:ea typeface="Work Sans"/>
                  <a:cs typeface="Work Sans"/>
                  <a:sym typeface="Work Sans"/>
                </a:rPr>
                <a:t>LAB</a:t>
              </a:r>
            </a:p>
          </p:txBody>
        </p:sp>
        <p:sp>
          <p:nvSpPr>
            <p:cNvPr name="AutoShape 28" id="28"/>
            <p:cNvSpPr/>
            <p:nvPr/>
          </p:nvSpPr>
          <p:spPr>
            <a:xfrm flipV="true">
              <a:off x="1986768" y="76066"/>
              <a:ext cx="0" cy="490678"/>
            </a:xfrm>
            <a:prstGeom prst="line">
              <a:avLst/>
            </a:prstGeom>
            <a:ln cap="flat" w="38100">
              <a:solidFill>
                <a:srgbClr val="D7E1EA"/>
              </a:solidFill>
              <a:prstDash val="solid"/>
              <a:headEnd type="none" len="sm" w="sm"/>
              <a:tailEnd type="none" len="sm" w="sm"/>
            </a:ln>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622AD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Freeform 3" id="3"/>
          <p:cNvSpPr/>
          <p:nvPr/>
        </p:nvSpPr>
        <p:spPr>
          <a:xfrm flipH="false" flipV="false" rot="0">
            <a:off x="933450" y="9479775"/>
            <a:ext cx="985390" cy="283350"/>
          </a:xfrm>
          <a:custGeom>
            <a:avLst/>
            <a:gdLst/>
            <a:ahLst/>
            <a:cxnLst/>
            <a:rect r="r" b="b" t="t" l="l"/>
            <a:pathLst>
              <a:path h="283350" w="985390">
                <a:moveTo>
                  <a:pt x="0" y="0"/>
                </a:moveTo>
                <a:lnTo>
                  <a:pt x="985390" y="0"/>
                </a:lnTo>
                <a:lnTo>
                  <a:pt x="985390" y="283350"/>
                </a:lnTo>
                <a:lnTo>
                  <a:pt x="0" y="2833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17" b="0"/>
              </a:stretch>
            </a:blipFill>
          </p:spPr>
        </p:sp>
      </p:grpSp>
      <p:sp>
        <p:nvSpPr>
          <p:cNvPr name="TextBox 6" id="6"/>
          <p:cNvSpPr txBox="true"/>
          <p:nvPr/>
        </p:nvSpPr>
        <p:spPr>
          <a:xfrm rot="0">
            <a:off x="897626" y="6600596"/>
            <a:ext cx="16492747" cy="1118416"/>
          </a:xfrm>
          <a:prstGeom prst="rect">
            <a:avLst/>
          </a:prstGeom>
        </p:spPr>
        <p:txBody>
          <a:bodyPr anchor="t" rtlCol="false" tIns="0" lIns="0" bIns="0" rIns="0">
            <a:spAutoFit/>
          </a:bodyPr>
          <a:lstStyle/>
          <a:p>
            <a:pPr algn="l">
              <a:lnSpc>
                <a:spcPts val="8280"/>
              </a:lnSpc>
            </a:pPr>
            <a:r>
              <a:rPr lang="en-US" b="true" sz="6900" spc="-30">
                <a:solidFill>
                  <a:srgbClr val="FFFFFF"/>
                </a:solidFill>
                <a:latin typeface="Work Sans Medium"/>
                <a:ea typeface="Work Sans Medium"/>
                <a:cs typeface="Work Sans Medium"/>
                <a:sym typeface="Work Sans Medium"/>
              </a:rPr>
              <a:t>Thank You</a:t>
            </a:r>
          </a:p>
        </p:txBody>
      </p:sp>
      <p:grpSp>
        <p:nvGrpSpPr>
          <p:cNvPr name="Group 7" id="7"/>
          <p:cNvGrpSpPr/>
          <p:nvPr/>
        </p:nvGrpSpPr>
        <p:grpSpPr>
          <a:xfrm rot="0">
            <a:off x="16784479" y="9491358"/>
            <a:ext cx="697335" cy="357088"/>
            <a:chOff x="0" y="0"/>
            <a:chExt cx="929780" cy="476118"/>
          </a:xfrm>
        </p:grpSpPr>
        <p:sp>
          <p:nvSpPr>
            <p:cNvPr name="Freeform 8" id="8"/>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6">
                <a:alphaModFix amt="0"/>
              </a:blip>
              <a:stretch>
                <a:fillRect l="-15701" t="0" r="-15702" b="-2"/>
              </a:stretch>
            </a:blipFill>
          </p:spPr>
        </p:sp>
        <p:sp>
          <p:nvSpPr>
            <p:cNvPr name="TextBox 9" id="9"/>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FFFFFF"/>
                  </a:solidFill>
                  <a:latin typeface="Work Sans"/>
                  <a:ea typeface="Work Sans"/>
                  <a:cs typeface="Work Sans"/>
                  <a:sym typeface="Work Sans"/>
                </a:rPr>
                <a:t>32</a:t>
              </a:r>
            </a:p>
          </p:txBody>
        </p:sp>
      </p:grpSp>
      <p:grpSp>
        <p:nvGrpSpPr>
          <p:cNvPr name="Group 10" id="10"/>
          <p:cNvGrpSpPr/>
          <p:nvPr/>
        </p:nvGrpSpPr>
        <p:grpSpPr>
          <a:xfrm rot="0">
            <a:off x="15325725" y="9491367"/>
            <a:ext cx="1299210" cy="357077"/>
            <a:chOff x="0" y="0"/>
            <a:chExt cx="1732280" cy="476102"/>
          </a:xfrm>
        </p:grpSpPr>
        <p:sp>
          <p:nvSpPr>
            <p:cNvPr name="Freeform 11" id="11"/>
            <p:cNvSpPr/>
            <p:nvPr/>
          </p:nvSpPr>
          <p:spPr>
            <a:xfrm flipH="false" flipV="false" rot="0">
              <a:off x="0" y="0"/>
              <a:ext cx="1732280" cy="476106"/>
            </a:xfrm>
            <a:custGeom>
              <a:avLst/>
              <a:gdLst/>
              <a:ahLst/>
              <a:cxnLst/>
              <a:rect r="r" b="b" t="t" l="l"/>
              <a:pathLst>
                <a:path h="476106" w="1732280">
                  <a:moveTo>
                    <a:pt x="0" y="0"/>
                  </a:moveTo>
                  <a:lnTo>
                    <a:pt x="1732280" y="0"/>
                  </a:lnTo>
                  <a:lnTo>
                    <a:pt x="1732280" y="476106"/>
                  </a:lnTo>
                  <a:lnTo>
                    <a:pt x="0" y="476106"/>
                  </a:lnTo>
                  <a:close/>
                </a:path>
              </a:pathLst>
            </a:custGeom>
            <a:blipFill>
              <a:blip r:embed="rId6">
                <a:alphaModFix amt="0"/>
              </a:blip>
              <a:stretch>
                <a:fillRect l="0" t="-20895" r="0" b="-20894"/>
              </a:stretch>
            </a:blipFill>
          </p:spPr>
        </p:sp>
        <p:sp>
          <p:nvSpPr>
            <p:cNvPr name="TextBox 12" id="12"/>
            <p:cNvSpPr txBox="true"/>
            <p:nvPr/>
          </p:nvSpPr>
          <p:spPr>
            <a:xfrm>
              <a:off x="0" y="-19050"/>
              <a:ext cx="1732280" cy="495152"/>
            </a:xfrm>
            <a:prstGeom prst="rect">
              <a:avLst/>
            </a:prstGeom>
          </p:spPr>
          <p:txBody>
            <a:bodyPr anchor="ctr" rtlCol="false" tIns="0" lIns="0" bIns="0" rIns="0"/>
            <a:lstStyle/>
            <a:p>
              <a:pPr algn="r">
                <a:lnSpc>
                  <a:spcPts val="1800"/>
                </a:lnSpc>
              </a:pPr>
              <a:r>
                <a:rPr lang="en-US" sz="1500">
                  <a:solidFill>
                    <a:srgbClr val="C2C5C8"/>
                  </a:solidFill>
                  <a:latin typeface="Work Sans"/>
                  <a:ea typeface="Work Sans"/>
                  <a:cs typeface="Work Sans"/>
                  <a:sym typeface="Work Sans"/>
                </a:rPr>
                <a:t>7/12/2026</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622AD8"/>
        </a:solidFill>
      </p:bgPr>
    </p:bg>
    <p:spTree>
      <p:nvGrpSpPr>
        <p:cNvPr id="1" name=""/>
        <p:cNvGrpSpPr/>
        <p:nvPr/>
      </p:nvGrpSpPr>
      <p:grpSpPr>
        <a:xfrm>
          <a:off x="0" y="0"/>
          <a:ext cx="0" cy="0"/>
          <a:chOff x="0" y="0"/>
          <a:chExt cx="0" cy="0"/>
        </a:xfrm>
      </p:grpSpPr>
      <p:sp>
        <p:nvSpPr>
          <p:cNvPr name="AutoShape 2" id="2"/>
          <p:cNvSpPr/>
          <p:nvPr/>
        </p:nvSpPr>
        <p:spPr>
          <a:xfrm rot="3000">
            <a:off x="926306" y="9330242"/>
            <a:ext cx="16411585" cy="0"/>
          </a:xfrm>
          <a:prstGeom prst="line">
            <a:avLst/>
          </a:prstGeom>
          <a:ln cap="rnd" w="9525">
            <a:solidFill>
              <a:srgbClr val="622AD8"/>
            </a:solidFill>
            <a:prstDash val="solid"/>
            <a:headEnd type="none" len="sm" w="sm"/>
            <a:tailEnd type="none" len="sm" w="sm"/>
          </a:ln>
        </p:spPr>
      </p:sp>
      <p:sp>
        <p:nvSpPr>
          <p:cNvPr name="Freeform 3" id="3"/>
          <p:cNvSpPr/>
          <p:nvPr/>
        </p:nvSpPr>
        <p:spPr>
          <a:xfrm flipH="false" flipV="false" rot="0">
            <a:off x="933450" y="9479775"/>
            <a:ext cx="985390" cy="283350"/>
          </a:xfrm>
          <a:custGeom>
            <a:avLst/>
            <a:gdLst/>
            <a:ahLst/>
            <a:cxnLst/>
            <a:rect r="r" b="b" t="t" l="l"/>
            <a:pathLst>
              <a:path h="283350" w="985390">
                <a:moveTo>
                  <a:pt x="0" y="0"/>
                </a:moveTo>
                <a:lnTo>
                  <a:pt x="985390" y="0"/>
                </a:lnTo>
                <a:lnTo>
                  <a:pt x="985390" y="283350"/>
                </a:lnTo>
                <a:lnTo>
                  <a:pt x="0" y="2833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sp>
        <p:nvSpPr>
          <p:cNvPr name="TextBox 6" id="6"/>
          <p:cNvSpPr txBox="true"/>
          <p:nvPr/>
        </p:nvSpPr>
        <p:spPr>
          <a:xfrm rot="0">
            <a:off x="897626" y="1819399"/>
            <a:ext cx="16492747" cy="1118416"/>
          </a:xfrm>
          <a:prstGeom prst="rect">
            <a:avLst/>
          </a:prstGeom>
        </p:spPr>
        <p:txBody>
          <a:bodyPr anchor="t" rtlCol="false" tIns="0" lIns="0" bIns="0" rIns="0">
            <a:spAutoFit/>
          </a:bodyPr>
          <a:lstStyle/>
          <a:p>
            <a:pPr algn="ctr">
              <a:lnSpc>
                <a:spcPts val="8280"/>
              </a:lnSpc>
            </a:pPr>
            <a:r>
              <a:rPr lang="en-US" sz="6900" b="true">
                <a:solidFill>
                  <a:srgbClr val="FFFFFF"/>
                </a:solidFill>
                <a:latin typeface="Work Sans Medium"/>
                <a:ea typeface="Work Sans Medium"/>
                <a:cs typeface="Work Sans Medium"/>
                <a:sym typeface="Work Sans Medium"/>
              </a:rPr>
              <a:t>We are reimagining mobility with you</a:t>
            </a:r>
          </a:p>
        </p:txBody>
      </p:sp>
      <p:sp>
        <p:nvSpPr>
          <p:cNvPr name="TextBox 7" id="7"/>
          <p:cNvSpPr txBox="true"/>
          <p:nvPr/>
        </p:nvSpPr>
        <p:spPr>
          <a:xfrm rot="0">
            <a:off x="7547239" y="4570009"/>
            <a:ext cx="3193523" cy="527771"/>
          </a:xfrm>
          <a:prstGeom prst="rect">
            <a:avLst/>
          </a:prstGeom>
        </p:spPr>
        <p:txBody>
          <a:bodyPr anchor="t" rtlCol="false" tIns="0" lIns="0" bIns="0" rIns="0">
            <a:spAutoFit/>
          </a:bodyPr>
          <a:lstStyle/>
          <a:p>
            <a:pPr algn="ctr">
              <a:lnSpc>
                <a:spcPts val="3600"/>
              </a:lnSpc>
            </a:pPr>
            <a:r>
              <a:rPr lang="en-US" sz="3000" b="true">
                <a:solidFill>
                  <a:srgbClr val="FFFFFF"/>
                </a:solidFill>
                <a:latin typeface="Work Sans Medium"/>
                <a:ea typeface="Work Sans Medium"/>
                <a:cs typeface="Work Sans Medium"/>
                <a:sym typeface="Work Sans Medium"/>
              </a:rPr>
              <a:t>Lets collaborate</a:t>
            </a:r>
          </a:p>
        </p:txBody>
      </p:sp>
      <p:grpSp>
        <p:nvGrpSpPr>
          <p:cNvPr name="Group 8" id="8"/>
          <p:cNvGrpSpPr/>
          <p:nvPr/>
        </p:nvGrpSpPr>
        <p:grpSpPr>
          <a:xfrm rot="0">
            <a:off x="16784479" y="9491358"/>
            <a:ext cx="697335" cy="357088"/>
            <a:chOff x="0" y="0"/>
            <a:chExt cx="929780" cy="476118"/>
          </a:xfrm>
        </p:grpSpPr>
        <p:sp>
          <p:nvSpPr>
            <p:cNvPr name="Freeform 9" id="9"/>
            <p:cNvSpPr/>
            <p:nvPr/>
          </p:nvSpPr>
          <p:spPr>
            <a:xfrm flipH="false" flipV="false" rot="0">
              <a:off x="0" y="0"/>
              <a:ext cx="929776" cy="476113"/>
            </a:xfrm>
            <a:custGeom>
              <a:avLst/>
              <a:gdLst/>
              <a:ahLst/>
              <a:cxnLst/>
              <a:rect r="r" b="b" t="t" l="l"/>
              <a:pathLst>
                <a:path h="476113" w="929776">
                  <a:moveTo>
                    <a:pt x="0" y="0"/>
                  </a:moveTo>
                  <a:lnTo>
                    <a:pt x="929776" y="0"/>
                  </a:lnTo>
                  <a:lnTo>
                    <a:pt x="929776" y="476113"/>
                  </a:lnTo>
                  <a:lnTo>
                    <a:pt x="0" y="476113"/>
                  </a:lnTo>
                  <a:close/>
                </a:path>
              </a:pathLst>
            </a:custGeom>
            <a:blipFill>
              <a:blip r:embed="rId6">
                <a:alphaModFix amt="0"/>
              </a:blip>
              <a:stretch>
                <a:fillRect l="-15701" t="0" r="-15702" b="-2"/>
              </a:stretch>
            </a:blipFill>
          </p:spPr>
        </p:sp>
        <p:sp>
          <p:nvSpPr>
            <p:cNvPr name="TextBox 10" id="10"/>
            <p:cNvSpPr txBox="true"/>
            <p:nvPr/>
          </p:nvSpPr>
          <p:spPr>
            <a:xfrm>
              <a:off x="0" y="-19050"/>
              <a:ext cx="929780" cy="495168"/>
            </a:xfrm>
            <a:prstGeom prst="rect">
              <a:avLst/>
            </a:prstGeom>
          </p:spPr>
          <p:txBody>
            <a:bodyPr anchor="ctr" rtlCol="false" tIns="0" lIns="0" bIns="0" rIns="0"/>
            <a:lstStyle/>
            <a:p>
              <a:pPr algn="r">
                <a:lnSpc>
                  <a:spcPts val="1800"/>
                </a:lnSpc>
              </a:pPr>
              <a:r>
                <a:rPr lang="en-US" sz="1500">
                  <a:solidFill>
                    <a:srgbClr val="FFFFFF"/>
                  </a:solidFill>
                  <a:latin typeface="Work Sans"/>
                  <a:ea typeface="Work Sans"/>
                  <a:cs typeface="Work Sans"/>
                  <a:sym typeface="Work Sans"/>
                </a:rPr>
                <a:t>33</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DAHOTzxs_GM</dc:identifier>
  <dcterms:modified xsi:type="dcterms:W3CDTF">2011-08-01T06:04:30Z</dcterms:modified>
  <cp:revision>1</cp:revision>
  <dc:title>Group_10_Presentation</dc:title>
</cp:coreProperties>
</file>